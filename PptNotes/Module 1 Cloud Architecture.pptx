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slide" Target="slides/slide43.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30369d50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30369d50e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30369d50e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30369d50e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30369d50e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30369d50e2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30369d50e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330369d50e2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30369d50e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g330369d50e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30369d50e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g330369d50e2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30369d50e2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g330369d50e2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330369d50e2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g330369d50e2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30369d50e2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g330369d50e2_0_3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30369d50e2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g330369d50e2_0_3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30369d50e2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g330369d50e2_0_3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330369d50e2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g330369d50e2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30369d50e2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g330369d50e2_0_4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30369d50e2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g330369d50e2_0_5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330369d50e2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g330369d50e2_0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30369d50e2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g330369d50e2_0_5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330369d50e2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g330369d50e2_0_6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FFFFF"/>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110000"/>
              </a:lnSpc>
              <a:spcBef>
                <a:spcPts val="1000"/>
              </a:spcBef>
              <a:spcAft>
                <a:spcPts val="0"/>
              </a:spcAft>
              <a:buSzPts val="1800"/>
              <a:buNone/>
              <a:defRPr sz="2400"/>
            </a:lvl1pPr>
            <a:lvl2pPr lvl="1" algn="ctr">
              <a:lnSpc>
                <a:spcPct val="110000"/>
              </a:lnSpc>
              <a:spcBef>
                <a:spcPts val="500"/>
              </a:spcBef>
              <a:spcAft>
                <a:spcPts val="0"/>
              </a:spcAft>
              <a:buSzPts val="1500"/>
              <a:buNone/>
              <a:defRPr sz="2000"/>
            </a:lvl2pPr>
            <a:lvl3pPr lvl="2" algn="ctr">
              <a:lnSpc>
                <a:spcPct val="110000"/>
              </a:lnSpc>
              <a:spcBef>
                <a:spcPts val="500"/>
              </a:spcBef>
              <a:spcAft>
                <a:spcPts val="0"/>
              </a:spcAft>
              <a:buSzPts val="1350"/>
              <a:buNone/>
              <a:defRPr sz="1800"/>
            </a:lvl3pPr>
            <a:lvl4pPr lvl="3" algn="ctr">
              <a:lnSpc>
                <a:spcPct val="110000"/>
              </a:lnSpc>
              <a:spcBef>
                <a:spcPts val="500"/>
              </a:spcBef>
              <a:spcAft>
                <a:spcPts val="0"/>
              </a:spcAft>
              <a:buSzPts val="1200"/>
              <a:buNone/>
              <a:defRPr sz="1600"/>
            </a:lvl4pPr>
            <a:lvl5pPr lvl="4" algn="ctr">
              <a:lnSpc>
                <a:spcPct val="110000"/>
              </a:lnSpc>
              <a:spcBef>
                <a:spcPts val="500"/>
              </a:spcBef>
              <a:spcAft>
                <a:spcPts val="0"/>
              </a:spcAft>
              <a:buSzPts val="12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7" name="Google Shape;47;p2"/>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3"/>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3"/>
          <p:cNvSpPr txBox="1"/>
          <p:nvPr>
            <p:ph idx="1" type="body"/>
          </p:nvPr>
        </p:nvSpPr>
        <p:spPr>
          <a:xfrm>
            <a:off x="457200" y="1825625"/>
            <a:ext cx="10722932" cy="4351338"/>
          </a:xfrm>
          <a:prstGeom prst="rect">
            <a:avLst/>
          </a:prstGeom>
          <a:noFill/>
          <a:ln>
            <a:noFill/>
          </a:ln>
        </p:spPr>
        <p:txBody>
          <a:bodyPr anchorCtr="0" anchor="t" bIns="45700" lIns="91425" spcFirstLastPara="1" rIns="91425" wrap="square" tIns="45700">
            <a:normAutofit/>
          </a:bodyPr>
          <a:lstStyle>
            <a:lvl1pPr indent="-361950" lvl="0" marL="457200" algn="l">
              <a:lnSpc>
                <a:spcPct val="110000"/>
              </a:lnSpc>
              <a:spcBef>
                <a:spcPts val="1000"/>
              </a:spcBef>
              <a:spcAft>
                <a:spcPts val="0"/>
              </a:spcAft>
              <a:buSzPts val="2100"/>
              <a:buFont typeface="Arial"/>
              <a:buChar char="•"/>
              <a:defRPr/>
            </a:lvl1pPr>
            <a:lvl2pPr indent="-342900" lvl="1" marL="914400" algn="l">
              <a:lnSpc>
                <a:spcPct val="110000"/>
              </a:lnSpc>
              <a:spcBef>
                <a:spcPts val="500"/>
              </a:spcBef>
              <a:spcAft>
                <a:spcPts val="0"/>
              </a:spcAft>
              <a:buSzPts val="1800"/>
              <a:buFont typeface="Arial"/>
              <a:buChar char="•"/>
              <a:defRPr/>
            </a:lvl2pPr>
            <a:lvl3pPr indent="-323850" lvl="2" marL="1371600" algn="l">
              <a:lnSpc>
                <a:spcPct val="110000"/>
              </a:lnSpc>
              <a:spcBef>
                <a:spcPts val="500"/>
              </a:spcBef>
              <a:spcAft>
                <a:spcPts val="0"/>
              </a:spcAft>
              <a:buSzPts val="1500"/>
              <a:buFont typeface="Arial"/>
              <a:buChar char="•"/>
              <a:defRPr/>
            </a:lvl3pPr>
            <a:lvl4pPr indent="-314325" lvl="3" marL="1828800" algn="l">
              <a:lnSpc>
                <a:spcPct val="110000"/>
              </a:lnSpc>
              <a:spcBef>
                <a:spcPts val="500"/>
              </a:spcBef>
              <a:spcAft>
                <a:spcPts val="0"/>
              </a:spcAft>
              <a:buSzPts val="1350"/>
              <a:buFont typeface="Arial"/>
              <a:buChar char="•"/>
              <a:defRPr/>
            </a:lvl4pPr>
            <a:lvl5pPr indent="-314325" lvl="4" marL="2286000" algn="l">
              <a:lnSpc>
                <a:spcPct val="110000"/>
              </a:lnSpc>
              <a:spcBef>
                <a:spcPts val="500"/>
              </a:spcBef>
              <a:spcAft>
                <a:spcPts val="0"/>
              </a:spcAft>
              <a:buSzPts val="1350"/>
              <a:buFont typeface="Arial"/>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4"/>
          <p:cNvSpPr txBox="1"/>
          <p:nvPr>
            <p:ph type="title"/>
          </p:nvPr>
        </p:nvSpPr>
        <p:spPr>
          <a:xfrm>
            <a:off x="457200" y="1709738"/>
            <a:ext cx="1089025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
          <p:cNvSpPr txBox="1"/>
          <p:nvPr>
            <p:ph idx="1" type="body"/>
          </p:nvPr>
        </p:nvSpPr>
        <p:spPr>
          <a:xfrm>
            <a:off x="457200" y="4589463"/>
            <a:ext cx="1089025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sz="2400">
                <a:solidFill>
                  <a:srgbClr val="FFFFFF"/>
                </a:solidFill>
              </a:defRPr>
            </a:lvl1pPr>
            <a:lvl2pPr indent="-228600" lvl="1" marL="914400" algn="l">
              <a:lnSpc>
                <a:spcPct val="110000"/>
              </a:lnSpc>
              <a:spcBef>
                <a:spcPts val="500"/>
              </a:spcBef>
              <a:spcAft>
                <a:spcPts val="0"/>
              </a:spcAft>
              <a:buSzPts val="1500"/>
              <a:buNone/>
              <a:defRPr sz="2000">
                <a:solidFill>
                  <a:srgbClr val="888888"/>
                </a:solidFill>
              </a:defRPr>
            </a:lvl2pPr>
            <a:lvl3pPr indent="-228600" lvl="2" marL="1371600" algn="l">
              <a:lnSpc>
                <a:spcPct val="110000"/>
              </a:lnSpc>
              <a:spcBef>
                <a:spcPts val="500"/>
              </a:spcBef>
              <a:spcAft>
                <a:spcPts val="0"/>
              </a:spcAft>
              <a:buSzPts val="1350"/>
              <a:buNone/>
              <a:defRPr sz="1800">
                <a:solidFill>
                  <a:srgbClr val="888888"/>
                </a:solidFill>
              </a:defRPr>
            </a:lvl3pPr>
            <a:lvl4pPr indent="-228600" lvl="3" marL="1828800" algn="l">
              <a:lnSpc>
                <a:spcPct val="110000"/>
              </a:lnSpc>
              <a:spcBef>
                <a:spcPts val="500"/>
              </a:spcBef>
              <a:spcAft>
                <a:spcPts val="0"/>
              </a:spcAft>
              <a:buSzPts val="1200"/>
              <a:buNone/>
              <a:defRPr sz="1600">
                <a:solidFill>
                  <a:srgbClr val="888888"/>
                </a:solidFill>
              </a:defRPr>
            </a:lvl4pPr>
            <a:lvl5pPr indent="-228600" lvl="4" marL="2286000" algn="l">
              <a:lnSpc>
                <a:spcPct val="110000"/>
              </a:lnSpc>
              <a:spcBef>
                <a:spcPts val="500"/>
              </a:spcBef>
              <a:spcAft>
                <a:spcPts val="0"/>
              </a:spcAft>
              <a:buSzPts val="12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9" name="Google Shape;59;p4"/>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5"/>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5"/>
          <p:cNvSpPr txBox="1"/>
          <p:nvPr>
            <p:ph idx="1" type="body"/>
          </p:nvPr>
        </p:nvSpPr>
        <p:spPr>
          <a:xfrm>
            <a:off x="457200" y="1825625"/>
            <a:ext cx="5562600" cy="4351338"/>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5"/>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6"/>
          <p:cNvSpPr txBox="1"/>
          <p:nvPr>
            <p:ph idx="1" type="body"/>
          </p:nvPr>
        </p:nvSpPr>
        <p:spPr>
          <a:xfrm>
            <a:off x="839788" y="1820863"/>
            <a:ext cx="5157787" cy="1150937"/>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800"/>
              <a:buNone/>
              <a:defRPr b="0" sz="2400"/>
            </a:lvl1pPr>
            <a:lvl2pPr indent="-228600" lvl="1" marL="914400" algn="l">
              <a:lnSpc>
                <a:spcPct val="110000"/>
              </a:lnSpc>
              <a:spcBef>
                <a:spcPts val="500"/>
              </a:spcBef>
              <a:spcAft>
                <a:spcPts val="0"/>
              </a:spcAft>
              <a:buSzPts val="1500"/>
              <a:buNone/>
              <a:defRPr b="1" sz="2000"/>
            </a:lvl2pPr>
            <a:lvl3pPr indent="-228600" lvl="2" marL="1371600" algn="l">
              <a:lnSpc>
                <a:spcPct val="110000"/>
              </a:lnSpc>
              <a:spcBef>
                <a:spcPts val="500"/>
              </a:spcBef>
              <a:spcAft>
                <a:spcPts val="0"/>
              </a:spcAft>
              <a:buSzPts val="1350"/>
              <a:buNone/>
              <a:defRPr b="1" sz="1800"/>
            </a:lvl3pPr>
            <a:lvl4pPr indent="-228600" lvl="3" marL="1828800" algn="l">
              <a:lnSpc>
                <a:spcPct val="110000"/>
              </a:lnSpc>
              <a:spcBef>
                <a:spcPts val="500"/>
              </a:spcBef>
              <a:spcAft>
                <a:spcPts val="0"/>
              </a:spcAft>
              <a:buSzPts val="1200"/>
              <a:buNone/>
              <a:defRPr b="1" sz="1600"/>
            </a:lvl4pPr>
            <a:lvl5pPr indent="-228600" lvl="4" marL="2286000" algn="l">
              <a:lnSpc>
                <a:spcPct val="110000"/>
              </a:lnSpc>
              <a:spcBef>
                <a:spcPts val="500"/>
              </a:spcBef>
              <a:spcAft>
                <a:spcPts val="0"/>
              </a:spcAft>
              <a:buSzPts val="12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 name="Google Shape;72;p6"/>
          <p:cNvSpPr txBox="1"/>
          <p:nvPr>
            <p:ph idx="2" type="body"/>
          </p:nvPr>
        </p:nvSpPr>
        <p:spPr>
          <a:xfrm>
            <a:off x="839788" y="3101975"/>
            <a:ext cx="5157787" cy="3087687"/>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6"/>
          <p:cNvSpPr txBox="1"/>
          <p:nvPr>
            <p:ph idx="3" type="body"/>
          </p:nvPr>
        </p:nvSpPr>
        <p:spPr>
          <a:xfrm>
            <a:off x="6172200" y="1820863"/>
            <a:ext cx="5183188" cy="1150937"/>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1800"/>
              <a:buNone/>
              <a:defRPr b="0" sz="2400"/>
            </a:lvl1pPr>
            <a:lvl2pPr indent="-228600" lvl="1" marL="914400" algn="l">
              <a:lnSpc>
                <a:spcPct val="110000"/>
              </a:lnSpc>
              <a:spcBef>
                <a:spcPts val="500"/>
              </a:spcBef>
              <a:spcAft>
                <a:spcPts val="0"/>
              </a:spcAft>
              <a:buSzPts val="1500"/>
              <a:buNone/>
              <a:defRPr b="1" sz="2000"/>
            </a:lvl2pPr>
            <a:lvl3pPr indent="-228600" lvl="2" marL="1371600" algn="l">
              <a:lnSpc>
                <a:spcPct val="110000"/>
              </a:lnSpc>
              <a:spcBef>
                <a:spcPts val="500"/>
              </a:spcBef>
              <a:spcAft>
                <a:spcPts val="0"/>
              </a:spcAft>
              <a:buSzPts val="1350"/>
              <a:buNone/>
              <a:defRPr b="1" sz="1800"/>
            </a:lvl3pPr>
            <a:lvl4pPr indent="-228600" lvl="3" marL="1828800" algn="l">
              <a:lnSpc>
                <a:spcPct val="110000"/>
              </a:lnSpc>
              <a:spcBef>
                <a:spcPts val="500"/>
              </a:spcBef>
              <a:spcAft>
                <a:spcPts val="0"/>
              </a:spcAft>
              <a:buSzPts val="1200"/>
              <a:buNone/>
              <a:defRPr b="1" sz="1600"/>
            </a:lvl4pPr>
            <a:lvl5pPr indent="-228600" lvl="4" marL="2286000" algn="l">
              <a:lnSpc>
                <a:spcPct val="110000"/>
              </a:lnSpc>
              <a:spcBef>
                <a:spcPts val="500"/>
              </a:spcBef>
              <a:spcAft>
                <a:spcPts val="0"/>
              </a:spcAft>
              <a:buSzPts val="12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p6"/>
          <p:cNvSpPr txBox="1"/>
          <p:nvPr>
            <p:ph idx="4" type="body"/>
          </p:nvPr>
        </p:nvSpPr>
        <p:spPr>
          <a:xfrm>
            <a:off x="6172200" y="3101975"/>
            <a:ext cx="5183188" cy="3087687"/>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7"/>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7"/>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8"/>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8"/>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8"/>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sp>
        <p:nvSpPr>
          <p:cNvPr id="88" name="Google Shape;88;p9"/>
          <p:cNvSpPr txBox="1"/>
          <p:nvPr>
            <p:ph type="title"/>
          </p:nvPr>
        </p:nvSpPr>
        <p:spPr>
          <a:xfrm>
            <a:off x="839788" y="685800"/>
            <a:ext cx="3932237" cy="1981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9"/>
          <p:cNvSpPr txBox="1"/>
          <p:nvPr>
            <p:ph idx="1" type="body"/>
          </p:nvPr>
        </p:nvSpPr>
        <p:spPr>
          <a:xfrm>
            <a:off x="5183188" y="685801"/>
            <a:ext cx="6172200" cy="5175250"/>
          </a:xfrm>
          <a:prstGeom prst="rect">
            <a:avLst/>
          </a:prstGeom>
          <a:noFill/>
          <a:ln>
            <a:noFill/>
          </a:ln>
        </p:spPr>
        <p:txBody>
          <a:bodyPr anchorCtr="0" anchor="t" bIns="45700" lIns="91425" spcFirstLastPara="1" rIns="91425" wrap="square" tIns="45700">
            <a:normAutofit/>
          </a:bodyPr>
          <a:lstStyle>
            <a:lvl1pPr indent="-381000" lvl="0" marL="457200" algn="l">
              <a:lnSpc>
                <a:spcPct val="110000"/>
              </a:lnSpc>
              <a:spcBef>
                <a:spcPts val="1000"/>
              </a:spcBef>
              <a:spcAft>
                <a:spcPts val="0"/>
              </a:spcAft>
              <a:buSzPts val="2400"/>
              <a:buChar char="•"/>
              <a:defRPr sz="3200"/>
            </a:lvl1pPr>
            <a:lvl2pPr indent="-361950" lvl="1" marL="914400" algn="l">
              <a:lnSpc>
                <a:spcPct val="110000"/>
              </a:lnSpc>
              <a:spcBef>
                <a:spcPts val="500"/>
              </a:spcBef>
              <a:spcAft>
                <a:spcPts val="0"/>
              </a:spcAft>
              <a:buSzPts val="2100"/>
              <a:buChar char="•"/>
              <a:defRPr sz="2800"/>
            </a:lvl2pPr>
            <a:lvl3pPr indent="-342900" lvl="2" marL="1371600" algn="l">
              <a:lnSpc>
                <a:spcPct val="110000"/>
              </a:lnSpc>
              <a:spcBef>
                <a:spcPts val="500"/>
              </a:spcBef>
              <a:spcAft>
                <a:spcPts val="0"/>
              </a:spcAft>
              <a:buSzPts val="1800"/>
              <a:buChar char="•"/>
              <a:defRPr sz="2400"/>
            </a:lvl3pPr>
            <a:lvl4pPr indent="-323850" lvl="3" marL="1828800" algn="l">
              <a:lnSpc>
                <a:spcPct val="110000"/>
              </a:lnSpc>
              <a:spcBef>
                <a:spcPts val="500"/>
              </a:spcBef>
              <a:spcAft>
                <a:spcPts val="0"/>
              </a:spcAft>
              <a:buSzPts val="1500"/>
              <a:buChar char="•"/>
              <a:defRPr sz="2000"/>
            </a:lvl4pPr>
            <a:lvl5pPr indent="-323850" lvl="4" marL="2286000" algn="l">
              <a:lnSpc>
                <a:spcPct val="110000"/>
              </a:lnSpc>
              <a:spcBef>
                <a:spcPts val="500"/>
              </a:spcBef>
              <a:spcAft>
                <a:spcPts val="0"/>
              </a:spcAft>
              <a:buSzPts val="15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0" name="Google Shape;90;p9"/>
          <p:cNvSpPr txBox="1"/>
          <p:nvPr>
            <p:ph idx="2" type="body"/>
          </p:nvPr>
        </p:nvSpPr>
        <p:spPr>
          <a:xfrm>
            <a:off x="839788" y="2971800"/>
            <a:ext cx="3932237" cy="2897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00"/>
              <a:buNone/>
              <a:defRPr sz="1600"/>
            </a:lvl1pPr>
            <a:lvl2pPr indent="-228600" lvl="1" marL="914400" algn="l">
              <a:lnSpc>
                <a:spcPct val="110000"/>
              </a:lnSpc>
              <a:spcBef>
                <a:spcPts val="500"/>
              </a:spcBef>
              <a:spcAft>
                <a:spcPts val="0"/>
              </a:spcAft>
              <a:buSzPts val="1050"/>
              <a:buNone/>
              <a:defRPr sz="1400"/>
            </a:lvl2pPr>
            <a:lvl3pPr indent="-228600" lvl="2" marL="1371600" algn="l">
              <a:lnSpc>
                <a:spcPct val="110000"/>
              </a:lnSpc>
              <a:spcBef>
                <a:spcPts val="500"/>
              </a:spcBef>
              <a:spcAft>
                <a:spcPts val="0"/>
              </a:spcAft>
              <a:buSzPts val="900"/>
              <a:buNone/>
              <a:defRPr sz="1200"/>
            </a:lvl3pPr>
            <a:lvl4pPr indent="-228600" lvl="3" marL="1828800" algn="l">
              <a:lnSpc>
                <a:spcPct val="110000"/>
              </a:lnSpc>
              <a:spcBef>
                <a:spcPts val="500"/>
              </a:spcBef>
              <a:spcAft>
                <a:spcPts val="0"/>
              </a:spcAft>
              <a:buSzPts val="750"/>
              <a:buNone/>
              <a:defRPr sz="1000"/>
            </a:lvl4pPr>
            <a:lvl5pPr indent="-228600" lvl="4" marL="2286000" algn="l">
              <a:lnSpc>
                <a:spcPct val="110000"/>
              </a:lnSpc>
              <a:spcBef>
                <a:spcPts val="500"/>
              </a:spcBef>
              <a:spcAft>
                <a:spcPts val="0"/>
              </a:spcAft>
              <a:buSzPts val="75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9"/>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9"/>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9"/>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4" name="Shape 94"/>
        <p:cNvGrpSpPr/>
        <p:nvPr/>
      </p:nvGrpSpPr>
      <p:grpSpPr>
        <a:xfrm>
          <a:off x="0" y="0"/>
          <a:ext cx="0" cy="0"/>
          <a:chOff x="0" y="0"/>
          <a:chExt cx="0" cy="0"/>
        </a:xfrm>
      </p:grpSpPr>
      <p:sp>
        <p:nvSpPr>
          <p:cNvPr id="95" name="Google Shape;95;p10"/>
          <p:cNvSpPr txBox="1"/>
          <p:nvPr>
            <p:ph type="title"/>
          </p:nvPr>
        </p:nvSpPr>
        <p:spPr>
          <a:xfrm>
            <a:off x="839788" y="685800"/>
            <a:ext cx="3932237" cy="220979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0"/>
          <p:cNvSpPr/>
          <p:nvPr>
            <p:ph idx="2" type="pic"/>
          </p:nvPr>
        </p:nvSpPr>
        <p:spPr>
          <a:xfrm>
            <a:off x="5183188" y="685801"/>
            <a:ext cx="6172200" cy="5175250"/>
          </a:xfrm>
          <a:prstGeom prst="rect">
            <a:avLst/>
          </a:prstGeom>
          <a:noFill/>
          <a:ln>
            <a:noFill/>
          </a:ln>
        </p:spPr>
      </p:sp>
      <p:sp>
        <p:nvSpPr>
          <p:cNvPr id="97" name="Google Shape;97;p10"/>
          <p:cNvSpPr txBox="1"/>
          <p:nvPr>
            <p:ph idx="1" type="body"/>
          </p:nvPr>
        </p:nvSpPr>
        <p:spPr>
          <a:xfrm>
            <a:off x="839788" y="2971800"/>
            <a:ext cx="3932237" cy="289718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200"/>
              <a:buNone/>
              <a:defRPr sz="1600"/>
            </a:lvl1pPr>
            <a:lvl2pPr indent="-228600" lvl="1" marL="914400" algn="l">
              <a:lnSpc>
                <a:spcPct val="110000"/>
              </a:lnSpc>
              <a:spcBef>
                <a:spcPts val="500"/>
              </a:spcBef>
              <a:spcAft>
                <a:spcPts val="0"/>
              </a:spcAft>
              <a:buSzPts val="1050"/>
              <a:buNone/>
              <a:defRPr sz="1400"/>
            </a:lvl2pPr>
            <a:lvl3pPr indent="-228600" lvl="2" marL="1371600" algn="l">
              <a:lnSpc>
                <a:spcPct val="110000"/>
              </a:lnSpc>
              <a:spcBef>
                <a:spcPts val="500"/>
              </a:spcBef>
              <a:spcAft>
                <a:spcPts val="0"/>
              </a:spcAft>
              <a:buSzPts val="900"/>
              <a:buNone/>
              <a:defRPr sz="1200"/>
            </a:lvl3pPr>
            <a:lvl4pPr indent="-228600" lvl="3" marL="1828800" algn="l">
              <a:lnSpc>
                <a:spcPct val="110000"/>
              </a:lnSpc>
              <a:spcBef>
                <a:spcPts val="500"/>
              </a:spcBef>
              <a:spcAft>
                <a:spcPts val="0"/>
              </a:spcAft>
              <a:buSzPts val="750"/>
              <a:buNone/>
              <a:defRPr sz="1000"/>
            </a:lvl4pPr>
            <a:lvl5pPr indent="-228600" lvl="4" marL="2286000" algn="l">
              <a:lnSpc>
                <a:spcPct val="110000"/>
              </a:lnSpc>
              <a:spcBef>
                <a:spcPts val="500"/>
              </a:spcBef>
              <a:spcAft>
                <a:spcPts val="0"/>
              </a:spcAft>
              <a:buSzPts val="75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8" name="Google Shape;98;p10"/>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0"/>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0"/>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1" name="Shape 101"/>
        <p:cNvGrpSpPr/>
        <p:nvPr/>
      </p:nvGrpSpPr>
      <p:grpSpPr>
        <a:xfrm>
          <a:off x="0" y="0"/>
          <a:ext cx="0" cy="0"/>
          <a:chOff x="0" y="0"/>
          <a:chExt cx="0" cy="0"/>
        </a:xfrm>
      </p:grpSpPr>
      <p:sp>
        <p:nvSpPr>
          <p:cNvPr id="102" name="Google Shape;102;p11"/>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1"/>
          <p:cNvSpPr txBox="1"/>
          <p:nvPr>
            <p:ph idx="1" type="body"/>
          </p:nvPr>
        </p:nvSpPr>
        <p:spPr>
          <a:xfrm rot="5400000">
            <a:off x="3642997" y="-1360172"/>
            <a:ext cx="4351338" cy="10722932"/>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1"/>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1"/>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1"/>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7" name="Shape 107"/>
        <p:cNvGrpSpPr/>
        <p:nvPr/>
      </p:nvGrpSpPr>
      <p:grpSpPr>
        <a:xfrm>
          <a:off x="0" y="0"/>
          <a:ext cx="0" cy="0"/>
          <a:chOff x="0" y="0"/>
          <a:chExt cx="0" cy="0"/>
        </a:xfrm>
      </p:grpSpPr>
      <p:sp>
        <p:nvSpPr>
          <p:cNvPr id="108" name="Google Shape;108;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14325" lvl="0" marL="457200" algn="l">
              <a:lnSpc>
                <a:spcPct val="110000"/>
              </a:lnSpc>
              <a:spcBef>
                <a:spcPts val="1000"/>
              </a:spcBef>
              <a:spcAft>
                <a:spcPts val="0"/>
              </a:spcAft>
              <a:buSzPts val="1350"/>
              <a:buChar char="•"/>
              <a:defRPr/>
            </a:lvl1pPr>
            <a:lvl2pPr indent="-314325" lvl="1" marL="914400" algn="l">
              <a:lnSpc>
                <a:spcPct val="110000"/>
              </a:lnSpc>
              <a:spcBef>
                <a:spcPts val="500"/>
              </a:spcBef>
              <a:spcAft>
                <a:spcPts val="0"/>
              </a:spcAft>
              <a:buSzPts val="1350"/>
              <a:buChar char="•"/>
              <a:defRPr/>
            </a:lvl2pPr>
            <a:lvl3pPr indent="-314325" lvl="2" marL="1371600" algn="l">
              <a:lnSpc>
                <a:spcPct val="110000"/>
              </a:lnSpc>
              <a:spcBef>
                <a:spcPts val="500"/>
              </a:spcBef>
              <a:spcAft>
                <a:spcPts val="0"/>
              </a:spcAft>
              <a:buSzPts val="1350"/>
              <a:buChar char="•"/>
              <a:defRPr/>
            </a:lvl3pPr>
            <a:lvl4pPr indent="-314325" lvl="3" marL="1828800" algn="l">
              <a:lnSpc>
                <a:spcPct val="110000"/>
              </a:lnSpc>
              <a:spcBef>
                <a:spcPts val="500"/>
              </a:spcBef>
              <a:spcAft>
                <a:spcPts val="0"/>
              </a:spcAft>
              <a:buSzPts val="1350"/>
              <a:buChar char="•"/>
              <a:defRPr/>
            </a:lvl4pPr>
            <a:lvl5pPr indent="-314325" lvl="4" marL="2286000" algn="l">
              <a:lnSpc>
                <a:spcPct val="110000"/>
              </a:lnSpc>
              <a:spcBef>
                <a:spcPts val="500"/>
              </a:spcBef>
              <a:spcAft>
                <a:spcPts val="0"/>
              </a:spcAft>
              <a:buSzPts val="135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2"/>
          <p:cNvSpPr txBox="1"/>
          <p:nvPr>
            <p:ph idx="10" type="dt"/>
          </p:nvPr>
        </p:nvSpPr>
        <p:spPr>
          <a:xfrm>
            <a:off x="523539" y="6324600"/>
            <a:ext cx="256022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2"/>
          <p:cNvSpPr txBox="1"/>
          <p:nvPr>
            <p:ph idx="11" type="ftr"/>
          </p:nvPr>
        </p:nvSpPr>
        <p:spPr>
          <a:xfrm>
            <a:off x="4267200" y="6319838"/>
            <a:ext cx="3982781"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2"/>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12188952"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7" name="Google Shape;7;p1"/>
          <p:cNvGrpSpPr/>
          <p:nvPr/>
        </p:nvGrpSpPr>
        <p:grpSpPr>
          <a:xfrm>
            <a:off x="-11413" y="0"/>
            <a:ext cx="12214827" cy="6858000"/>
            <a:chOff x="-6214" y="-1"/>
            <a:chExt cx="12214827" cy="6858000"/>
          </a:xfrm>
        </p:grpSpPr>
        <p:cxnSp>
          <p:nvCxnSpPr>
            <p:cNvPr id="8" name="Google Shape;8;p1"/>
            <p:cNvCxnSpPr/>
            <p:nvPr/>
          </p:nvCxnSpPr>
          <p:spPr>
            <a:xfrm>
              <a:off x="-6214" y="6686283"/>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9" name="Google Shape;9;p1"/>
            <p:cNvCxnSpPr/>
            <p:nvPr/>
          </p:nvCxnSpPr>
          <p:spPr>
            <a:xfrm>
              <a:off x="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0" name="Google Shape;10;p1"/>
            <p:cNvCxnSpPr/>
            <p:nvPr/>
          </p:nvCxnSpPr>
          <p:spPr>
            <a:xfrm>
              <a:off x="1199325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1" name="Google Shape;11;p1"/>
            <p:cNvCxnSpPr/>
            <p:nvPr/>
          </p:nvCxnSpPr>
          <p:spPr>
            <a:xfrm>
              <a:off x="19252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2" name="Google Shape;12;p1"/>
            <p:cNvCxnSpPr/>
            <p:nvPr/>
          </p:nvCxnSpPr>
          <p:spPr>
            <a:xfrm>
              <a:off x="119196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3" name="Google Shape;13;p1"/>
            <p:cNvCxnSpPr/>
            <p:nvPr/>
          </p:nvCxnSpPr>
          <p:spPr>
            <a:xfrm>
              <a:off x="219140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4" name="Google Shape;14;p1"/>
            <p:cNvCxnSpPr/>
            <p:nvPr/>
          </p:nvCxnSpPr>
          <p:spPr>
            <a:xfrm>
              <a:off x="319084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5" name="Google Shape;15;p1"/>
            <p:cNvCxnSpPr/>
            <p:nvPr/>
          </p:nvCxnSpPr>
          <p:spPr>
            <a:xfrm>
              <a:off x="419028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6" name="Google Shape;16;p1"/>
            <p:cNvCxnSpPr/>
            <p:nvPr/>
          </p:nvCxnSpPr>
          <p:spPr>
            <a:xfrm>
              <a:off x="518971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 name="Google Shape;17;p1"/>
            <p:cNvCxnSpPr/>
            <p:nvPr/>
          </p:nvCxnSpPr>
          <p:spPr>
            <a:xfrm>
              <a:off x="618915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8" name="Google Shape;18;p1"/>
            <p:cNvCxnSpPr/>
            <p:nvPr/>
          </p:nvCxnSpPr>
          <p:spPr>
            <a:xfrm>
              <a:off x="718859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9" name="Google Shape;19;p1"/>
            <p:cNvCxnSpPr/>
            <p:nvPr/>
          </p:nvCxnSpPr>
          <p:spPr>
            <a:xfrm>
              <a:off x="818803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0" name="Google Shape;20;p1"/>
            <p:cNvCxnSpPr/>
            <p:nvPr/>
          </p:nvCxnSpPr>
          <p:spPr>
            <a:xfrm>
              <a:off x="918747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1" name="Google Shape;21;p1"/>
            <p:cNvCxnSpPr/>
            <p:nvPr/>
          </p:nvCxnSpPr>
          <p:spPr>
            <a:xfrm>
              <a:off x="1018690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2" name="Google Shape;22;p1"/>
            <p:cNvCxnSpPr/>
            <p:nvPr/>
          </p:nvCxnSpPr>
          <p:spPr>
            <a:xfrm>
              <a:off x="1118634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3" name="Google Shape;23;p1"/>
            <p:cNvCxnSpPr/>
            <p:nvPr/>
          </p:nvCxnSpPr>
          <p:spPr>
            <a:xfrm>
              <a:off x="1218578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4" name="Google Shape;24;p1"/>
            <p:cNvCxnSpPr/>
            <p:nvPr/>
          </p:nvCxnSpPr>
          <p:spPr>
            <a:xfrm>
              <a:off x="0" y="1717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5" name="Google Shape;25;p1"/>
            <p:cNvCxnSpPr/>
            <p:nvPr/>
          </p:nvCxnSpPr>
          <p:spPr>
            <a:xfrm>
              <a:off x="0" y="72890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6" name="Google Shape;26;p1"/>
            <p:cNvCxnSpPr/>
            <p:nvPr/>
          </p:nvCxnSpPr>
          <p:spPr>
            <a:xfrm>
              <a:off x="0" y="128609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7" name="Google Shape;27;p1"/>
            <p:cNvCxnSpPr/>
            <p:nvPr/>
          </p:nvCxnSpPr>
          <p:spPr>
            <a:xfrm>
              <a:off x="0" y="184328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8" name="Google Shape;28;p1"/>
            <p:cNvCxnSpPr/>
            <p:nvPr/>
          </p:nvCxnSpPr>
          <p:spPr>
            <a:xfrm>
              <a:off x="0" y="240047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29" name="Google Shape;29;p1"/>
            <p:cNvCxnSpPr/>
            <p:nvPr/>
          </p:nvCxnSpPr>
          <p:spPr>
            <a:xfrm>
              <a:off x="0" y="295766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0" name="Google Shape;30;p1"/>
            <p:cNvCxnSpPr/>
            <p:nvPr/>
          </p:nvCxnSpPr>
          <p:spPr>
            <a:xfrm>
              <a:off x="0" y="351485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1" name="Google Shape;31;p1"/>
            <p:cNvCxnSpPr/>
            <p:nvPr/>
          </p:nvCxnSpPr>
          <p:spPr>
            <a:xfrm>
              <a:off x="0" y="407204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2" name="Google Shape;32;p1"/>
            <p:cNvCxnSpPr/>
            <p:nvPr/>
          </p:nvCxnSpPr>
          <p:spPr>
            <a:xfrm>
              <a:off x="0" y="462923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3" name="Google Shape;33;p1"/>
            <p:cNvCxnSpPr/>
            <p:nvPr/>
          </p:nvCxnSpPr>
          <p:spPr>
            <a:xfrm>
              <a:off x="0" y="518642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4" name="Google Shape;34;p1"/>
            <p:cNvCxnSpPr/>
            <p:nvPr/>
          </p:nvCxnSpPr>
          <p:spPr>
            <a:xfrm>
              <a:off x="0" y="57436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5" name="Google Shape;35;p1"/>
            <p:cNvCxnSpPr/>
            <p:nvPr/>
          </p:nvCxnSpPr>
          <p:spPr>
            <a:xfrm>
              <a:off x="0" y="6857999"/>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36" name="Google Shape;36;p1"/>
            <p:cNvCxnSpPr/>
            <p:nvPr/>
          </p:nvCxnSpPr>
          <p:spPr>
            <a:xfrm>
              <a:off x="16613" y="6248400"/>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grpSp>
      <p:sp>
        <p:nvSpPr>
          <p:cNvPr id="37" name="Google Shape;37;p1"/>
          <p:cNvSpPr/>
          <p:nvPr/>
        </p:nvSpPr>
        <p:spPr>
          <a:xfrm>
            <a:off x="-6214" y="5014716"/>
            <a:ext cx="2800124" cy="1843284"/>
          </a:xfrm>
          <a:custGeom>
            <a:rect b="b" l="l" r="r" t="t"/>
            <a:pathLst>
              <a:path extrusionOk="0" h="1843284" w="280012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rgbClr val="5972A5">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venir"/>
              <a:ea typeface="Avenir"/>
              <a:cs typeface="Avenir"/>
              <a:sym typeface="Avenir"/>
            </a:endParaRPr>
          </a:p>
        </p:txBody>
      </p:sp>
      <p:sp>
        <p:nvSpPr>
          <p:cNvPr id="38" name="Google Shape;38;p1"/>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FFFFF"/>
              </a:buClr>
              <a:buSzPts val="4400"/>
              <a:buFont typeface="Arial"/>
              <a:buNone/>
              <a:defRPr b="0" i="0" sz="44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1"/>
          <p:cNvSpPr txBox="1"/>
          <p:nvPr>
            <p:ph idx="1" type="body"/>
          </p:nvPr>
        </p:nvSpPr>
        <p:spPr>
          <a:xfrm>
            <a:off x="457200" y="1825625"/>
            <a:ext cx="10722932"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110000"/>
              </a:lnSpc>
              <a:spcBef>
                <a:spcPts val="1000"/>
              </a:spcBef>
              <a:spcAft>
                <a:spcPts val="0"/>
              </a:spcAft>
              <a:buClr>
                <a:schemeClr val="lt1"/>
              </a:buClr>
              <a:buSzPts val="2100"/>
              <a:buFont typeface="Arial"/>
              <a:buChar char="•"/>
              <a:defRPr b="0" i="0" sz="2800" u="none" cap="none" strike="noStrike">
                <a:solidFill>
                  <a:srgbClr val="FFFFFF"/>
                </a:solidFill>
                <a:latin typeface="Avenir"/>
                <a:ea typeface="Avenir"/>
                <a:cs typeface="Avenir"/>
                <a:sym typeface="Avenir"/>
              </a:defRPr>
            </a:lvl1pPr>
            <a:lvl2pPr indent="-342900" lvl="1" marL="914400" marR="0" rtl="0" algn="l">
              <a:lnSpc>
                <a:spcPct val="110000"/>
              </a:lnSpc>
              <a:spcBef>
                <a:spcPts val="500"/>
              </a:spcBef>
              <a:spcAft>
                <a:spcPts val="0"/>
              </a:spcAft>
              <a:buClr>
                <a:schemeClr val="lt1"/>
              </a:buClr>
              <a:buSzPts val="1800"/>
              <a:buFont typeface="Arial"/>
              <a:buChar char="•"/>
              <a:defRPr b="0" i="0" sz="2400" u="none" cap="none" strike="noStrike">
                <a:solidFill>
                  <a:srgbClr val="FFFFFF"/>
                </a:solidFill>
                <a:latin typeface="Avenir"/>
                <a:ea typeface="Avenir"/>
                <a:cs typeface="Avenir"/>
                <a:sym typeface="Avenir"/>
              </a:defRPr>
            </a:lvl2pPr>
            <a:lvl3pPr indent="-323850" lvl="2" marL="1371600" marR="0" rtl="0" algn="l">
              <a:lnSpc>
                <a:spcPct val="110000"/>
              </a:lnSpc>
              <a:spcBef>
                <a:spcPts val="500"/>
              </a:spcBef>
              <a:spcAft>
                <a:spcPts val="0"/>
              </a:spcAft>
              <a:buClr>
                <a:schemeClr val="lt1"/>
              </a:buClr>
              <a:buSzPts val="1500"/>
              <a:buFont typeface="Arial"/>
              <a:buChar char="•"/>
              <a:defRPr b="0" i="0" sz="2000" u="none" cap="none" strike="noStrike">
                <a:solidFill>
                  <a:srgbClr val="FFFFFF"/>
                </a:solidFill>
                <a:latin typeface="Avenir"/>
                <a:ea typeface="Avenir"/>
                <a:cs typeface="Avenir"/>
                <a:sym typeface="Avenir"/>
              </a:defRPr>
            </a:lvl3pPr>
            <a:lvl4pPr indent="-314325" lvl="3" marL="1828800" marR="0" rtl="0" algn="l">
              <a:lnSpc>
                <a:spcPct val="110000"/>
              </a:lnSpc>
              <a:spcBef>
                <a:spcPts val="500"/>
              </a:spcBef>
              <a:spcAft>
                <a:spcPts val="0"/>
              </a:spcAft>
              <a:buClr>
                <a:schemeClr val="lt1"/>
              </a:buClr>
              <a:buSzPts val="1350"/>
              <a:buFont typeface="Arial"/>
              <a:buChar char="•"/>
              <a:defRPr b="0" i="0" sz="1800" u="none" cap="none" strike="noStrike">
                <a:solidFill>
                  <a:srgbClr val="FFFFFF"/>
                </a:solidFill>
                <a:latin typeface="Avenir"/>
                <a:ea typeface="Avenir"/>
                <a:cs typeface="Avenir"/>
                <a:sym typeface="Avenir"/>
              </a:defRPr>
            </a:lvl4pPr>
            <a:lvl5pPr indent="-314325" lvl="4" marL="2286000" marR="0" rtl="0" algn="l">
              <a:lnSpc>
                <a:spcPct val="110000"/>
              </a:lnSpc>
              <a:spcBef>
                <a:spcPts val="500"/>
              </a:spcBef>
              <a:spcAft>
                <a:spcPts val="0"/>
              </a:spcAft>
              <a:buClr>
                <a:schemeClr val="lt1"/>
              </a:buClr>
              <a:buSzPts val="1350"/>
              <a:buFont typeface="Arial"/>
              <a:buChar char="•"/>
              <a:defRPr b="0" i="0" sz="1800" u="none" cap="none" strike="noStrike">
                <a:solidFill>
                  <a:srgbClr val="FFFFFF"/>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40" name="Google Shape;40;p1"/>
          <p:cNvSpPr txBox="1"/>
          <p:nvPr>
            <p:ph idx="10" type="dt"/>
          </p:nvPr>
        </p:nvSpPr>
        <p:spPr>
          <a:xfrm>
            <a:off x="457200" y="6324600"/>
            <a:ext cx="256022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41" name="Google Shape;41;p1"/>
          <p:cNvSpPr txBox="1"/>
          <p:nvPr>
            <p:ph idx="11" type="ftr"/>
          </p:nvPr>
        </p:nvSpPr>
        <p:spPr>
          <a:xfrm>
            <a:off x="4200861" y="6319838"/>
            <a:ext cx="3982781"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42" name="Google Shape;42;p1"/>
          <p:cNvSpPr txBox="1"/>
          <p:nvPr>
            <p:ph idx="12" type="sldNum"/>
          </p:nvPr>
        </p:nvSpPr>
        <p:spPr>
          <a:xfrm>
            <a:off x="11190806" y="6324600"/>
            <a:ext cx="799078"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900" u="none" cap="none" strike="noStrike">
                <a:solidFill>
                  <a:srgbClr val="FFFFFF"/>
                </a:solidFill>
                <a:latin typeface="Avenir"/>
                <a:ea typeface="Avenir"/>
                <a:cs typeface="Avenir"/>
                <a:sym typeface="Avenir"/>
              </a:defRPr>
            </a:lvl1pPr>
            <a:lvl2pPr indent="0" lvl="1" marL="0" marR="0" rtl="0" algn="ctr">
              <a:spcBef>
                <a:spcPts val="0"/>
              </a:spcBef>
              <a:buNone/>
              <a:defRPr b="0" i="0" sz="900" u="none" cap="none" strike="noStrike">
                <a:solidFill>
                  <a:srgbClr val="FFFFFF"/>
                </a:solidFill>
                <a:latin typeface="Avenir"/>
                <a:ea typeface="Avenir"/>
                <a:cs typeface="Avenir"/>
                <a:sym typeface="Avenir"/>
              </a:defRPr>
            </a:lvl2pPr>
            <a:lvl3pPr indent="0" lvl="2" marL="0" marR="0" rtl="0" algn="ctr">
              <a:spcBef>
                <a:spcPts val="0"/>
              </a:spcBef>
              <a:buNone/>
              <a:defRPr b="0" i="0" sz="900" u="none" cap="none" strike="noStrike">
                <a:solidFill>
                  <a:srgbClr val="FFFFFF"/>
                </a:solidFill>
                <a:latin typeface="Avenir"/>
                <a:ea typeface="Avenir"/>
                <a:cs typeface="Avenir"/>
                <a:sym typeface="Avenir"/>
              </a:defRPr>
            </a:lvl3pPr>
            <a:lvl4pPr indent="0" lvl="3" marL="0" marR="0" rtl="0" algn="ctr">
              <a:spcBef>
                <a:spcPts val="0"/>
              </a:spcBef>
              <a:buNone/>
              <a:defRPr b="0" i="0" sz="900" u="none" cap="none" strike="noStrike">
                <a:solidFill>
                  <a:srgbClr val="FFFFFF"/>
                </a:solidFill>
                <a:latin typeface="Avenir"/>
                <a:ea typeface="Avenir"/>
                <a:cs typeface="Avenir"/>
                <a:sym typeface="Avenir"/>
              </a:defRPr>
            </a:lvl4pPr>
            <a:lvl5pPr indent="0" lvl="4" marL="0" marR="0" rtl="0" algn="ctr">
              <a:spcBef>
                <a:spcPts val="0"/>
              </a:spcBef>
              <a:buNone/>
              <a:defRPr b="0" i="0" sz="900" u="none" cap="none" strike="noStrike">
                <a:solidFill>
                  <a:srgbClr val="FFFFFF"/>
                </a:solidFill>
                <a:latin typeface="Avenir"/>
                <a:ea typeface="Avenir"/>
                <a:cs typeface="Avenir"/>
                <a:sym typeface="Avenir"/>
              </a:defRPr>
            </a:lvl5pPr>
            <a:lvl6pPr indent="0" lvl="5" marL="0" marR="0" rtl="0" algn="ctr">
              <a:spcBef>
                <a:spcPts val="0"/>
              </a:spcBef>
              <a:buNone/>
              <a:defRPr b="0" i="0" sz="900" u="none" cap="none" strike="noStrike">
                <a:solidFill>
                  <a:srgbClr val="FFFFFF"/>
                </a:solidFill>
                <a:latin typeface="Avenir"/>
                <a:ea typeface="Avenir"/>
                <a:cs typeface="Avenir"/>
                <a:sym typeface="Avenir"/>
              </a:defRPr>
            </a:lvl6pPr>
            <a:lvl7pPr indent="0" lvl="6" marL="0" marR="0" rtl="0" algn="ctr">
              <a:spcBef>
                <a:spcPts val="0"/>
              </a:spcBef>
              <a:buNone/>
              <a:defRPr b="0" i="0" sz="900" u="none" cap="none" strike="noStrike">
                <a:solidFill>
                  <a:srgbClr val="FFFFFF"/>
                </a:solidFill>
                <a:latin typeface="Avenir"/>
                <a:ea typeface="Avenir"/>
                <a:cs typeface="Avenir"/>
                <a:sym typeface="Avenir"/>
              </a:defRPr>
            </a:lvl7pPr>
            <a:lvl8pPr indent="0" lvl="7" marL="0" marR="0" rtl="0" algn="ctr">
              <a:spcBef>
                <a:spcPts val="0"/>
              </a:spcBef>
              <a:buNone/>
              <a:defRPr b="0" i="0" sz="900" u="none" cap="none" strike="noStrike">
                <a:solidFill>
                  <a:srgbClr val="FFFFFF"/>
                </a:solidFill>
                <a:latin typeface="Avenir"/>
                <a:ea typeface="Avenir"/>
                <a:cs typeface="Avenir"/>
                <a:sym typeface="Avenir"/>
              </a:defRPr>
            </a:lvl8pPr>
            <a:lvl9pPr indent="0" lvl="8" marL="0" marR="0" rtl="0" algn="ctr">
              <a:spcBef>
                <a:spcPts val="0"/>
              </a:spcBef>
              <a:buNone/>
              <a:defRPr b="0" i="0" sz="900" u="none" cap="none" strike="noStrike">
                <a:solidFill>
                  <a:srgbClr val="FFFFFF"/>
                </a:solidFill>
                <a:latin typeface="Avenir"/>
                <a:ea typeface="Avenir"/>
                <a:cs typeface="Avenir"/>
                <a:sym typeface="Avenir"/>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1"/>
          <p:cNvSpPr/>
          <p:nvPr/>
        </p:nvSpPr>
        <p:spPr>
          <a:xfrm>
            <a:off x="7979728" y="0"/>
            <a:ext cx="4209224" cy="1650549"/>
          </a:xfrm>
          <a:custGeom>
            <a:rect b="b" l="l" r="r" t="t"/>
            <a:pathLst>
              <a:path extrusionOk="0" h="1650549" w="4209224">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rgbClr val="BCC6DA">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venir"/>
              <a:ea typeface="Avenir"/>
              <a:cs typeface="Avenir"/>
              <a:sym typeface="Aveni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7.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5.png"/><Relationship Id="rId6"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jpg"/><Relationship Id="rId4"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1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8" name="Google Shape;118;p13"/>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9" name="Google Shape;119;p13"/>
          <p:cNvSpPr/>
          <p:nvPr/>
        </p:nvSpPr>
        <p:spPr>
          <a:xfrm rot="-8100000">
            <a:off x="-265271" y="2673521"/>
            <a:ext cx="568289" cy="568289"/>
          </a:xfrm>
          <a:prstGeom prst="rtTriangle">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20" name="Google Shape;120;p13"/>
          <p:cNvGrpSpPr/>
          <p:nvPr/>
        </p:nvGrpSpPr>
        <p:grpSpPr>
          <a:xfrm>
            <a:off x="-6214" y="-1"/>
            <a:ext cx="12214827" cy="6858000"/>
            <a:chOff x="-6214" y="-1"/>
            <a:chExt cx="12214827" cy="6858000"/>
          </a:xfrm>
        </p:grpSpPr>
        <p:cxnSp>
          <p:nvCxnSpPr>
            <p:cNvPr id="121" name="Google Shape;121;p13"/>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 name="Google Shape;122;p13"/>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 name="Google Shape;123;p13"/>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 name="Google Shape;124;p13"/>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5" name="Google Shape;125;p13"/>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6" name="Google Shape;126;p13"/>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7" name="Google Shape;127;p13"/>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 name="Google Shape;128;p13"/>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 name="Google Shape;129;p13"/>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0" name="Google Shape;130;p13"/>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1" name="Google Shape;131;p13"/>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2" name="Google Shape;132;p13"/>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3" name="Google Shape;133;p13"/>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 name="Google Shape;134;p13"/>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 name="Google Shape;135;p13"/>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 name="Google Shape;136;p13"/>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7" name="Google Shape;137;p13"/>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8" name="Google Shape;138;p13"/>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9" name="Google Shape;139;p13"/>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0" name="Google Shape;140;p13"/>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1" name="Google Shape;141;p13"/>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 name="Google Shape;142;p13"/>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 name="Google Shape;143;p13"/>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 name="Google Shape;144;p13"/>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5" name="Google Shape;145;p13"/>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6" name="Google Shape;146;p13"/>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7" name="Google Shape;147;p13"/>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8" name="Google Shape;148;p13"/>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9" name="Google Shape;149;p13"/>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50" name="Google Shape;150;p13"/>
          <p:cNvSpPr txBox="1"/>
          <p:nvPr>
            <p:ph type="ctrTitle"/>
          </p:nvPr>
        </p:nvSpPr>
        <p:spPr>
          <a:xfrm>
            <a:off x="453142" y="725467"/>
            <a:ext cx="5414255" cy="27844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5000"/>
              <a:buFont typeface="Arial"/>
              <a:buNone/>
            </a:pPr>
            <a:r>
              <a:rPr lang="en-US" sz="5000">
                <a:solidFill>
                  <a:schemeClr val="dk2"/>
                </a:solidFill>
              </a:rPr>
              <a:t>Module 1: Introduction to cloud computing</a:t>
            </a:r>
            <a:endParaRPr/>
          </a:p>
        </p:txBody>
      </p:sp>
      <p:pic>
        <p:nvPicPr>
          <p:cNvPr id="151" name="Google Shape;151;p13"/>
          <p:cNvPicPr preferRelativeResize="0"/>
          <p:nvPr/>
        </p:nvPicPr>
        <p:blipFill rotWithShape="1">
          <a:blip r:embed="rId3">
            <a:alphaModFix/>
          </a:blip>
          <a:srcRect b="-7" l="17774" r="31183" t="0"/>
          <a:stretch/>
        </p:blipFill>
        <p:spPr>
          <a:xfrm>
            <a:off x="6084873" y="-3440"/>
            <a:ext cx="6129950" cy="6861439"/>
          </a:xfrm>
          <a:custGeom>
            <a:rect b="b" l="l" r="r" t="t"/>
            <a:pathLst>
              <a:path extrusionOk="0" h="6861439" w="6129950">
                <a:moveTo>
                  <a:pt x="1687527" y="0"/>
                </a:moveTo>
                <a:lnTo>
                  <a:pt x="6129950" y="0"/>
                </a:lnTo>
                <a:lnTo>
                  <a:pt x="6129950" y="6858000"/>
                </a:lnTo>
                <a:lnTo>
                  <a:pt x="5040333" y="6858000"/>
                </a:lnTo>
                <a:lnTo>
                  <a:pt x="5040333" y="6861439"/>
                </a:lnTo>
                <a:lnTo>
                  <a:pt x="272442" y="6861439"/>
                </a:lnTo>
                <a:lnTo>
                  <a:pt x="196402" y="6549696"/>
                </a:lnTo>
                <a:cubicBezTo>
                  <a:pt x="-517926" y="3427393"/>
                  <a:pt x="946083" y="3323532"/>
                  <a:pt x="946083" y="1"/>
                </a:cubicBezTo>
                <a:lnTo>
                  <a:pt x="1687527" y="1"/>
                </a:lnTo>
                <a:close/>
              </a:path>
            </a:pathLst>
          </a:cu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7" name="Google Shape;157;p14"/>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8" name="Google Shape;158;p14"/>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59" name="Google Shape;159;p14"/>
          <p:cNvGrpSpPr/>
          <p:nvPr/>
        </p:nvGrpSpPr>
        <p:grpSpPr>
          <a:xfrm>
            <a:off x="0" y="0"/>
            <a:ext cx="12214827" cy="6858000"/>
            <a:chOff x="-6214" y="-1"/>
            <a:chExt cx="12214827" cy="6858000"/>
          </a:xfrm>
        </p:grpSpPr>
        <p:cxnSp>
          <p:nvCxnSpPr>
            <p:cNvPr id="160" name="Google Shape;160;p14"/>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1" name="Google Shape;161;p14"/>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2" name="Google Shape;162;p14"/>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3" name="Google Shape;163;p14"/>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4" name="Google Shape;164;p14"/>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5" name="Google Shape;165;p14"/>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6" name="Google Shape;166;p14"/>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7" name="Google Shape;167;p14"/>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8" name="Google Shape;168;p14"/>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9" name="Google Shape;169;p14"/>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0" name="Google Shape;170;p14"/>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1" name="Google Shape;171;p14"/>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2" name="Google Shape;172;p14"/>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3" name="Google Shape;173;p14"/>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4" name="Google Shape;174;p14"/>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 name="Google Shape;175;p14"/>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 name="Google Shape;176;p14"/>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 name="Google Shape;177;p14"/>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8" name="Google Shape;178;p14"/>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 name="Google Shape;179;p14"/>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 name="Google Shape;180;p14"/>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 name="Google Shape;181;p14"/>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2" name="Google Shape;182;p14"/>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3" name="Google Shape;183;p14"/>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4" name="Google Shape;184;p14"/>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5" name="Google Shape;185;p14"/>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6" name="Google Shape;186;p14"/>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7" name="Google Shape;187;p14"/>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8" name="Google Shape;188;p14"/>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89" name="Google Shape;189;p14"/>
          <p:cNvSpPr txBox="1"/>
          <p:nvPr>
            <p:ph idx="4294967295" type="ctrTitle"/>
          </p:nvPr>
        </p:nvSpPr>
        <p:spPr>
          <a:xfrm>
            <a:off x="457200" y="171717"/>
            <a:ext cx="6332220" cy="11143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6000"/>
              <a:buFont typeface="Arial"/>
              <a:buNone/>
            </a:pPr>
            <a:r>
              <a:rPr b="0" i="0" lang="en-US" sz="6000" u="none" cap="none" strike="noStrike">
                <a:solidFill>
                  <a:schemeClr val="dk2"/>
                </a:solidFill>
                <a:latin typeface="Arial"/>
                <a:ea typeface="Arial"/>
                <a:cs typeface="Arial"/>
                <a:sym typeface="Arial"/>
              </a:rPr>
              <a:t>Cloud computing</a:t>
            </a:r>
            <a:endParaRPr b="0" i="0" sz="6000" u="none" cap="none" strike="noStrike">
              <a:solidFill>
                <a:schemeClr val="dk2"/>
              </a:solidFill>
              <a:latin typeface="Arial"/>
              <a:ea typeface="Arial"/>
              <a:cs typeface="Arial"/>
              <a:sym typeface="Arial"/>
            </a:endParaRPr>
          </a:p>
        </p:txBody>
      </p:sp>
      <p:sp>
        <p:nvSpPr>
          <p:cNvPr id="190" name="Google Shape;190;p14"/>
          <p:cNvSpPr txBox="1"/>
          <p:nvPr>
            <p:ph idx="1" type="body"/>
          </p:nvPr>
        </p:nvSpPr>
        <p:spPr>
          <a:xfrm>
            <a:off x="457200" y="1449150"/>
            <a:ext cx="6084600" cy="51972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500"/>
              <a:buNone/>
            </a:pPr>
            <a:r>
              <a:rPr lang="en-US" sz="2600">
                <a:solidFill>
                  <a:schemeClr val="dk2"/>
                </a:solidFill>
              </a:rPr>
              <a:t>Cloud computing was created because </a:t>
            </a:r>
            <a:endParaRPr sz="2600">
              <a:solidFill>
                <a:schemeClr val="dk2"/>
              </a:solidFill>
            </a:endParaRPr>
          </a:p>
          <a:p>
            <a:pPr indent="-266699" lvl="1" marL="446088" rtl="0" algn="l">
              <a:lnSpc>
                <a:spcPct val="110000"/>
              </a:lnSpc>
              <a:spcBef>
                <a:spcPts val="500"/>
              </a:spcBef>
              <a:spcAft>
                <a:spcPts val="0"/>
              </a:spcAft>
              <a:buClr>
                <a:schemeClr val="dk2"/>
              </a:buClr>
              <a:buSzPts val="2100"/>
              <a:buChar char="•"/>
            </a:pPr>
            <a:r>
              <a:rPr lang="en-US" sz="2600">
                <a:solidFill>
                  <a:schemeClr val="dk2"/>
                </a:solidFill>
              </a:rPr>
              <a:t>the amount of data an organization has to store and manage has grown exponentially over the past few decades. </a:t>
            </a:r>
            <a:endParaRPr sz="2600">
              <a:solidFill>
                <a:schemeClr val="dk2"/>
              </a:solidFill>
            </a:endParaRPr>
          </a:p>
          <a:p>
            <a:pPr indent="-266700" lvl="1" marL="446087" rtl="0" algn="l">
              <a:lnSpc>
                <a:spcPct val="110000"/>
              </a:lnSpc>
              <a:spcBef>
                <a:spcPts val="500"/>
              </a:spcBef>
              <a:spcAft>
                <a:spcPts val="0"/>
              </a:spcAft>
              <a:buClr>
                <a:schemeClr val="dk2"/>
              </a:buClr>
              <a:buSzPts val="2100"/>
              <a:buChar char="•"/>
            </a:pPr>
            <a:r>
              <a:rPr lang="en-US" sz="2600">
                <a:solidFill>
                  <a:schemeClr val="dk2"/>
                </a:solidFill>
              </a:rPr>
              <a:t>Companies were beginning to install more and more physical storage space, which became ever more expensive and cumbersome. </a:t>
            </a:r>
            <a:endParaRPr sz="2600">
              <a:solidFill>
                <a:schemeClr val="dk2"/>
              </a:solidFill>
            </a:endParaRPr>
          </a:p>
          <a:p>
            <a:pPr indent="0" lvl="1" marL="217488" rtl="0" algn="l">
              <a:lnSpc>
                <a:spcPct val="110000"/>
              </a:lnSpc>
              <a:spcBef>
                <a:spcPts val="500"/>
              </a:spcBef>
              <a:spcAft>
                <a:spcPts val="0"/>
              </a:spcAft>
              <a:buClr>
                <a:schemeClr val="dk2"/>
              </a:buClr>
              <a:buSzPts val="1500"/>
              <a:buNone/>
            </a:pPr>
            <a:r>
              <a:rPr b="1" lang="en-US" sz="2600" u="sng">
                <a:solidFill>
                  <a:schemeClr val="dk2"/>
                </a:solidFill>
              </a:rPr>
              <a:t>Cloud storage &amp; infrastructure removes this burden.</a:t>
            </a:r>
            <a:endParaRPr b="1" sz="3000" u="sng"/>
          </a:p>
        </p:txBody>
      </p:sp>
      <p:pic>
        <p:nvPicPr>
          <p:cNvPr descr="Cloud shaped hard drive with cables" id="191" name="Google Shape;191;p14"/>
          <p:cNvPicPr preferRelativeResize="0"/>
          <p:nvPr/>
        </p:nvPicPr>
        <p:blipFill rotWithShape="1">
          <a:blip r:embed="rId3">
            <a:alphaModFix/>
          </a:blip>
          <a:srcRect b="-3" l="18735" r="32150"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1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97" name="Google Shape;197;p15"/>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98" name="Google Shape;198;p15"/>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99" name="Google Shape;199;p15"/>
          <p:cNvGrpSpPr/>
          <p:nvPr/>
        </p:nvGrpSpPr>
        <p:grpSpPr>
          <a:xfrm>
            <a:off x="0" y="0"/>
            <a:ext cx="12214827" cy="6858000"/>
            <a:chOff x="-6214" y="-1"/>
            <a:chExt cx="12214827" cy="6858000"/>
          </a:xfrm>
        </p:grpSpPr>
        <p:cxnSp>
          <p:nvCxnSpPr>
            <p:cNvPr id="200" name="Google Shape;200;p15"/>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1" name="Google Shape;201;p15"/>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2" name="Google Shape;202;p15"/>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3" name="Google Shape;203;p15"/>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4" name="Google Shape;204;p15"/>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5" name="Google Shape;205;p15"/>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6" name="Google Shape;206;p15"/>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7" name="Google Shape;207;p15"/>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8" name="Google Shape;208;p15"/>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09" name="Google Shape;209;p15"/>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0" name="Google Shape;210;p15"/>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1" name="Google Shape;211;p15"/>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2" name="Google Shape;212;p15"/>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3" name="Google Shape;213;p15"/>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4" name="Google Shape;214;p15"/>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5" name="Google Shape;215;p15"/>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6" name="Google Shape;216;p15"/>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7" name="Google Shape;217;p15"/>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8" name="Google Shape;218;p15"/>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19" name="Google Shape;219;p15"/>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0" name="Google Shape;220;p15"/>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1" name="Google Shape;221;p15"/>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2" name="Google Shape;222;p15"/>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3" name="Google Shape;223;p15"/>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4" name="Google Shape;224;p15"/>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5" name="Google Shape;225;p15"/>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6" name="Google Shape;226;p15"/>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7" name="Google Shape;227;p15"/>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28" name="Google Shape;228;p15"/>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229" name="Google Shape;229;p15"/>
          <p:cNvSpPr txBox="1"/>
          <p:nvPr>
            <p:ph idx="4294967295" type="ctrTitle"/>
          </p:nvPr>
        </p:nvSpPr>
        <p:spPr>
          <a:xfrm>
            <a:off x="457200" y="171717"/>
            <a:ext cx="6332220" cy="153734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6000"/>
              <a:buFont typeface="Arial"/>
              <a:buNone/>
            </a:pPr>
            <a:r>
              <a:rPr b="0" i="0" lang="en-US" sz="6000" u="none" cap="none" strike="noStrike">
                <a:solidFill>
                  <a:schemeClr val="dk2"/>
                </a:solidFill>
                <a:latin typeface="Arial"/>
                <a:ea typeface="Arial"/>
                <a:cs typeface="Arial"/>
                <a:sym typeface="Arial"/>
              </a:rPr>
              <a:t>Cloud computing</a:t>
            </a:r>
            <a:endParaRPr b="0" i="0" sz="6000" u="none" cap="none" strike="noStrike">
              <a:solidFill>
                <a:schemeClr val="dk2"/>
              </a:solidFill>
              <a:latin typeface="Arial"/>
              <a:ea typeface="Arial"/>
              <a:cs typeface="Arial"/>
              <a:sym typeface="Arial"/>
            </a:endParaRPr>
          </a:p>
        </p:txBody>
      </p:sp>
      <p:sp>
        <p:nvSpPr>
          <p:cNvPr id="230" name="Google Shape;230;p15"/>
          <p:cNvSpPr txBox="1"/>
          <p:nvPr>
            <p:ph idx="1" type="body"/>
          </p:nvPr>
        </p:nvSpPr>
        <p:spPr>
          <a:xfrm>
            <a:off x="457200" y="1709057"/>
            <a:ext cx="5852111" cy="4565269"/>
          </a:xfrm>
          <a:prstGeom prst="rect">
            <a:avLst/>
          </a:prstGeom>
          <a:noFill/>
          <a:ln>
            <a:noFill/>
          </a:ln>
        </p:spPr>
        <p:txBody>
          <a:bodyPr anchorCtr="0" anchor="t" bIns="45700" lIns="91425" spcFirstLastPara="1" rIns="91425" wrap="square" tIns="45700">
            <a:noAutofit/>
          </a:bodyPr>
          <a:lstStyle/>
          <a:p>
            <a:pPr indent="-292100" lvl="0" marL="228600" rtl="0" algn="l">
              <a:lnSpc>
                <a:spcPct val="110000"/>
              </a:lnSpc>
              <a:spcBef>
                <a:spcPts val="0"/>
              </a:spcBef>
              <a:spcAft>
                <a:spcPts val="0"/>
              </a:spcAft>
              <a:buClr>
                <a:srgbClr val="585298"/>
              </a:buClr>
              <a:buSzPts val="2500"/>
              <a:buFont typeface="Noto Sans Symbols"/>
              <a:buChar char="⮚"/>
            </a:pPr>
            <a:r>
              <a:rPr lang="en-US" sz="2500">
                <a:solidFill>
                  <a:schemeClr val="dk2"/>
                </a:solidFill>
              </a:rPr>
              <a:t>Cloud platforms provide a variety of services and resources over the internet, allowing users to access and utilize computing power, storage, databases, networking, and other services without the need for on-premises infrastructure. </a:t>
            </a:r>
            <a:endParaRPr sz="2500">
              <a:solidFill>
                <a:schemeClr val="dk2"/>
              </a:solidFill>
            </a:endParaRPr>
          </a:p>
          <a:p>
            <a:pPr indent="-133350" lvl="0" marL="228600" rtl="0" algn="l">
              <a:lnSpc>
                <a:spcPct val="110000"/>
              </a:lnSpc>
              <a:spcBef>
                <a:spcPts val="1000"/>
              </a:spcBef>
              <a:spcAft>
                <a:spcPts val="0"/>
              </a:spcAft>
              <a:buClr>
                <a:srgbClr val="585298"/>
              </a:buClr>
              <a:buSzPts val="1500"/>
              <a:buFont typeface="Noto Sans Symbols"/>
              <a:buNone/>
            </a:pPr>
            <a:r>
              <a:t/>
            </a:r>
            <a:endParaRPr sz="2500">
              <a:solidFill>
                <a:schemeClr val="dk2"/>
              </a:solidFill>
            </a:endParaRPr>
          </a:p>
          <a:p>
            <a:pPr indent="-292100" lvl="0" marL="228600" rtl="0" algn="l">
              <a:lnSpc>
                <a:spcPct val="110000"/>
              </a:lnSpc>
              <a:spcBef>
                <a:spcPts val="1000"/>
              </a:spcBef>
              <a:spcAft>
                <a:spcPts val="0"/>
              </a:spcAft>
              <a:buClr>
                <a:srgbClr val="585298"/>
              </a:buClr>
              <a:buSzPts val="2500"/>
              <a:buFont typeface="Noto Sans Symbols"/>
              <a:buChar char="⮚"/>
            </a:pPr>
            <a:r>
              <a:rPr lang="en-US" sz="2500">
                <a:solidFill>
                  <a:schemeClr val="dk2"/>
                </a:solidFill>
              </a:rPr>
              <a:t>There are several prominent cloud platforms, each with its unique features and strengths.</a:t>
            </a:r>
            <a:endParaRPr sz="2500">
              <a:solidFill>
                <a:schemeClr val="dk2"/>
              </a:solidFill>
            </a:endParaRPr>
          </a:p>
        </p:txBody>
      </p:sp>
      <p:pic>
        <p:nvPicPr>
          <p:cNvPr descr="Cloud shaped hard drive with cables" id="231" name="Google Shape;231;p15"/>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1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37" name="Google Shape;237;p16"/>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38" name="Google Shape;238;p16"/>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239" name="Google Shape;239;p16"/>
          <p:cNvGrpSpPr/>
          <p:nvPr/>
        </p:nvGrpSpPr>
        <p:grpSpPr>
          <a:xfrm>
            <a:off x="0" y="0"/>
            <a:ext cx="12214827" cy="6858000"/>
            <a:chOff x="-6214" y="-1"/>
            <a:chExt cx="12214827" cy="6858000"/>
          </a:xfrm>
        </p:grpSpPr>
        <p:cxnSp>
          <p:nvCxnSpPr>
            <p:cNvPr id="240" name="Google Shape;240;p16"/>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1" name="Google Shape;241;p16"/>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2" name="Google Shape;242;p16"/>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3" name="Google Shape;243;p16"/>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4" name="Google Shape;244;p16"/>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5" name="Google Shape;245;p16"/>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6" name="Google Shape;246;p16"/>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7" name="Google Shape;247;p16"/>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8" name="Google Shape;248;p16"/>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49" name="Google Shape;249;p16"/>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0" name="Google Shape;250;p16"/>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1" name="Google Shape;251;p16"/>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2" name="Google Shape;252;p16"/>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3" name="Google Shape;253;p16"/>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4" name="Google Shape;254;p16"/>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5" name="Google Shape;255;p16"/>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6" name="Google Shape;256;p16"/>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7" name="Google Shape;257;p16"/>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8" name="Google Shape;258;p16"/>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59" name="Google Shape;259;p16"/>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0" name="Google Shape;260;p16"/>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1" name="Google Shape;261;p16"/>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2" name="Google Shape;262;p16"/>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3" name="Google Shape;263;p16"/>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4" name="Google Shape;264;p16"/>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5" name="Google Shape;265;p16"/>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6" name="Google Shape;266;p16"/>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7" name="Google Shape;267;p16"/>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68" name="Google Shape;268;p16"/>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269" name="Google Shape;269;p16"/>
          <p:cNvSpPr txBox="1"/>
          <p:nvPr>
            <p:ph idx="4294967295" type="ctrTitle"/>
          </p:nvPr>
        </p:nvSpPr>
        <p:spPr>
          <a:xfrm>
            <a:off x="473580" y="156301"/>
            <a:ext cx="5738170" cy="224417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Cloud Architectures</a:t>
            </a:r>
            <a:endParaRPr b="0" i="0" sz="4400" u="none" cap="none" strike="noStrike">
              <a:solidFill>
                <a:schemeClr val="dk2"/>
              </a:solidFill>
              <a:latin typeface="Arial"/>
              <a:ea typeface="Arial"/>
              <a:cs typeface="Arial"/>
              <a:sym typeface="Arial"/>
            </a:endParaRPr>
          </a:p>
        </p:txBody>
      </p:sp>
      <p:sp>
        <p:nvSpPr>
          <p:cNvPr id="270" name="Google Shape;270;p16"/>
          <p:cNvSpPr txBox="1"/>
          <p:nvPr>
            <p:ph idx="1" type="body"/>
          </p:nvPr>
        </p:nvSpPr>
        <p:spPr>
          <a:xfrm>
            <a:off x="389900" y="1851002"/>
            <a:ext cx="6400800" cy="4592400"/>
          </a:xfrm>
          <a:prstGeom prst="rect">
            <a:avLst/>
          </a:prstGeom>
          <a:noFill/>
          <a:ln>
            <a:noFill/>
          </a:ln>
        </p:spPr>
        <p:txBody>
          <a:bodyPr anchorCtr="0" anchor="t" bIns="45700" lIns="91425" spcFirstLastPara="1" rIns="91425" wrap="square" tIns="45700">
            <a:noAutofit/>
          </a:bodyPr>
          <a:lstStyle/>
          <a:p>
            <a:pPr indent="-285750" lvl="0" marL="228600" rtl="0" algn="l">
              <a:lnSpc>
                <a:spcPct val="110000"/>
              </a:lnSpc>
              <a:spcBef>
                <a:spcPts val="0"/>
              </a:spcBef>
              <a:spcAft>
                <a:spcPts val="0"/>
              </a:spcAft>
              <a:buClr>
                <a:srgbClr val="585298"/>
              </a:buClr>
              <a:buSzPts val="2700"/>
              <a:buFont typeface="Noto Sans Symbols"/>
              <a:buChar char="⮚"/>
            </a:pPr>
            <a:r>
              <a:rPr b="1" lang="en-US" sz="2700">
                <a:solidFill>
                  <a:schemeClr val="dk2"/>
                </a:solidFill>
              </a:rPr>
              <a:t>Public cloud </a:t>
            </a:r>
            <a:r>
              <a:rPr lang="en-US" sz="2700">
                <a:solidFill>
                  <a:schemeClr val="dk2"/>
                </a:solidFill>
              </a:rPr>
              <a:t>— data and other info delivered over the internet that can be shared with various people and organizations</a:t>
            </a:r>
            <a:endParaRPr sz="2700"/>
          </a:p>
          <a:p>
            <a:pPr indent="-285750" lvl="0" marL="228600" rtl="0" algn="l">
              <a:lnSpc>
                <a:spcPct val="110000"/>
              </a:lnSpc>
              <a:spcBef>
                <a:spcPts val="1000"/>
              </a:spcBef>
              <a:spcAft>
                <a:spcPts val="0"/>
              </a:spcAft>
              <a:buClr>
                <a:srgbClr val="585298"/>
              </a:buClr>
              <a:buSzPts val="2700"/>
              <a:buFont typeface="Noto Sans Symbols"/>
              <a:buChar char="⮚"/>
            </a:pPr>
            <a:r>
              <a:rPr b="1" lang="en-US" sz="2700">
                <a:solidFill>
                  <a:schemeClr val="dk2"/>
                </a:solidFill>
              </a:rPr>
              <a:t>Private cloud </a:t>
            </a:r>
            <a:r>
              <a:rPr lang="en-US" sz="2700">
                <a:solidFill>
                  <a:schemeClr val="dk2"/>
                </a:solidFill>
              </a:rPr>
              <a:t>— data and other info that is only accessible to users within your organization</a:t>
            </a:r>
            <a:endParaRPr sz="2700"/>
          </a:p>
          <a:p>
            <a:pPr indent="-285750" lvl="0" marL="228600" rtl="0" algn="l">
              <a:lnSpc>
                <a:spcPct val="110000"/>
              </a:lnSpc>
              <a:spcBef>
                <a:spcPts val="1000"/>
              </a:spcBef>
              <a:spcAft>
                <a:spcPts val="0"/>
              </a:spcAft>
              <a:buClr>
                <a:srgbClr val="585298"/>
              </a:buClr>
              <a:buSzPts val="2700"/>
              <a:buFont typeface="Noto Sans Symbols"/>
              <a:buChar char="⮚"/>
            </a:pPr>
            <a:r>
              <a:rPr b="1" lang="en-US" sz="2700">
                <a:solidFill>
                  <a:schemeClr val="dk2"/>
                </a:solidFill>
              </a:rPr>
              <a:t>Hybrid cloud </a:t>
            </a:r>
            <a:r>
              <a:rPr lang="en-US" sz="2700">
                <a:solidFill>
                  <a:schemeClr val="dk2"/>
                </a:solidFill>
              </a:rPr>
              <a:t>— a combination of the two</a:t>
            </a:r>
            <a:endParaRPr sz="2700"/>
          </a:p>
        </p:txBody>
      </p:sp>
      <p:pic>
        <p:nvPicPr>
          <p:cNvPr descr="Padlock on computer motherboard" id="271" name="Google Shape;271;p16"/>
          <p:cNvPicPr preferRelativeResize="0"/>
          <p:nvPr/>
        </p:nvPicPr>
        <p:blipFill rotWithShape="1">
          <a:blip r:embed="rId3">
            <a:alphaModFix/>
          </a:blip>
          <a:srcRect b="2" l="7254" r="35364" t="0"/>
          <a:stretch/>
        </p:blipFill>
        <p:spPr>
          <a:xfrm>
            <a:off x="6720839" y="1"/>
            <a:ext cx="5487773"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7" name="Google Shape;277;p17"/>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278" name="Google Shape;278;p17"/>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279" name="Google Shape;279;p17"/>
          <p:cNvGrpSpPr/>
          <p:nvPr/>
        </p:nvGrpSpPr>
        <p:grpSpPr>
          <a:xfrm>
            <a:off x="0" y="0"/>
            <a:ext cx="12214827" cy="6858000"/>
            <a:chOff x="-6214" y="-1"/>
            <a:chExt cx="12214827" cy="6858000"/>
          </a:xfrm>
        </p:grpSpPr>
        <p:cxnSp>
          <p:nvCxnSpPr>
            <p:cNvPr id="280" name="Google Shape;280;p17"/>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1" name="Google Shape;281;p17"/>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2" name="Google Shape;282;p17"/>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3" name="Google Shape;283;p17"/>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4" name="Google Shape;284;p17"/>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5" name="Google Shape;285;p17"/>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6" name="Google Shape;286;p17"/>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7" name="Google Shape;287;p17"/>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8" name="Google Shape;288;p17"/>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89" name="Google Shape;289;p17"/>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0" name="Google Shape;290;p17"/>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1" name="Google Shape;291;p17"/>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2" name="Google Shape;292;p17"/>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3" name="Google Shape;293;p17"/>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4" name="Google Shape;294;p17"/>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5" name="Google Shape;295;p17"/>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6" name="Google Shape;296;p17"/>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7" name="Google Shape;297;p17"/>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8" name="Google Shape;298;p17"/>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299" name="Google Shape;299;p17"/>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0" name="Google Shape;300;p17"/>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1" name="Google Shape;301;p17"/>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2" name="Google Shape;302;p17"/>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3" name="Google Shape;303;p17"/>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4" name="Google Shape;304;p17"/>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5" name="Google Shape;305;p17"/>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6" name="Google Shape;306;p17"/>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7" name="Google Shape;307;p17"/>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08" name="Google Shape;308;p17"/>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309" name="Google Shape;309;p17"/>
          <p:cNvSpPr txBox="1"/>
          <p:nvPr>
            <p:ph idx="4294967295" type="ctrTitle"/>
          </p:nvPr>
        </p:nvSpPr>
        <p:spPr>
          <a:xfrm>
            <a:off x="389901" y="182167"/>
            <a:ext cx="5919410" cy="136360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a Public Cloud?</a:t>
            </a:r>
            <a:endParaRPr/>
          </a:p>
        </p:txBody>
      </p:sp>
      <p:sp>
        <p:nvSpPr>
          <p:cNvPr id="310" name="Google Shape;310;p17"/>
          <p:cNvSpPr txBox="1"/>
          <p:nvPr>
            <p:ph idx="1" type="body"/>
          </p:nvPr>
        </p:nvSpPr>
        <p:spPr>
          <a:xfrm>
            <a:off x="432148" y="1449154"/>
            <a:ext cx="5763222" cy="5237130"/>
          </a:xfrm>
          <a:prstGeom prst="rect">
            <a:avLst/>
          </a:prstGeom>
          <a:noFill/>
          <a:ln>
            <a:noFill/>
          </a:ln>
        </p:spPr>
        <p:txBody>
          <a:bodyPr anchorCtr="0" anchor="t" bIns="45700" lIns="91425" spcFirstLastPara="1" rIns="91425" wrap="square" tIns="45700">
            <a:noAutofit/>
          </a:bodyPr>
          <a:lstStyle/>
          <a:p>
            <a:pPr indent="-279400" lvl="0" marL="228600" rtl="0" algn="l">
              <a:lnSpc>
                <a:spcPct val="110000"/>
              </a:lnSpc>
              <a:spcBef>
                <a:spcPts val="0"/>
              </a:spcBef>
              <a:spcAft>
                <a:spcPts val="0"/>
              </a:spcAft>
              <a:buClr>
                <a:srgbClr val="7F657F"/>
              </a:buClr>
              <a:buSzPts val="2150"/>
              <a:buFont typeface="Noto Sans Symbols"/>
              <a:buChar char="⮚"/>
            </a:pPr>
            <a:r>
              <a:rPr lang="en-US" sz="2600">
                <a:solidFill>
                  <a:schemeClr val="dk2"/>
                </a:solidFill>
              </a:rPr>
              <a:t>Anything said to live in the cloud refers to docs, apps, data, and anything else that does not reside on a physical appliance; your computer, a server, hard drive, etc. </a:t>
            </a:r>
            <a:endParaRPr sz="3600"/>
          </a:p>
          <a:p>
            <a:pPr indent="-279400" lvl="0" marL="228600" rtl="0" algn="l">
              <a:lnSpc>
                <a:spcPct val="110000"/>
              </a:lnSpc>
              <a:spcBef>
                <a:spcPts val="1000"/>
              </a:spcBef>
              <a:spcAft>
                <a:spcPts val="0"/>
              </a:spcAft>
              <a:buClr>
                <a:srgbClr val="7F657F"/>
              </a:buClr>
              <a:buSzPts val="2150"/>
              <a:buFont typeface="Noto Sans Symbols"/>
              <a:buChar char="⮚"/>
            </a:pPr>
            <a:r>
              <a:rPr lang="en-US" sz="2600">
                <a:solidFill>
                  <a:schemeClr val="dk2"/>
                </a:solidFill>
              </a:rPr>
              <a:t>A public cloud does not mean that just anyone can log in, but it is more accessible than other types of clouds. </a:t>
            </a:r>
            <a:endParaRPr sz="3600"/>
          </a:p>
          <a:p>
            <a:pPr indent="-336550" lvl="0" marL="776288" rtl="0" algn="l">
              <a:lnSpc>
                <a:spcPct val="110000"/>
              </a:lnSpc>
              <a:spcBef>
                <a:spcPts val="1000"/>
              </a:spcBef>
              <a:spcAft>
                <a:spcPts val="0"/>
              </a:spcAft>
              <a:buClr>
                <a:srgbClr val="7F657F"/>
              </a:buClr>
              <a:buSzPts val="2150"/>
              <a:buFont typeface="Noto Sans Symbols"/>
              <a:buChar char="❖"/>
            </a:pPr>
            <a:r>
              <a:rPr lang="en-US" sz="2600">
                <a:solidFill>
                  <a:schemeClr val="dk2"/>
                </a:solidFill>
              </a:rPr>
              <a:t>High scalability and elasticity</a:t>
            </a:r>
            <a:endParaRPr sz="3600"/>
          </a:p>
          <a:p>
            <a:pPr indent="-336550" lvl="0" marL="776288" rtl="0" algn="l">
              <a:lnSpc>
                <a:spcPct val="110000"/>
              </a:lnSpc>
              <a:spcBef>
                <a:spcPts val="1000"/>
              </a:spcBef>
              <a:spcAft>
                <a:spcPts val="0"/>
              </a:spcAft>
              <a:buClr>
                <a:srgbClr val="7F657F"/>
              </a:buClr>
              <a:buSzPts val="2150"/>
              <a:buFont typeface="Noto Sans Symbols"/>
              <a:buChar char="❖"/>
            </a:pPr>
            <a:r>
              <a:rPr lang="en-US" sz="2600">
                <a:solidFill>
                  <a:schemeClr val="dk2"/>
                </a:solidFill>
              </a:rPr>
              <a:t>Low-cost tier-based pricing</a:t>
            </a:r>
            <a:endParaRPr sz="2600">
              <a:solidFill>
                <a:schemeClr val="dk2"/>
              </a:solidFill>
            </a:endParaRPr>
          </a:p>
          <a:p>
            <a:pPr indent="0" lvl="0" marL="174625" rtl="0" algn="l">
              <a:lnSpc>
                <a:spcPct val="110000"/>
              </a:lnSpc>
              <a:spcBef>
                <a:spcPts val="1000"/>
              </a:spcBef>
              <a:spcAft>
                <a:spcPts val="0"/>
              </a:spcAft>
              <a:buClr>
                <a:srgbClr val="FFFFFF"/>
              </a:buClr>
              <a:buSzPts val="1350"/>
              <a:buNone/>
            </a:pPr>
            <a:r>
              <a:t/>
            </a:r>
            <a:endParaRPr sz="2900">
              <a:solidFill>
                <a:schemeClr val="dk2"/>
              </a:solidFill>
            </a:endParaRPr>
          </a:p>
        </p:txBody>
      </p:sp>
      <p:pic>
        <p:nvPicPr>
          <p:cNvPr descr="Cloud shaped hard drive with cables" id="311" name="Google Shape;311;p17"/>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17" name="Google Shape;317;p18"/>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18" name="Google Shape;318;p18"/>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319" name="Google Shape;319;p18"/>
          <p:cNvGrpSpPr/>
          <p:nvPr/>
        </p:nvGrpSpPr>
        <p:grpSpPr>
          <a:xfrm>
            <a:off x="0" y="0"/>
            <a:ext cx="12214827" cy="6858000"/>
            <a:chOff x="-6214" y="-1"/>
            <a:chExt cx="12214827" cy="6858000"/>
          </a:xfrm>
        </p:grpSpPr>
        <p:cxnSp>
          <p:nvCxnSpPr>
            <p:cNvPr id="320" name="Google Shape;320;p18"/>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1" name="Google Shape;321;p18"/>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2" name="Google Shape;322;p18"/>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3" name="Google Shape;323;p18"/>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4" name="Google Shape;324;p18"/>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5" name="Google Shape;325;p18"/>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6" name="Google Shape;326;p18"/>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7" name="Google Shape;327;p18"/>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8" name="Google Shape;328;p18"/>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29" name="Google Shape;329;p18"/>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0" name="Google Shape;330;p18"/>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1" name="Google Shape;331;p18"/>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2" name="Google Shape;332;p18"/>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3" name="Google Shape;333;p18"/>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4" name="Google Shape;334;p18"/>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5" name="Google Shape;335;p18"/>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6" name="Google Shape;336;p18"/>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7" name="Google Shape;337;p18"/>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8" name="Google Shape;338;p18"/>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39" name="Google Shape;339;p18"/>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0" name="Google Shape;340;p18"/>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1" name="Google Shape;341;p18"/>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2" name="Google Shape;342;p18"/>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3" name="Google Shape;343;p18"/>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4" name="Google Shape;344;p18"/>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5" name="Google Shape;345;p18"/>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6" name="Google Shape;346;p18"/>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7" name="Google Shape;347;p18"/>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348" name="Google Shape;348;p18"/>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349" name="Google Shape;349;p18"/>
          <p:cNvSpPr txBox="1"/>
          <p:nvPr>
            <p:ph idx="4294967295" type="ctrTitle"/>
          </p:nvPr>
        </p:nvSpPr>
        <p:spPr>
          <a:xfrm>
            <a:off x="389901" y="182167"/>
            <a:ext cx="5919300" cy="1363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a Public Cloud?</a:t>
            </a:r>
            <a:endParaRPr/>
          </a:p>
        </p:txBody>
      </p:sp>
      <p:sp>
        <p:nvSpPr>
          <p:cNvPr id="350" name="Google Shape;350;p18"/>
          <p:cNvSpPr txBox="1"/>
          <p:nvPr>
            <p:ph idx="1" type="body"/>
          </p:nvPr>
        </p:nvSpPr>
        <p:spPr>
          <a:xfrm>
            <a:off x="75400" y="1449150"/>
            <a:ext cx="6336000" cy="5237100"/>
          </a:xfrm>
          <a:prstGeom prst="rect">
            <a:avLst/>
          </a:prstGeom>
          <a:noFill/>
          <a:ln>
            <a:noFill/>
          </a:ln>
        </p:spPr>
        <p:txBody>
          <a:bodyPr anchorCtr="0" anchor="t" bIns="45700" lIns="91425" spcFirstLastPara="1" rIns="91425" wrap="square" tIns="45700">
            <a:noAutofit/>
          </a:bodyPr>
          <a:lstStyle/>
          <a:p>
            <a:pPr indent="-377825" lvl="0" marL="460375" rtl="0" algn="l">
              <a:lnSpc>
                <a:spcPct val="110000"/>
              </a:lnSpc>
              <a:spcBef>
                <a:spcPts val="1000"/>
              </a:spcBef>
              <a:spcAft>
                <a:spcPts val="0"/>
              </a:spcAft>
              <a:buClr>
                <a:srgbClr val="7F657F"/>
              </a:buClr>
              <a:buSzPts val="2800"/>
              <a:buFont typeface="Noto Sans Symbols"/>
              <a:buChar char="⮚"/>
            </a:pPr>
            <a:r>
              <a:rPr lang="en-US">
                <a:solidFill>
                  <a:schemeClr val="dk2"/>
                </a:solidFill>
              </a:rPr>
              <a:t>Public cloud services are often free or offered as a subscription-based service. </a:t>
            </a:r>
            <a:endParaRPr>
              <a:solidFill>
                <a:schemeClr val="dk2"/>
              </a:solidFill>
            </a:endParaRPr>
          </a:p>
          <a:p>
            <a:pPr indent="-377825" lvl="0" marL="460375" rtl="0" algn="l">
              <a:lnSpc>
                <a:spcPct val="110000"/>
              </a:lnSpc>
              <a:spcBef>
                <a:spcPts val="1000"/>
              </a:spcBef>
              <a:spcAft>
                <a:spcPts val="0"/>
              </a:spcAft>
              <a:buClr>
                <a:srgbClr val="7F657F"/>
              </a:buClr>
              <a:buSzPts val="2800"/>
              <a:buFont typeface="Noto Sans Symbols"/>
              <a:buChar char="⮚"/>
            </a:pPr>
            <a:r>
              <a:rPr lang="en-US">
                <a:solidFill>
                  <a:schemeClr val="dk2"/>
                </a:solidFill>
              </a:rPr>
              <a:t>The computing functionality they provide can range from basic services such as email, apps, and storage to enterprise-level OS platforms or infrastructure environments your team can use for software development and testing.</a:t>
            </a:r>
            <a:endParaRPr/>
          </a:p>
          <a:p>
            <a:pPr indent="0" lvl="0" marL="174625" rtl="0" algn="l">
              <a:lnSpc>
                <a:spcPct val="110000"/>
              </a:lnSpc>
              <a:spcBef>
                <a:spcPts val="1000"/>
              </a:spcBef>
              <a:spcAft>
                <a:spcPts val="0"/>
              </a:spcAft>
              <a:buClr>
                <a:srgbClr val="FFFFFF"/>
              </a:buClr>
              <a:buSzPts val="1350"/>
              <a:buNone/>
            </a:pPr>
            <a:r>
              <a:t/>
            </a:r>
            <a:endParaRPr>
              <a:solidFill>
                <a:schemeClr val="dk2"/>
              </a:solidFill>
            </a:endParaRPr>
          </a:p>
        </p:txBody>
      </p:sp>
      <p:pic>
        <p:nvPicPr>
          <p:cNvPr descr="Cloud shaped hard drive with cables" id="351" name="Google Shape;351;p18"/>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5" name="Shape 355"/>
        <p:cNvGrpSpPr/>
        <p:nvPr/>
      </p:nvGrpSpPr>
      <p:grpSpPr>
        <a:xfrm>
          <a:off x="0" y="0"/>
          <a:ext cx="0" cy="0"/>
          <a:chOff x="0" y="0"/>
          <a:chExt cx="0" cy="0"/>
        </a:xfrm>
      </p:grpSpPr>
      <p:sp>
        <p:nvSpPr>
          <p:cNvPr id="356" name="Google Shape;356;p1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57" name="Google Shape;357;p19"/>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58" name="Google Shape;358;p19"/>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359" name="Google Shape;359;p19"/>
          <p:cNvGrpSpPr/>
          <p:nvPr/>
        </p:nvGrpSpPr>
        <p:grpSpPr>
          <a:xfrm>
            <a:off x="0" y="0"/>
            <a:ext cx="12214827" cy="6858000"/>
            <a:chOff x="-6214" y="-1"/>
            <a:chExt cx="12214827" cy="6858000"/>
          </a:xfrm>
        </p:grpSpPr>
        <p:cxnSp>
          <p:nvCxnSpPr>
            <p:cNvPr id="360" name="Google Shape;360;p19"/>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1" name="Google Shape;361;p19"/>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2" name="Google Shape;362;p19"/>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3" name="Google Shape;363;p19"/>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4" name="Google Shape;364;p19"/>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5" name="Google Shape;365;p19"/>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6" name="Google Shape;366;p19"/>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7" name="Google Shape;367;p19"/>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8" name="Google Shape;368;p19"/>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69" name="Google Shape;369;p19"/>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0" name="Google Shape;370;p19"/>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1" name="Google Shape;371;p19"/>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2" name="Google Shape;372;p19"/>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3" name="Google Shape;373;p19"/>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4" name="Google Shape;374;p19"/>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5" name="Google Shape;375;p19"/>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6" name="Google Shape;376;p19"/>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7" name="Google Shape;377;p19"/>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8" name="Google Shape;378;p19"/>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79" name="Google Shape;379;p19"/>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0" name="Google Shape;380;p19"/>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1" name="Google Shape;381;p19"/>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2" name="Google Shape;382;p19"/>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3" name="Google Shape;383;p19"/>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4" name="Google Shape;384;p19"/>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5" name="Google Shape;385;p19"/>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6" name="Google Shape;386;p19"/>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7" name="Google Shape;387;p19"/>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388" name="Google Shape;388;p19"/>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389" name="Google Shape;389;p19"/>
          <p:cNvSpPr txBox="1"/>
          <p:nvPr>
            <p:ph idx="4294967295" type="ctrTitle"/>
          </p:nvPr>
        </p:nvSpPr>
        <p:spPr>
          <a:xfrm>
            <a:off x="430100" y="171717"/>
            <a:ext cx="5879211" cy="141759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Public Cloud?</a:t>
            </a:r>
            <a:endParaRPr/>
          </a:p>
        </p:txBody>
      </p:sp>
      <p:sp>
        <p:nvSpPr>
          <p:cNvPr id="390" name="Google Shape;390;p19"/>
          <p:cNvSpPr txBox="1"/>
          <p:nvPr>
            <p:ph idx="1" type="body"/>
          </p:nvPr>
        </p:nvSpPr>
        <p:spPr>
          <a:xfrm>
            <a:off x="468085" y="1567544"/>
            <a:ext cx="5727285" cy="5118740"/>
          </a:xfrm>
          <a:prstGeom prst="rect">
            <a:avLst/>
          </a:prstGeom>
          <a:noFill/>
          <a:ln>
            <a:noFill/>
          </a:ln>
        </p:spPr>
        <p:txBody>
          <a:bodyPr anchorCtr="0" anchor="t" bIns="45700" lIns="91425" spcFirstLastPara="1" rIns="91425" wrap="square" tIns="45700">
            <a:normAutofit/>
          </a:bodyPr>
          <a:lstStyle/>
          <a:p>
            <a:pPr indent="-311150" lvl="0" marL="228600" rtl="0" algn="l">
              <a:lnSpc>
                <a:spcPct val="100000"/>
              </a:lnSpc>
              <a:spcBef>
                <a:spcPts val="0"/>
              </a:spcBef>
              <a:spcAft>
                <a:spcPts val="0"/>
              </a:spcAft>
              <a:buSzPts val="2500"/>
              <a:buChar char="•"/>
            </a:pPr>
            <a:r>
              <a:rPr b="1" lang="en-US" sz="2900">
                <a:solidFill>
                  <a:schemeClr val="dk2"/>
                </a:solidFill>
              </a:rPr>
              <a:t>Strong cyber security </a:t>
            </a:r>
            <a:r>
              <a:rPr lang="en-US" sz="2900">
                <a:solidFill>
                  <a:schemeClr val="dk2"/>
                </a:solidFill>
              </a:rPr>
              <a:t>— Attracting the most talented engineers in the world takes money</a:t>
            </a:r>
            <a:endParaRPr sz="4100"/>
          </a:p>
          <a:p>
            <a:pPr indent="-311150" lvl="0" marL="228600" rtl="0" algn="l">
              <a:lnSpc>
                <a:spcPct val="100000"/>
              </a:lnSpc>
              <a:spcBef>
                <a:spcPts val="1000"/>
              </a:spcBef>
              <a:spcAft>
                <a:spcPts val="0"/>
              </a:spcAft>
              <a:buSzPts val="2500"/>
              <a:buChar char="•"/>
            </a:pPr>
            <a:r>
              <a:rPr b="1" lang="en-US" sz="2900">
                <a:solidFill>
                  <a:schemeClr val="dk2"/>
                </a:solidFill>
              </a:rPr>
              <a:t>Advanced technology creates more security innovations</a:t>
            </a:r>
            <a:r>
              <a:rPr lang="en-US" sz="2900">
                <a:solidFill>
                  <a:schemeClr val="dk2"/>
                </a:solidFill>
              </a:rPr>
              <a:t> — More modern technology has led to advanced security services</a:t>
            </a:r>
            <a:endParaRPr sz="4100"/>
          </a:p>
          <a:p>
            <a:pPr indent="-311150" lvl="0" marL="228600" rtl="0" algn="l">
              <a:lnSpc>
                <a:spcPct val="100000"/>
              </a:lnSpc>
              <a:spcBef>
                <a:spcPts val="1000"/>
              </a:spcBef>
              <a:spcAft>
                <a:spcPts val="0"/>
              </a:spcAft>
              <a:buSzPts val="2500"/>
              <a:buChar char="•"/>
            </a:pPr>
            <a:r>
              <a:t/>
            </a:r>
            <a:endParaRPr sz="4100"/>
          </a:p>
        </p:txBody>
      </p:sp>
      <p:pic>
        <p:nvPicPr>
          <p:cNvPr descr="Graph on document with pen" id="391" name="Google Shape;391;p19"/>
          <p:cNvPicPr preferRelativeResize="0"/>
          <p:nvPr/>
        </p:nvPicPr>
        <p:blipFill rotWithShape="1">
          <a:blip r:embed="rId3">
            <a:alphaModFix/>
          </a:blip>
          <a:srcRect b="-4" l="28376" r="14322"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5" name="Shape 395"/>
        <p:cNvGrpSpPr/>
        <p:nvPr/>
      </p:nvGrpSpPr>
      <p:grpSpPr>
        <a:xfrm>
          <a:off x="0" y="0"/>
          <a:ext cx="0" cy="0"/>
          <a:chOff x="0" y="0"/>
          <a:chExt cx="0" cy="0"/>
        </a:xfrm>
      </p:grpSpPr>
      <p:sp>
        <p:nvSpPr>
          <p:cNvPr id="396" name="Google Shape;396;p2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97" name="Google Shape;397;p20"/>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398" name="Google Shape;398;p20"/>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399" name="Google Shape;399;p20"/>
          <p:cNvGrpSpPr/>
          <p:nvPr/>
        </p:nvGrpSpPr>
        <p:grpSpPr>
          <a:xfrm>
            <a:off x="0" y="0"/>
            <a:ext cx="12214827" cy="6858000"/>
            <a:chOff x="-6214" y="-1"/>
            <a:chExt cx="12214827" cy="6858000"/>
          </a:xfrm>
        </p:grpSpPr>
        <p:cxnSp>
          <p:nvCxnSpPr>
            <p:cNvPr id="400" name="Google Shape;400;p20"/>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1" name="Google Shape;401;p20"/>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2" name="Google Shape;402;p20"/>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3" name="Google Shape;403;p20"/>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4" name="Google Shape;404;p20"/>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5" name="Google Shape;405;p20"/>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6" name="Google Shape;406;p20"/>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7" name="Google Shape;407;p20"/>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8" name="Google Shape;408;p20"/>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09" name="Google Shape;409;p20"/>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0" name="Google Shape;410;p20"/>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1" name="Google Shape;411;p20"/>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2" name="Google Shape;412;p20"/>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3" name="Google Shape;413;p20"/>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4" name="Google Shape;414;p20"/>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5" name="Google Shape;415;p20"/>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6" name="Google Shape;416;p20"/>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7" name="Google Shape;417;p20"/>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8" name="Google Shape;418;p20"/>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19" name="Google Shape;419;p20"/>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0" name="Google Shape;420;p20"/>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1" name="Google Shape;421;p20"/>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2" name="Google Shape;422;p20"/>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3" name="Google Shape;423;p20"/>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4" name="Google Shape;424;p20"/>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5" name="Google Shape;425;p20"/>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6" name="Google Shape;426;p20"/>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7" name="Google Shape;427;p20"/>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28" name="Google Shape;428;p20"/>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429" name="Google Shape;429;p20"/>
          <p:cNvSpPr txBox="1"/>
          <p:nvPr>
            <p:ph idx="4294967295" type="ctrTitle"/>
          </p:nvPr>
        </p:nvSpPr>
        <p:spPr>
          <a:xfrm>
            <a:off x="430100" y="171717"/>
            <a:ext cx="5879100" cy="1417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Public Cloud?</a:t>
            </a:r>
            <a:endParaRPr/>
          </a:p>
        </p:txBody>
      </p:sp>
      <p:sp>
        <p:nvSpPr>
          <p:cNvPr id="430" name="Google Shape;430;p20"/>
          <p:cNvSpPr txBox="1"/>
          <p:nvPr>
            <p:ph idx="1" type="body"/>
          </p:nvPr>
        </p:nvSpPr>
        <p:spPr>
          <a:xfrm>
            <a:off x="468085" y="1567544"/>
            <a:ext cx="5727300" cy="5118600"/>
          </a:xfrm>
          <a:prstGeom prst="rect">
            <a:avLst/>
          </a:prstGeom>
          <a:noFill/>
          <a:ln>
            <a:noFill/>
          </a:ln>
        </p:spPr>
        <p:txBody>
          <a:bodyPr anchorCtr="0" anchor="t" bIns="45700" lIns="91425" spcFirstLastPara="1" rIns="91425" wrap="square" tIns="45700">
            <a:noAutofit/>
          </a:bodyPr>
          <a:lstStyle/>
          <a:p>
            <a:pPr indent="-336550" lvl="0" marL="228600" rtl="0" algn="l">
              <a:lnSpc>
                <a:spcPct val="100000"/>
              </a:lnSpc>
              <a:spcBef>
                <a:spcPts val="1000"/>
              </a:spcBef>
              <a:spcAft>
                <a:spcPts val="0"/>
              </a:spcAft>
              <a:buSzPts val="2900"/>
              <a:buChar char="•"/>
            </a:pPr>
            <a:r>
              <a:rPr b="1" lang="en-US" sz="2900">
                <a:solidFill>
                  <a:schemeClr val="dk2"/>
                </a:solidFill>
              </a:rPr>
              <a:t>Stringent penetration testing </a:t>
            </a:r>
            <a:r>
              <a:rPr lang="en-US" sz="2900">
                <a:solidFill>
                  <a:schemeClr val="dk2"/>
                </a:solidFill>
              </a:rPr>
              <a:t>— Public clouds are put through stringent penetration tests and are held to stiffer standards than any on-premise solutions or private cloud options</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a:p>
            <a:pPr indent="-336550" lvl="0" marL="228600" rtl="0" algn="l">
              <a:lnSpc>
                <a:spcPct val="100000"/>
              </a:lnSpc>
              <a:spcBef>
                <a:spcPts val="1000"/>
              </a:spcBef>
              <a:spcAft>
                <a:spcPts val="0"/>
              </a:spcAft>
              <a:buSzPts val="2900"/>
              <a:buChar char="•"/>
            </a:pPr>
            <a:r>
              <a:rPr b="1" lang="en-US" sz="2900">
                <a:solidFill>
                  <a:schemeClr val="dk2"/>
                </a:solidFill>
              </a:rPr>
              <a:t>Controlled access </a:t>
            </a:r>
            <a:r>
              <a:rPr lang="en-US" sz="2900">
                <a:solidFill>
                  <a:schemeClr val="dk2"/>
                </a:solidFill>
              </a:rPr>
              <a:t>— The majority of data breaches result from human error</a:t>
            </a:r>
            <a:endParaRPr sz="2900"/>
          </a:p>
        </p:txBody>
      </p:sp>
      <p:pic>
        <p:nvPicPr>
          <p:cNvPr descr="Graph on document with pen" id="431" name="Google Shape;431;p20"/>
          <p:cNvPicPr preferRelativeResize="0"/>
          <p:nvPr/>
        </p:nvPicPr>
        <p:blipFill rotWithShape="1">
          <a:blip r:embed="rId3">
            <a:alphaModFix/>
          </a:blip>
          <a:srcRect b="0" l="28374" r="14325"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5" name="Shape 435"/>
        <p:cNvGrpSpPr/>
        <p:nvPr/>
      </p:nvGrpSpPr>
      <p:grpSpPr>
        <a:xfrm>
          <a:off x="0" y="0"/>
          <a:ext cx="0" cy="0"/>
          <a:chOff x="0" y="0"/>
          <a:chExt cx="0" cy="0"/>
        </a:xfrm>
      </p:grpSpPr>
      <p:sp>
        <p:nvSpPr>
          <p:cNvPr id="436" name="Google Shape;436;p2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37" name="Google Shape;437;p21"/>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38" name="Google Shape;438;p21"/>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439" name="Google Shape;439;p21"/>
          <p:cNvGrpSpPr/>
          <p:nvPr/>
        </p:nvGrpSpPr>
        <p:grpSpPr>
          <a:xfrm>
            <a:off x="0" y="0"/>
            <a:ext cx="12214827" cy="6858000"/>
            <a:chOff x="-6214" y="-1"/>
            <a:chExt cx="12214827" cy="6858000"/>
          </a:xfrm>
        </p:grpSpPr>
        <p:cxnSp>
          <p:nvCxnSpPr>
            <p:cNvPr id="440" name="Google Shape;440;p21"/>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1" name="Google Shape;441;p21"/>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2" name="Google Shape;442;p21"/>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3" name="Google Shape;443;p21"/>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4" name="Google Shape;444;p21"/>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5" name="Google Shape;445;p21"/>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6" name="Google Shape;446;p21"/>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7" name="Google Shape;447;p21"/>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8" name="Google Shape;448;p21"/>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49" name="Google Shape;449;p21"/>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0" name="Google Shape;450;p21"/>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1" name="Google Shape;451;p21"/>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2" name="Google Shape;452;p21"/>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3" name="Google Shape;453;p21"/>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4" name="Google Shape;454;p21"/>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5" name="Google Shape;455;p21"/>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6" name="Google Shape;456;p21"/>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7" name="Google Shape;457;p21"/>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8" name="Google Shape;458;p21"/>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59" name="Google Shape;459;p21"/>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0" name="Google Shape;460;p21"/>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1" name="Google Shape;461;p21"/>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2" name="Google Shape;462;p21"/>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3" name="Google Shape;463;p21"/>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4" name="Google Shape;464;p21"/>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5" name="Google Shape;465;p21"/>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6" name="Google Shape;466;p21"/>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7" name="Google Shape;467;p21"/>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468" name="Google Shape;468;p21"/>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469" name="Google Shape;469;p21"/>
          <p:cNvSpPr txBox="1"/>
          <p:nvPr>
            <p:ph idx="4294967295" type="ctrTitle"/>
          </p:nvPr>
        </p:nvSpPr>
        <p:spPr>
          <a:xfrm>
            <a:off x="430100" y="171717"/>
            <a:ext cx="5879100" cy="1417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Public Cloud?</a:t>
            </a:r>
            <a:endParaRPr/>
          </a:p>
        </p:txBody>
      </p:sp>
      <p:sp>
        <p:nvSpPr>
          <p:cNvPr id="470" name="Google Shape;470;p21"/>
          <p:cNvSpPr txBox="1"/>
          <p:nvPr>
            <p:ph idx="1" type="body"/>
          </p:nvPr>
        </p:nvSpPr>
        <p:spPr>
          <a:xfrm>
            <a:off x="468085" y="1567544"/>
            <a:ext cx="5727300" cy="5118600"/>
          </a:xfrm>
          <a:prstGeom prst="rect">
            <a:avLst/>
          </a:prstGeom>
          <a:noFill/>
          <a:ln>
            <a:noFill/>
          </a:ln>
        </p:spPr>
        <p:txBody>
          <a:bodyPr anchorCtr="0" anchor="t" bIns="45700" lIns="91425" spcFirstLastPara="1" rIns="91425" wrap="square" tIns="45700">
            <a:noAutofit/>
          </a:bodyPr>
          <a:lstStyle/>
          <a:p>
            <a:pPr indent="-279400" lvl="0" marL="228600" rtl="0" algn="l">
              <a:lnSpc>
                <a:spcPct val="100000"/>
              </a:lnSpc>
              <a:spcBef>
                <a:spcPts val="1000"/>
              </a:spcBef>
              <a:spcAft>
                <a:spcPts val="0"/>
              </a:spcAft>
              <a:buSzPts val="2900"/>
              <a:buChar char="•"/>
            </a:pPr>
            <a:r>
              <a:rPr b="1" lang="en-US" sz="2900">
                <a:solidFill>
                  <a:schemeClr val="dk2"/>
                </a:solidFill>
              </a:rPr>
              <a:t>Saves time </a:t>
            </a:r>
            <a:r>
              <a:rPr lang="en-US" sz="2900">
                <a:solidFill>
                  <a:schemeClr val="dk2"/>
                </a:solidFill>
              </a:rPr>
              <a:t>— When you use a public cloud, you don’t have to worry about managing hosting</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a:p>
            <a:pPr indent="-279400" lvl="0" marL="228600" rtl="0" algn="l">
              <a:lnSpc>
                <a:spcPct val="100000"/>
              </a:lnSpc>
              <a:spcBef>
                <a:spcPts val="1000"/>
              </a:spcBef>
              <a:spcAft>
                <a:spcPts val="0"/>
              </a:spcAft>
              <a:buSzPts val="2900"/>
              <a:buChar char="•"/>
            </a:pPr>
            <a:r>
              <a:rPr b="1" lang="en-US" sz="2900">
                <a:solidFill>
                  <a:schemeClr val="dk2"/>
                </a:solidFill>
              </a:rPr>
              <a:t>Saves you money </a:t>
            </a:r>
            <a:r>
              <a:rPr lang="en-US" sz="2900">
                <a:solidFill>
                  <a:schemeClr val="dk2"/>
                </a:solidFill>
              </a:rPr>
              <a:t>— The amount of money organizations can save with the public cloud depends on the size of the operation</a:t>
            </a:r>
            <a:endParaRPr sz="2900">
              <a:solidFill>
                <a:schemeClr val="lt1"/>
              </a:solidFill>
            </a:endParaRPr>
          </a:p>
          <a:p>
            <a:pPr indent="0" lvl="0" marL="228600" rtl="0" algn="l">
              <a:lnSpc>
                <a:spcPct val="100000"/>
              </a:lnSpc>
              <a:spcBef>
                <a:spcPts val="1000"/>
              </a:spcBef>
              <a:spcAft>
                <a:spcPts val="0"/>
              </a:spcAft>
              <a:buNone/>
            </a:pPr>
            <a:r>
              <a:t/>
            </a:r>
            <a:endParaRPr sz="2900"/>
          </a:p>
        </p:txBody>
      </p:sp>
      <p:pic>
        <p:nvPicPr>
          <p:cNvPr descr="Graph on document with pen" id="471" name="Google Shape;471;p21"/>
          <p:cNvPicPr preferRelativeResize="0"/>
          <p:nvPr/>
        </p:nvPicPr>
        <p:blipFill rotWithShape="1">
          <a:blip r:embed="rId3">
            <a:alphaModFix/>
          </a:blip>
          <a:srcRect b="0" l="28374" r="14325"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5" name="Shape 475"/>
        <p:cNvGrpSpPr/>
        <p:nvPr/>
      </p:nvGrpSpPr>
      <p:grpSpPr>
        <a:xfrm>
          <a:off x="0" y="0"/>
          <a:ext cx="0" cy="0"/>
          <a:chOff x="0" y="0"/>
          <a:chExt cx="0" cy="0"/>
        </a:xfrm>
      </p:grpSpPr>
      <p:sp>
        <p:nvSpPr>
          <p:cNvPr id="476" name="Google Shape;476;p22"/>
          <p:cNvSpPr/>
          <p:nvPr/>
        </p:nvSpPr>
        <p:spPr>
          <a:xfrm>
            <a:off x="0" y="0"/>
            <a:ext cx="122086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77" name="Google Shape;477;p22"/>
          <p:cNvSpPr/>
          <p:nvPr/>
        </p:nvSpPr>
        <p:spPr>
          <a:xfrm>
            <a:off x="0" y="0"/>
            <a:ext cx="12208613"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478" name="Google Shape;478;p22"/>
          <p:cNvSpPr/>
          <p:nvPr/>
        </p:nvSpPr>
        <p:spPr>
          <a:xfrm rot="-2700000">
            <a:off x="408102" y="-284146"/>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479" name="Google Shape;479;p22"/>
          <p:cNvGrpSpPr/>
          <p:nvPr/>
        </p:nvGrpSpPr>
        <p:grpSpPr>
          <a:xfrm>
            <a:off x="-6214" y="-1"/>
            <a:ext cx="12214827" cy="6858000"/>
            <a:chOff x="-6214" y="-1"/>
            <a:chExt cx="12214827" cy="6858000"/>
          </a:xfrm>
        </p:grpSpPr>
        <p:cxnSp>
          <p:nvCxnSpPr>
            <p:cNvPr id="480" name="Google Shape;480;p22"/>
            <p:cNvCxnSpPr/>
            <p:nvPr/>
          </p:nvCxnSpPr>
          <p:spPr>
            <a:xfrm>
              <a:off x="-6214" y="6686283"/>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1" name="Google Shape;481;p22"/>
            <p:cNvCxnSpPr/>
            <p:nvPr/>
          </p:nvCxnSpPr>
          <p:spPr>
            <a:xfrm>
              <a:off x="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2" name="Google Shape;482;p22"/>
            <p:cNvCxnSpPr/>
            <p:nvPr/>
          </p:nvCxnSpPr>
          <p:spPr>
            <a:xfrm>
              <a:off x="1199325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3" name="Google Shape;483;p22"/>
            <p:cNvCxnSpPr/>
            <p:nvPr/>
          </p:nvCxnSpPr>
          <p:spPr>
            <a:xfrm>
              <a:off x="19252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4" name="Google Shape;484;p22"/>
            <p:cNvCxnSpPr/>
            <p:nvPr/>
          </p:nvCxnSpPr>
          <p:spPr>
            <a:xfrm>
              <a:off x="119196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5" name="Google Shape;485;p22"/>
            <p:cNvCxnSpPr/>
            <p:nvPr/>
          </p:nvCxnSpPr>
          <p:spPr>
            <a:xfrm>
              <a:off x="219140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6" name="Google Shape;486;p22"/>
            <p:cNvCxnSpPr/>
            <p:nvPr/>
          </p:nvCxnSpPr>
          <p:spPr>
            <a:xfrm>
              <a:off x="319084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7" name="Google Shape;487;p22"/>
            <p:cNvCxnSpPr/>
            <p:nvPr/>
          </p:nvCxnSpPr>
          <p:spPr>
            <a:xfrm>
              <a:off x="419028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8" name="Google Shape;488;p22"/>
            <p:cNvCxnSpPr/>
            <p:nvPr/>
          </p:nvCxnSpPr>
          <p:spPr>
            <a:xfrm>
              <a:off x="518971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89" name="Google Shape;489;p22"/>
            <p:cNvCxnSpPr/>
            <p:nvPr/>
          </p:nvCxnSpPr>
          <p:spPr>
            <a:xfrm>
              <a:off x="618915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0" name="Google Shape;490;p22"/>
            <p:cNvCxnSpPr/>
            <p:nvPr/>
          </p:nvCxnSpPr>
          <p:spPr>
            <a:xfrm>
              <a:off x="718859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1" name="Google Shape;491;p22"/>
            <p:cNvCxnSpPr/>
            <p:nvPr/>
          </p:nvCxnSpPr>
          <p:spPr>
            <a:xfrm>
              <a:off x="818803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2" name="Google Shape;492;p22"/>
            <p:cNvCxnSpPr/>
            <p:nvPr/>
          </p:nvCxnSpPr>
          <p:spPr>
            <a:xfrm>
              <a:off x="918747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3" name="Google Shape;493;p22"/>
            <p:cNvCxnSpPr/>
            <p:nvPr/>
          </p:nvCxnSpPr>
          <p:spPr>
            <a:xfrm>
              <a:off x="1018690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4" name="Google Shape;494;p22"/>
            <p:cNvCxnSpPr/>
            <p:nvPr/>
          </p:nvCxnSpPr>
          <p:spPr>
            <a:xfrm>
              <a:off x="1118634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5" name="Google Shape;495;p22"/>
            <p:cNvCxnSpPr/>
            <p:nvPr/>
          </p:nvCxnSpPr>
          <p:spPr>
            <a:xfrm>
              <a:off x="1218578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6" name="Google Shape;496;p22"/>
            <p:cNvCxnSpPr/>
            <p:nvPr/>
          </p:nvCxnSpPr>
          <p:spPr>
            <a:xfrm>
              <a:off x="0" y="1717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7" name="Google Shape;497;p22"/>
            <p:cNvCxnSpPr/>
            <p:nvPr/>
          </p:nvCxnSpPr>
          <p:spPr>
            <a:xfrm>
              <a:off x="0" y="72890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8" name="Google Shape;498;p22"/>
            <p:cNvCxnSpPr/>
            <p:nvPr/>
          </p:nvCxnSpPr>
          <p:spPr>
            <a:xfrm>
              <a:off x="0" y="128609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499" name="Google Shape;499;p22"/>
            <p:cNvCxnSpPr/>
            <p:nvPr/>
          </p:nvCxnSpPr>
          <p:spPr>
            <a:xfrm>
              <a:off x="0" y="184328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0" name="Google Shape;500;p22"/>
            <p:cNvCxnSpPr/>
            <p:nvPr/>
          </p:nvCxnSpPr>
          <p:spPr>
            <a:xfrm>
              <a:off x="0" y="240047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1" name="Google Shape;501;p22"/>
            <p:cNvCxnSpPr/>
            <p:nvPr/>
          </p:nvCxnSpPr>
          <p:spPr>
            <a:xfrm>
              <a:off x="0" y="295766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2" name="Google Shape;502;p22"/>
            <p:cNvCxnSpPr/>
            <p:nvPr/>
          </p:nvCxnSpPr>
          <p:spPr>
            <a:xfrm>
              <a:off x="0" y="351485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3" name="Google Shape;503;p22"/>
            <p:cNvCxnSpPr/>
            <p:nvPr/>
          </p:nvCxnSpPr>
          <p:spPr>
            <a:xfrm>
              <a:off x="0" y="407204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4" name="Google Shape;504;p22"/>
            <p:cNvCxnSpPr/>
            <p:nvPr/>
          </p:nvCxnSpPr>
          <p:spPr>
            <a:xfrm>
              <a:off x="0" y="462923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5" name="Google Shape;505;p22"/>
            <p:cNvCxnSpPr/>
            <p:nvPr/>
          </p:nvCxnSpPr>
          <p:spPr>
            <a:xfrm>
              <a:off x="0" y="518642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6" name="Google Shape;506;p22"/>
            <p:cNvCxnSpPr/>
            <p:nvPr/>
          </p:nvCxnSpPr>
          <p:spPr>
            <a:xfrm>
              <a:off x="0" y="57436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7" name="Google Shape;507;p22"/>
            <p:cNvCxnSpPr/>
            <p:nvPr/>
          </p:nvCxnSpPr>
          <p:spPr>
            <a:xfrm>
              <a:off x="0" y="6857999"/>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08" name="Google Shape;508;p22"/>
            <p:cNvCxnSpPr/>
            <p:nvPr/>
          </p:nvCxnSpPr>
          <p:spPr>
            <a:xfrm>
              <a:off x="16613" y="6248400"/>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grpSp>
      <p:sp>
        <p:nvSpPr>
          <p:cNvPr id="509" name="Google Shape;509;p22"/>
          <p:cNvSpPr txBox="1"/>
          <p:nvPr>
            <p:ph idx="4294967295" type="ctrTitle"/>
          </p:nvPr>
        </p:nvSpPr>
        <p:spPr>
          <a:xfrm>
            <a:off x="457200" y="720775"/>
            <a:ext cx="2286000" cy="5531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B</a:t>
            </a:r>
            <a:r>
              <a:rPr b="0" i="0" lang="en-US" sz="4400" u="none" cap="none" strike="noStrike">
                <a:solidFill>
                  <a:schemeClr val="dk1"/>
                </a:solidFill>
                <a:latin typeface="Arial"/>
                <a:ea typeface="Arial"/>
                <a:cs typeface="Arial"/>
                <a:sym typeface="Arial"/>
              </a:rPr>
              <a:t>enefits of a Public Cloud?</a:t>
            </a:r>
            <a:endParaRPr/>
          </a:p>
        </p:txBody>
      </p:sp>
      <p:sp>
        <p:nvSpPr>
          <p:cNvPr id="510" name="Google Shape;510;p22"/>
          <p:cNvSpPr/>
          <p:nvPr/>
        </p:nvSpPr>
        <p:spPr>
          <a:xfrm>
            <a:off x="4206893" y="191033"/>
            <a:ext cx="7763540" cy="606558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511" name="Google Shape;511;p22"/>
          <p:cNvGrpSpPr/>
          <p:nvPr/>
        </p:nvGrpSpPr>
        <p:grpSpPr>
          <a:xfrm>
            <a:off x="2743200" y="157225"/>
            <a:ext cx="9465700" cy="6700861"/>
            <a:chOff x="0" y="4815"/>
            <a:chExt cx="7812562" cy="6154354"/>
          </a:xfrm>
        </p:grpSpPr>
        <p:sp>
          <p:nvSpPr>
            <p:cNvPr id="512" name="Google Shape;512;p22"/>
            <p:cNvSpPr/>
            <p:nvPr/>
          </p:nvSpPr>
          <p:spPr>
            <a:xfrm>
              <a:off x="0" y="4815"/>
              <a:ext cx="7812562" cy="1025725"/>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3" name="Google Shape;513;p22"/>
            <p:cNvSpPr/>
            <p:nvPr/>
          </p:nvSpPr>
          <p:spPr>
            <a:xfrm>
              <a:off x="310282" y="235603"/>
              <a:ext cx="564149" cy="56414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4" name="Google Shape;514;p22"/>
            <p:cNvSpPr/>
            <p:nvPr/>
          </p:nvSpPr>
          <p:spPr>
            <a:xfrm>
              <a:off x="1184713" y="4815"/>
              <a:ext cx="6627848" cy="10257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5" name="Google Shape;515;p22"/>
            <p:cNvSpPr txBox="1"/>
            <p:nvPr/>
          </p:nvSpPr>
          <p:spPr>
            <a:xfrm>
              <a:off x="1184713" y="4815"/>
              <a:ext cx="6627848" cy="1025725"/>
            </a:xfrm>
            <a:prstGeom prst="rect">
              <a:avLst/>
            </a:prstGeom>
            <a:noFill/>
            <a:ln>
              <a:noFill/>
            </a:ln>
          </p:spPr>
          <p:txBody>
            <a:bodyPr anchorCtr="0" anchor="ctr" bIns="108550" lIns="108550" spcFirstLastPara="1" rIns="108550" wrap="square" tIns="108550">
              <a:noAutofit/>
            </a:bodyPr>
            <a:lstStyle/>
            <a:p>
              <a:pPr indent="0" lvl="0" marL="0" marR="0" rtl="0" algn="l">
                <a:lnSpc>
                  <a:spcPct val="90000"/>
                </a:lnSpc>
                <a:spcBef>
                  <a:spcPts val="0"/>
                </a:spcBef>
                <a:spcAft>
                  <a:spcPts val="0"/>
                </a:spcAft>
                <a:buNone/>
              </a:pPr>
              <a:r>
                <a:rPr b="0" i="0" lang="en-US" sz="2300" u="none" cap="none" strike="noStrike">
                  <a:solidFill>
                    <a:schemeClr val="dk1"/>
                  </a:solidFill>
                  <a:latin typeface="Avenir"/>
                  <a:ea typeface="Avenir"/>
                  <a:cs typeface="Avenir"/>
                  <a:sym typeface="Avenir"/>
                </a:rPr>
                <a:t>There are no capital investments — You don't need to buy expensive equipment or extra space</a:t>
              </a:r>
              <a:endParaRPr sz="1900"/>
            </a:p>
          </p:txBody>
        </p:sp>
        <p:sp>
          <p:nvSpPr>
            <p:cNvPr id="516" name="Google Shape;516;p22"/>
            <p:cNvSpPr/>
            <p:nvPr/>
          </p:nvSpPr>
          <p:spPr>
            <a:xfrm>
              <a:off x="0" y="1286972"/>
              <a:ext cx="7812562" cy="1025725"/>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7" name="Google Shape;517;p22"/>
            <p:cNvSpPr/>
            <p:nvPr/>
          </p:nvSpPr>
          <p:spPr>
            <a:xfrm>
              <a:off x="310282" y="1517761"/>
              <a:ext cx="564149" cy="56414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8" name="Google Shape;518;p22"/>
            <p:cNvSpPr/>
            <p:nvPr/>
          </p:nvSpPr>
          <p:spPr>
            <a:xfrm>
              <a:off x="1184713" y="1286972"/>
              <a:ext cx="6627848" cy="10257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9" name="Google Shape;519;p22"/>
            <p:cNvSpPr txBox="1"/>
            <p:nvPr/>
          </p:nvSpPr>
          <p:spPr>
            <a:xfrm>
              <a:off x="1184713" y="1286972"/>
              <a:ext cx="6627848" cy="1025725"/>
            </a:xfrm>
            <a:prstGeom prst="rect">
              <a:avLst/>
            </a:prstGeom>
            <a:noFill/>
            <a:ln>
              <a:noFill/>
            </a:ln>
          </p:spPr>
          <p:txBody>
            <a:bodyPr anchorCtr="0" anchor="ctr" bIns="108550" lIns="108550" spcFirstLastPara="1" rIns="108550" wrap="square" tIns="108550">
              <a:noAutofit/>
            </a:bodyPr>
            <a:lstStyle/>
            <a:p>
              <a:pPr indent="0" lvl="0" marL="0" marR="0" rtl="0" algn="l">
                <a:lnSpc>
                  <a:spcPct val="90000"/>
                </a:lnSpc>
                <a:spcBef>
                  <a:spcPts val="0"/>
                </a:spcBef>
                <a:spcAft>
                  <a:spcPts val="0"/>
                </a:spcAft>
                <a:buNone/>
              </a:pPr>
              <a:r>
                <a:rPr b="0" i="0" lang="en-US" sz="2300" u="none" cap="none" strike="noStrike">
                  <a:solidFill>
                    <a:schemeClr val="dk1"/>
                  </a:solidFill>
                  <a:latin typeface="Avenir"/>
                  <a:ea typeface="Avenir"/>
                  <a:cs typeface="Avenir"/>
                  <a:sym typeface="Avenir"/>
                </a:rPr>
                <a:t>Public clouds are maintained and updated by the host — You are not responsible for any additional costs</a:t>
              </a:r>
              <a:endParaRPr sz="1900"/>
            </a:p>
          </p:txBody>
        </p:sp>
        <p:sp>
          <p:nvSpPr>
            <p:cNvPr id="520" name="Google Shape;520;p22"/>
            <p:cNvSpPr/>
            <p:nvPr/>
          </p:nvSpPr>
          <p:spPr>
            <a:xfrm>
              <a:off x="0" y="2569130"/>
              <a:ext cx="7812562" cy="1025725"/>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1" name="Google Shape;521;p22"/>
            <p:cNvSpPr/>
            <p:nvPr/>
          </p:nvSpPr>
          <p:spPr>
            <a:xfrm>
              <a:off x="310282" y="2799918"/>
              <a:ext cx="564149" cy="564149"/>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2" name="Google Shape;522;p22"/>
            <p:cNvSpPr/>
            <p:nvPr/>
          </p:nvSpPr>
          <p:spPr>
            <a:xfrm>
              <a:off x="1184713" y="2569130"/>
              <a:ext cx="6627848" cy="10257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3" name="Google Shape;523;p22"/>
            <p:cNvSpPr txBox="1"/>
            <p:nvPr/>
          </p:nvSpPr>
          <p:spPr>
            <a:xfrm>
              <a:off x="1184713" y="2569130"/>
              <a:ext cx="6627848" cy="1025725"/>
            </a:xfrm>
            <a:prstGeom prst="rect">
              <a:avLst/>
            </a:prstGeom>
            <a:noFill/>
            <a:ln>
              <a:noFill/>
            </a:ln>
          </p:spPr>
          <p:txBody>
            <a:bodyPr anchorCtr="0" anchor="ctr" bIns="108550" lIns="108550" spcFirstLastPara="1" rIns="108550" wrap="square" tIns="108550">
              <a:noAutofit/>
            </a:bodyPr>
            <a:lstStyle/>
            <a:p>
              <a:pPr indent="0" lvl="0" marL="0" marR="0" rtl="0" algn="l">
                <a:lnSpc>
                  <a:spcPct val="90000"/>
                </a:lnSpc>
                <a:spcBef>
                  <a:spcPts val="0"/>
                </a:spcBef>
                <a:spcAft>
                  <a:spcPts val="0"/>
                </a:spcAft>
                <a:buNone/>
              </a:pPr>
              <a:r>
                <a:rPr b="0" i="0" lang="en-US" sz="2300" u="none" cap="none" strike="noStrike">
                  <a:solidFill>
                    <a:schemeClr val="dk1"/>
                  </a:solidFill>
                  <a:latin typeface="Avenir"/>
                  <a:ea typeface="Avenir"/>
                  <a:cs typeface="Avenir"/>
                  <a:sym typeface="Avenir"/>
                </a:rPr>
                <a:t>Pay only for what you use — This eliminates paying for unused resources and you always have the flexibility to scale up or down, giving just the computing capacity you need</a:t>
              </a:r>
              <a:endParaRPr sz="1900"/>
            </a:p>
          </p:txBody>
        </p:sp>
        <p:sp>
          <p:nvSpPr>
            <p:cNvPr id="524" name="Google Shape;524;p22"/>
            <p:cNvSpPr/>
            <p:nvPr/>
          </p:nvSpPr>
          <p:spPr>
            <a:xfrm>
              <a:off x="0" y="3851287"/>
              <a:ext cx="7812562" cy="1025725"/>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5" name="Google Shape;525;p22"/>
            <p:cNvSpPr/>
            <p:nvPr/>
          </p:nvSpPr>
          <p:spPr>
            <a:xfrm>
              <a:off x="310282" y="4082075"/>
              <a:ext cx="564149" cy="564149"/>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6" name="Google Shape;526;p22"/>
            <p:cNvSpPr/>
            <p:nvPr/>
          </p:nvSpPr>
          <p:spPr>
            <a:xfrm>
              <a:off x="1184713" y="3851287"/>
              <a:ext cx="6627848" cy="10257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7" name="Google Shape;527;p22"/>
            <p:cNvSpPr txBox="1"/>
            <p:nvPr/>
          </p:nvSpPr>
          <p:spPr>
            <a:xfrm>
              <a:off x="1184713" y="3851287"/>
              <a:ext cx="6627848" cy="1025725"/>
            </a:xfrm>
            <a:prstGeom prst="rect">
              <a:avLst/>
            </a:prstGeom>
            <a:noFill/>
            <a:ln>
              <a:noFill/>
            </a:ln>
          </p:spPr>
          <p:txBody>
            <a:bodyPr anchorCtr="0" anchor="ctr" bIns="108550" lIns="108550" spcFirstLastPara="1" rIns="108550" wrap="square" tIns="108550">
              <a:noAutofit/>
            </a:bodyPr>
            <a:lstStyle/>
            <a:p>
              <a:pPr indent="0" lvl="0" marL="0" marR="0" rtl="0" algn="l">
                <a:lnSpc>
                  <a:spcPct val="90000"/>
                </a:lnSpc>
                <a:spcBef>
                  <a:spcPts val="0"/>
                </a:spcBef>
                <a:spcAft>
                  <a:spcPts val="0"/>
                </a:spcAft>
                <a:buNone/>
              </a:pPr>
              <a:r>
                <a:rPr b="0" i="0" lang="en-US" sz="2300" u="none" cap="none" strike="noStrike">
                  <a:solidFill>
                    <a:schemeClr val="dk1"/>
                  </a:solidFill>
                  <a:latin typeface="Avenir"/>
                  <a:ea typeface="Avenir"/>
                  <a:cs typeface="Avenir"/>
                  <a:sym typeface="Avenir"/>
                </a:rPr>
                <a:t>Lower energy costs — Without powering internal servers, you save money on energy costs</a:t>
              </a:r>
              <a:endParaRPr sz="1900"/>
            </a:p>
          </p:txBody>
        </p:sp>
        <p:sp>
          <p:nvSpPr>
            <p:cNvPr id="528" name="Google Shape;528;p22"/>
            <p:cNvSpPr/>
            <p:nvPr/>
          </p:nvSpPr>
          <p:spPr>
            <a:xfrm>
              <a:off x="0" y="5133444"/>
              <a:ext cx="7812562" cy="1025725"/>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9" name="Google Shape;529;p22"/>
            <p:cNvSpPr/>
            <p:nvPr/>
          </p:nvSpPr>
          <p:spPr>
            <a:xfrm>
              <a:off x="310282" y="5364232"/>
              <a:ext cx="564149" cy="564149"/>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30" name="Google Shape;530;p22"/>
            <p:cNvSpPr/>
            <p:nvPr/>
          </p:nvSpPr>
          <p:spPr>
            <a:xfrm>
              <a:off x="1184713" y="5133444"/>
              <a:ext cx="6627848" cy="102572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31" name="Google Shape;531;p22"/>
            <p:cNvSpPr txBox="1"/>
            <p:nvPr/>
          </p:nvSpPr>
          <p:spPr>
            <a:xfrm>
              <a:off x="1184713" y="5133444"/>
              <a:ext cx="6627848" cy="1025725"/>
            </a:xfrm>
            <a:prstGeom prst="rect">
              <a:avLst/>
            </a:prstGeom>
            <a:noFill/>
            <a:ln>
              <a:noFill/>
            </a:ln>
          </p:spPr>
          <p:txBody>
            <a:bodyPr anchorCtr="0" anchor="ctr" bIns="108550" lIns="108550" spcFirstLastPara="1" rIns="108550" wrap="square" tIns="108550">
              <a:noAutofit/>
            </a:bodyPr>
            <a:lstStyle/>
            <a:p>
              <a:pPr indent="0" lvl="0" marL="0" marR="0" rtl="0" algn="l">
                <a:lnSpc>
                  <a:spcPct val="90000"/>
                </a:lnSpc>
                <a:spcBef>
                  <a:spcPts val="0"/>
                </a:spcBef>
                <a:spcAft>
                  <a:spcPts val="0"/>
                </a:spcAft>
                <a:buNone/>
              </a:pPr>
              <a:r>
                <a:rPr b="0" i="0" lang="en-US" sz="2300" u="none" cap="none" strike="noStrike">
                  <a:solidFill>
                    <a:schemeClr val="dk1"/>
                  </a:solidFill>
                  <a:latin typeface="Avenir"/>
                  <a:ea typeface="Avenir"/>
                  <a:cs typeface="Avenir"/>
                  <a:sym typeface="Avenir"/>
                </a:rPr>
                <a:t>Free up IT time — IT talent can concentrate on more revenue-generating activities, instead of spending all of their time managing a data center</a:t>
              </a:r>
              <a:endParaRPr sz="1900"/>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5" name="Shape 535"/>
        <p:cNvGrpSpPr/>
        <p:nvPr/>
      </p:nvGrpSpPr>
      <p:grpSpPr>
        <a:xfrm>
          <a:off x="0" y="0"/>
          <a:ext cx="0" cy="0"/>
          <a:chOff x="0" y="0"/>
          <a:chExt cx="0" cy="0"/>
        </a:xfrm>
      </p:grpSpPr>
      <p:sp>
        <p:nvSpPr>
          <p:cNvPr id="536" name="Google Shape;536;p23"/>
          <p:cNvSpPr/>
          <p:nvPr/>
        </p:nvSpPr>
        <p:spPr>
          <a:xfrm>
            <a:off x="0" y="0"/>
            <a:ext cx="122086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37" name="Google Shape;537;p23"/>
          <p:cNvSpPr/>
          <p:nvPr/>
        </p:nvSpPr>
        <p:spPr>
          <a:xfrm>
            <a:off x="0" y="0"/>
            <a:ext cx="12208613"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38" name="Google Shape;538;p23"/>
          <p:cNvSpPr/>
          <p:nvPr/>
        </p:nvSpPr>
        <p:spPr>
          <a:xfrm rot="-2700000">
            <a:off x="408102" y="-284146"/>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539" name="Google Shape;539;p23"/>
          <p:cNvGrpSpPr/>
          <p:nvPr/>
        </p:nvGrpSpPr>
        <p:grpSpPr>
          <a:xfrm>
            <a:off x="-6214" y="-1"/>
            <a:ext cx="12214827" cy="6858000"/>
            <a:chOff x="-6214" y="-1"/>
            <a:chExt cx="12214827" cy="6858000"/>
          </a:xfrm>
        </p:grpSpPr>
        <p:cxnSp>
          <p:nvCxnSpPr>
            <p:cNvPr id="540" name="Google Shape;540;p23"/>
            <p:cNvCxnSpPr/>
            <p:nvPr/>
          </p:nvCxnSpPr>
          <p:spPr>
            <a:xfrm>
              <a:off x="-6214" y="6686283"/>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1" name="Google Shape;541;p23"/>
            <p:cNvCxnSpPr/>
            <p:nvPr/>
          </p:nvCxnSpPr>
          <p:spPr>
            <a:xfrm>
              <a:off x="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2" name="Google Shape;542;p23"/>
            <p:cNvCxnSpPr/>
            <p:nvPr/>
          </p:nvCxnSpPr>
          <p:spPr>
            <a:xfrm>
              <a:off x="1199325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3" name="Google Shape;543;p23"/>
            <p:cNvCxnSpPr/>
            <p:nvPr/>
          </p:nvCxnSpPr>
          <p:spPr>
            <a:xfrm>
              <a:off x="19252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4" name="Google Shape;544;p23"/>
            <p:cNvCxnSpPr/>
            <p:nvPr/>
          </p:nvCxnSpPr>
          <p:spPr>
            <a:xfrm>
              <a:off x="119196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5" name="Google Shape;545;p23"/>
            <p:cNvCxnSpPr/>
            <p:nvPr/>
          </p:nvCxnSpPr>
          <p:spPr>
            <a:xfrm>
              <a:off x="219140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6" name="Google Shape;546;p23"/>
            <p:cNvCxnSpPr/>
            <p:nvPr/>
          </p:nvCxnSpPr>
          <p:spPr>
            <a:xfrm>
              <a:off x="319084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7" name="Google Shape;547;p23"/>
            <p:cNvCxnSpPr/>
            <p:nvPr/>
          </p:nvCxnSpPr>
          <p:spPr>
            <a:xfrm>
              <a:off x="419028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8" name="Google Shape;548;p23"/>
            <p:cNvCxnSpPr/>
            <p:nvPr/>
          </p:nvCxnSpPr>
          <p:spPr>
            <a:xfrm>
              <a:off x="518971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49" name="Google Shape;549;p23"/>
            <p:cNvCxnSpPr/>
            <p:nvPr/>
          </p:nvCxnSpPr>
          <p:spPr>
            <a:xfrm>
              <a:off x="618915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0" name="Google Shape;550;p23"/>
            <p:cNvCxnSpPr/>
            <p:nvPr/>
          </p:nvCxnSpPr>
          <p:spPr>
            <a:xfrm>
              <a:off x="718859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1" name="Google Shape;551;p23"/>
            <p:cNvCxnSpPr/>
            <p:nvPr/>
          </p:nvCxnSpPr>
          <p:spPr>
            <a:xfrm>
              <a:off x="818803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2" name="Google Shape;552;p23"/>
            <p:cNvCxnSpPr/>
            <p:nvPr/>
          </p:nvCxnSpPr>
          <p:spPr>
            <a:xfrm>
              <a:off x="918747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3" name="Google Shape;553;p23"/>
            <p:cNvCxnSpPr/>
            <p:nvPr/>
          </p:nvCxnSpPr>
          <p:spPr>
            <a:xfrm>
              <a:off x="1018690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4" name="Google Shape;554;p23"/>
            <p:cNvCxnSpPr/>
            <p:nvPr/>
          </p:nvCxnSpPr>
          <p:spPr>
            <a:xfrm>
              <a:off x="1118634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5" name="Google Shape;555;p23"/>
            <p:cNvCxnSpPr/>
            <p:nvPr/>
          </p:nvCxnSpPr>
          <p:spPr>
            <a:xfrm>
              <a:off x="1218578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6" name="Google Shape;556;p23"/>
            <p:cNvCxnSpPr/>
            <p:nvPr/>
          </p:nvCxnSpPr>
          <p:spPr>
            <a:xfrm>
              <a:off x="0" y="1717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7" name="Google Shape;557;p23"/>
            <p:cNvCxnSpPr/>
            <p:nvPr/>
          </p:nvCxnSpPr>
          <p:spPr>
            <a:xfrm>
              <a:off x="0" y="72890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8" name="Google Shape;558;p23"/>
            <p:cNvCxnSpPr/>
            <p:nvPr/>
          </p:nvCxnSpPr>
          <p:spPr>
            <a:xfrm>
              <a:off x="0" y="128609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59" name="Google Shape;559;p23"/>
            <p:cNvCxnSpPr/>
            <p:nvPr/>
          </p:nvCxnSpPr>
          <p:spPr>
            <a:xfrm>
              <a:off x="0" y="184328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0" name="Google Shape;560;p23"/>
            <p:cNvCxnSpPr/>
            <p:nvPr/>
          </p:nvCxnSpPr>
          <p:spPr>
            <a:xfrm>
              <a:off x="0" y="240047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1" name="Google Shape;561;p23"/>
            <p:cNvCxnSpPr/>
            <p:nvPr/>
          </p:nvCxnSpPr>
          <p:spPr>
            <a:xfrm>
              <a:off x="0" y="295766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2" name="Google Shape;562;p23"/>
            <p:cNvCxnSpPr/>
            <p:nvPr/>
          </p:nvCxnSpPr>
          <p:spPr>
            <a:xfrm>
              <a:off x="0" y="351485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3" name="Google Shape;563;p23"/>
            <p:cNvCxnSpPr/>
            <p:nvPr/>
          </p:nvCxnSpPr>
          <p:spPr>
            <a:xfrm>
              <a:off x="0" y="407204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4" name="Google Shape;564;p23"/>
            <p:cNvCxnSpPr/>
            <p:nvPr/>
          </p:nvCxnSpPr>
          <p:spPr>
            <a:xfrm>
              <a:off x="0" y="462923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5" name="Google Shape;565;p23"/>
            <p:cNvCxnSpPr/>
            <p:nvPr/>
          </p:nvCxnSpPr>
          <p:spPr>
            <a:xfrm>
              <a:off x="0" y="518642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6" name="Google Shape;566;p23"/>
            <p:cNvCxnSpPr/>
            <p:nvPr/>
          </p:nvCxnSpPr>
          <p:spPr>
            <a:xfrm>
              <a:off x="0" y="57436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7" name="Google Shape;567;p23"/>
            <p:cNvCxnSpPr/>
            <p:nvPr/>
          </p:nvCxnSpPr>
          <p:spPr>
            <a:xfrm>
              <a:off x="0" y="6857999"/>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68" name="Google Shape;568;p23"/>
            <p:cNvCxnSpPr/>
            <p:nvPr/>
          </p:nvCxnSpPr>
          <p:spPr>
            <a:xfrm>
              <a:off x="16613" y="6248400"/>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grpSp>
      <p:sp>
        <p:nvSpPr>
          <p:cNvPr id="569" name="Google Shape;569;p23"/>
          <p:cNvSpPr txBox="1"/>
          <p:nvPr>
            <p:ph idx="4294967295" type="ctrTitle"/>
          </p:nvPr>
        </p:nvSpPr>
        <p:spPr>
          <a:xfrm>
            <a:off x="457200" y="720775"/>
            <a:ext cx="2836800" cy="5531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Largest Public Cloud Providers</a:t>
            </a:r>
            <a:endParaRPr/>
          </a:p>
        </p:txBody>
      </p:sp>
      <p:sp>
        <p:nvSpPr>
          <p:cNvPr id="570" name="Google Shape;570;p23"/>
          <p:cNvSpPr/>
          <p:nvPr/>
        </p:nvSpPr>
        <p:spPr>
          <a:xfrm>
            <a:off x="4206893" y="191033"/>
            <a:ext cx="7763540" cy="606558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571" name="Google Shape;571;p23"/>
          <p:cNvGrpSpPr/>
          <p:nvPr/>
        </p:nvGrpSpPr>
        <p:grpSpPr>
          <a:xfrm>
            <a:off x="3439150" y="275"/>
            <a:ext cx="8557099" cy="6857901"/>
            <a:chOff x="0" y="2558"/>
            <a:chExt cx="7812562" cy="6158869"/>
          </a:xfrm>
        </p:grpSpPr>
        <p:sp>
          <p:nvSpPr>
            <p:cNvPr id="572" name="Google Shape;572;p23"/>
            <p:cNvSpPr/>
            <p:nvPr/>
          </p:nvSpPr>
          <p:spPr>
            <a:xfrm>
              <a:off x="0" y="2558"/>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3" name="Google Shape;573;p23"/>
            <p:cNvSpPr/>
            <p:nvPr/>
          </p:nvSpPr>
          <p:spPr>
            <a:xfrm>
              <a:off x="392222" y="294294"/>
              <a:ext cx="713132" cy="71313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4" name="Google Shape;574;p23"/>
            <p:cNvSpPr/>
            <p:nvPr/>
          </p:nvSpPr>
          <p:spPr>
            <a:xfrm>
              <a:off x="1497577" y="2558"/>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5" name="Google Shape;575;p23"/>
            <p:cNvSpPr txBox="1"/>
            <p:nvPr/>
          </p:nvSpPr>
          <p:spPr>
            <a:xfrm>
              <a:off x="1497577" y="2558"/>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Avenir"/>
                  <a:ea typeface="Avenir"/>
                  <a:cs typeface="Avenir"/>
                  <a:sym typeface="Avenir"/>
                </a:rPr>
                <a:t>Amazon Web Services </a:t>
              </a:r>
              <a:r>
                <a:rPr b="0" i="0" lang="en-US" sz="2600" u="none" cap="none" strike="noStrike">
                  <a:solidFill>
                    <a:schemeClr val="dk1"/>
                  </a:solidFill>
                  <a:latin typeface="Avenir"/>
                  <a:ea typeface="Avenir"/>
                  <a:cs typeface="Avenir"/>
                  <a:sym typeface="Avenir"/>
                </a:rPr>
                <a:t>— Amazon Web Services (AWS) is the world’s most comprehensive and broadly adopted cloud. </a:t>
              </a:r>
              <a:endParaRPr b="0" i="0" sz="2600" u="none" cap="none" strike="noStrike">
                <a:solidFill>
                  <a:schemeClr val="dk1"/>
                </a:solidFill>
                <a:latin typeface="Avenir"/>
                <a:ea typeface="Avenir"/>
                <a:cs typeface="Avenir"/>
                <a:sym typeface="Avenir"/>
              </a:endParaRPr>
            </a:p>
          </p:txBody>
        </p:sp>
        <p:sp>
          <p:nvSpPr>
            <p:cNvPr id="576" name="Google Shape;576;p23"/>
            <p:cNvSpPr/>
            <p:nvPr/>
          </p:nvSpPr>
          <p:spPr>
            <a:xfrm>
              <a:off x="0" y="1623313"/>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7" name="Google Shape;577;p23"/>
            <p:cNvSpPr/>
            <p:nvPr/>
          </p:nvSpPr>
          <p:spPr>
            <a:xfrm>
              <a:off x="392222" y="1915049"/>
              <a:ext cx="713132" cy="71313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8" name="Google Shape;578;p23"/>
            <p:cNvSpPr/>
            <p:nvPr/>
          </p:nvSpPr>
          <p:spPr>
            <a:xfrm>
              <a:off x="1497577" y="1623313"/>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79" name="Google Shape;579;p23"/>
            <p:cNvSpPr txBox="1"/>
            <p:nvPr/>
          </p:nvSpPr>
          <p:spPr>
            <a:xfrm>
              <a:off x="1497577" y="1623313"/>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Avenir"/>
                  <a:ea typeface="Avenir"/>
                  <a:cs typeface="Avenir"/>
                  <a:sym typeface="Avenir"/>
                </a:rPr>
                <a:t>Microsoft Azure </a:t>
              </a:r>
              <a:r>
                <a:rPr b="0" i="0" lang="en-US" sz="2600" u="none" cap="none" strike="noStrike">
                  <a:solidFill>
                    <a:schemeClr val="dk1"/>
                  </a:solidFill>
                  <a:latin typeface="Avenir"/>
                  <a:ea typeface="Avenir"/>
                  <a:cs typeface="Avenir"/>
                  <a:sym typeface="Avenir"/>
                </a:rPr>
                <a:t>— Microsoft Azure launched many years later than AWS and Google Cloud, but it quickly rose to the top</a:t>
              </a:r>
              <a:endParaRPr sz="1800"/>
            </a:p>
          </p:txBody>
        </p:sp>
        <p:sp>
          <p:nvSpPr>
            <p:cNvPr id="580" name="Google Shape;580;p23"/>
            <p:cNvSpPr/>
            <p:nvPr/>
          </p:nvSpPr>
          <p:spPr>
            <a:xfrm>
              <a:off x="0" y="3244068"/>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1" name="Google Shape;581;p23"/>
            <p:cNvSpPr/>
            <p:nvPr/>
          </p:nvSpPr>
          <p:spPr>
            <a:xfrm>
              <a:off x="226351" y="3535804"/>
              <a:ext cx="1044874" cy="71313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2" name="Google Shape;582;p23"/>
            <p:cNvSpPr/>
            <p:nvPr/>
          </p:nvSpPr>
          <p:spPr>
            <a:xfrm>
              <a:off x="1497577" y="3244068"/>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3" name="Google Shape;583;p23"/>
            <p:cNvSpPr txBox="1"/>
            <p:nvPr/>
          </p:nvSpPr>
          <p:spPr>
            <a:xfrm>
              <a:off x="1497577" y="3244068"/>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Avenir"/>
                  <a:ea typeface="Avenir"/>
                  <a:cs typeface="Avenir"/>
                  <a:sym typeface="Avenir"/>
                </a:rPr>
                <a:t>Google Cloud Platform</a:t>
              </a:r>
              <a:r>
                <a:rPr b="0" i="0" lang="en-US" sz="2600" u="none" cap="none" strike="noStrike">
                  <a:solidFill>
                    <a:schemeClr val="dk1"/>
                  </a:solidFill>
                  <a:latin typeface="Avenir"/>
                  <a:ea typeface="Avenir"/>
                  <a:cs typeface="Avenir"/>
                  <a:sym typeface="Avenir"/>
                </a:rPr>
                <a:t> — Google’s cloud is similar to AWS and Azure</a:t>
              </a:r>
              <a:endParaRPr sz="1800"/>
            </a:p>
          </p:txBody>
        </p:sp>
        <p:sp>
          <p:nvSpPr>
            <p:cNvPr id="584" name="Google Shape;584;p23"/>
            <p:cNvSpPr/>
            <p:nvPr/>
          </p:nvSpPr>
          <p:spPr>
            <a:xfrm>
              <a:off x="0" y="4864823"/>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5" name="Google Shape;585;p23"/>
            <p:cNvSpPr/>
            <p:nvPr/>
          </p:nvSpPr>
          <p:spPr>
            <a:xfrm>
              <a:off x="392222" y="5156559"/>
              <a:ext cx="713132" cy="713132"/>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6" name="Google Shape;586;p23"/>
            <p:cNvSpPr/>
            <p:nvPr/>
          </p:nvSpPr>
          <p:spPr>
            <a:xfrm>
              <a:off x="1497577" y="4864823"/>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7" name="Google Shape;587;p23"/>
            <p:cNvSpPr txBox="1"/>
            <p:nvPr/>
          </p:nvSpPr>
          <p:spPr>
            <a:xfrm>
              <a:off x="1497577" y="4864823"/>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600" u="none" cap="none" strike="noStrike">
                  <a:solidFill>
                    <a:schemeClr val="dk1"/>
                  </a:solidFill>
                  <a:latin typeface="Avenir"/>
                  <a:ea typeface="Avenir"/>
                  <a:cs typeface="Avenir"/>
                  <a:sym typeface="Avenir"/>
                </a:rPr>
                <a:t>Alibaba Cloud </a:t>
              </a:r>
              <a:r>
                <a:rPr b="0" i="0" lang="en-US" sz="2600" u="none" cap="none" strike="noStrike">
                  <a:solidFill>
                    <a:schemeClr val="dk1"/>
                  </a:solidFill>
                  <a:latin typeface="Avenir"/>
                  <a:ea typeface="Avenir"/>
                  <a:cs typeface="Avenir"/>
                  <a:sym typeface="Avenir"/>
                </a:rPr>
                <a:t>— Alibaba Cloud, also known as Aliyun, is a cloud computing company, a subsidiary of Alibaba Group.</a:t>
              </a:r>
              <a:endParaRPr b="0" i="0" sz="2600" u="none" cap="none" strike="noStrike">
                <a:solidFill>
                  <a:schemeClr val="dk1"/>
                </a:solidFill>
                <a:latin typeface="Avenir"/>
                <a:ea typeface="Avenir"/>
                <a:cs typeface="Avenir"/>
                <a:sym typeface="Aveni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24"/>
          <p:cNvSpPr/>
          <p:nvPr/>
        </p:nvSpPr>
        <p:spPr>
          <a:xfrm>
            <a:off x="0" y="0"/>
            <a:ext cx="122086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93" name="Google Shape;593;p24"/>
          <p:cNvSpPr/>
          <p:nvPr/>
        </p:nvSpPr>
        <p:spPr>
          <a:xfrm>
            <a:off x="0" y="0"/>
            <a:ext cx="12208613"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594" name="Google Shape;594;p24"/>
          <p:cNvSpPr/>
          <p:nvPr/>
        </p:nvSpPr>
        <p:spPr>
          <a:xfrm rot="-2700000">
            <a:off x="408102" y="-284146"/>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595" name="Google Shape;595;p24"/>
          <p:cNvGrpSpPr/>
          <p:nvPr/>
        </p:nvGrpSpPr>
        <p:grpSpPr>
          <a:xfrm>
            <a:off x="-6214" y="-1"/>
            <a:ext cx="12214827" cy="6858000"/>
            <a:chOff x="-6214" y="-1"/>
            <a:chExt cx="12214827" cy="6858000"/>
          </a:xfrm>
        </p:grpSpPr>
        <p:cxnSp>
          <p:nvCxnSpPr>
            <p:cNvPr id="596" name="Google Shape;596;p24"/>
            <p:cNvCxnSpPr/>
            <p:nvPr/>
          </p:nvCxnSpPr>
          <p:spPr>
            <a:xfrm>
              <a:off x="-6214" y="6686283"/>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97" name="Google Shape;597;p24"/>
            <p:cNvCxnSpPr/>
            <p:nvPr/>
          </p:nvCxnSpPr>
          <p:spPr>
            <a:xfrm>
              <a:off x="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98" name="Google Shape;598;p24"/>
            <p:cNvCxnSpPr/>
            <p:nvPr/>
          </p:nvCxnSpPr>
          <p:spPr>
            <a:xfrm>
              <a:off x="1199325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599" name="Google Shape;599;p24"/>
            <p:cNvCxnSpPr/>
            <p:nvPr/>
          </p:nvCxnSpPr>
          <p:spPr>
            <a:xfrm>
              <a:off x="19252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0" name="Google Shape;600;p24"/>
            <p:cNvCxnSpPr/>
            <p:nvPr/>
          </p:nvCxnSpPr>
          <p:spPr>
            <a:xfrm>
              <a:off x="119196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1" name="Google Shape;601;p24"/>
            <p:cNvCxnSpPr/>
            <p:nvPr/>
          </p:nvCxnSpPr>
          <p:spPr>
            <a:xfrm>
              <a:off x="219140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2" name="Google Shape;602;p24"/>
            <p:cNvCxnSpPr/>
            <p:nvPr/>
          </p:nvCxnSpPr>
          <p:spPr>
            <a:xfrm>
              <a:off x="319084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3" name="Google Shape;603;p24"/>
            <p:cNvCxnSpPr/>
            <p:nvPr/>
          </p:nvCxnSpPr>
          <p:spPr>
            <a:xfrm>
              <a:off x="419028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4" name="Google Shape;604;p24"/>
            <p:cNvCxnSpPr/>
            <p:nvPr/>
          </p:nvCxnSpPr>
          <p:spPr>
            <a:xfrm>
              <a:off x="518971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5" name="Google Shape;605;p24"/>
            <p:cNvCxnSpPr/>
            <p:nvPr/>
          </p:nvCxnSpPr>
          <p:spPr>
            <a:xfrm>
              <a:off x="618915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6" name="Google Shape;606;p24"/>
            <p:cNvCxnSpPr/>
            <p:nvPr/>
          </p:nvCxnSpPr>
          <p:spPr>
            <a:xfrm>
              <a:off x="718859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7" name="Google Shape;607;p24"/>
            <p:cNvCxnSpPr/>
            <p:nvPr/>
          </p:nvCxnSpPr>
          <p:spPr>
            <a:xfrm>
              <a:off x="818803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8" name="Google Shape;608;p24"/>
            <p:cNvCxnSpPr/>
            <p:nvPr/>
          </p:nvCxnSpPr>
          <p:spPr>
            <a:xfrm>
              <a:off x="918747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09" name="Google Shape;609;p24"/>
            <p:cNvCxnSpPr/>
            <p:nvPr/>
          </p:nvCxnSpPr>
          <p:spPr>
            <a:xfrm>
              <a:off x="1018690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0" name="Google Shape;610;p24"/>
            <p:cNvCxnSpPr/>
            <p:nvPr/>
          </p:nvCxnSpPr>
          <p:spPr>
            <a:xfrm>
              <a:off x="1118634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1" name="Google Shape;611;p24"/>
            <p:cNvCxnSpPr/>
            <p:nvPr/>
          </p:nvCxnSpPr>
          <p:spPr>
            <a:xfrm>
              <a:off x="1218578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2" name="Google Shape;612;p24"/>
            <p:cNvCxnSpPr/>
            <p:nvPr/>
          </p:nvCxnSpPr>
          <p:spPr>
            <a:xfrm>
              <a:off x="0" y="1717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3" name="Google Shape;613;p24"/>
            <p:cNvCxnSpPr/>
            <p:nvPr/>
          </p:nvCxnSpPr>
          <p:spPr>
            <a:xfrm>
              <a:off x="0" y="72890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4" name="Google Shape;614;p24"/>
            <p:cNvCxnSpPr/>
            <p:nvPr/>
          </p:nvCxnSpPr>
          <p:spPr>
            <a:xfrm>
              <a:off x="0" y="128609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5" name="Google Shape;615;p24"/>
            <p:cNvCxnSpPr/>
            <p:nvPr/>
          </p:nvCxnSpPr>
          <p:spPr>
            <a:xfrm>
              <a:off x="0" y="184328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6" name="Google Shape;616;p24"/>
            <p:cNvCxnSpPr/>
            <p:nvPr/>
          </p:nvCxnSpPr>
          <p:spPr>
            <a:xfrm>
              <a:off x="0" y="240047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7" name="Google Shape;617;p24"/>
            <p:cNvCxnSpPr/>
            <p:nvPr/>
          </p:nvCxnSpPr>
          <p:spPr>
            <a:xfrm>
              <a:off x="0" y="295766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8" name="Google Shape;618;p24"/>
            <p:cNvCxnSpPr/>
            <p:nvPr/>
          </p:nvCxnSpPr>
          <p:spPr>
            <a:xfrm>
              <a:off x="0" y="351485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19" name="Google Shape;619;p24"/>
            <p:cNvCxnSpPr/>
            <p:nvPr/>
          </p:nvCxnSpPr>
          <p:spPr>
            <a:xfrm>
              <a:off x="0" y="407204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20" name="Google Shape;620;p24"/>
            <p:cNvCxnSpPr/>
            <p:nvPr/>
          </p:nvCxnSpPr>
          <p:spPr>
            <a:xfrm>
              <a:off x="0" y="462923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21" name="Google Shape;621;p24"/>
            <p:cNvCxnSpPr/>
            <p:nvPr/>
          </p:nvCxnSpPr>
          <p:spPr>
            <a:xfrm>
              <a:off x="0" y="518642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22" name="Google Shape;622;p24"/>
            <p:cNvCxnSpPr/>
            <p:nvPr/>
          </p:nvCxnSpPr>
          <p:spPr>
            <a:xfrm>
              <a:off x="0" y="57436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23" name="Google Shape;623;p24"/>
            <p:cNvCxnSpPr/>
            <p:nvPr/>
          </p:nvCxnSpPr>
          <p:spPr>
            <a:xfrm>
              <a:off x="0" y="6857999"/>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624" name="Google Shape;624;p24"/>
            <p:cNvCxnSpPr/>
            <p:nvPr/>
          </p:nvCxnSpPr>
          <p:spPr>
            <a:xfrm>
              <a:off x="16613" y="6248400"/>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grpSp>
      <p:sp>
        <p:nvSpPr>
          <p:cNvPr id="625" name="Google Shape;625;p24"/>
          <p:cNvSpPr txBox="1"/>
          <p:nvPr>
            <p:ph idx="4294967295" type="ctrTitle"/>
          </p:nvPr>
        </p:nvSpPr>
        <p:spPr>
          <a:xfrm>
            <a:off x="457200" y="720775"/>
            <a:ext cx="2590500" cy="5531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Largest Public Cloud Providers</a:t>
            </a:r>
            <a:endParaRPr/>
          </a:p>
        </p:txBody>
      </p:sp>
      <p:sp>
        <p:nvSpPr>
          <p:cNvPr id="626" name="Google Shape;626;p24"/>
          <p:cNvSpPr/>
          <p:nvPr/>
        </p:nvSpPr>
        <p:spPr>
          <a:xfrm>
            <a:off x="4206893" y="191033"/>
            <a:ext cx="7763540" cy="606558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627" name="Google Shape;627;p24"/>
          <p:cNvGrpSpPr/>
          <p:nvPr/>
        </p:nvGrpSpPr>
        <p:grpSpPr>
          <a:xfrm>
            <a:off x="3047700" y="275"/>
            <a:ext cx="8949290" cy="6857901"/>
            <a:chOff x="0" y="2558"/>
            <a:chExt cx="7812562" cy="6158869"/>
          </a:xfrm>
        </p:grpSpPr>
        <p:sp>
          <p:nvSpPr>
            <p:cNvPr id="628" name="Google Shape;628;p24"/>
            <p:cNvSpPr/>
            <p:nvPr/>
          </p:nvSpPr>
          <p:spPr>
            <a:xfrm>
              <a:off x="0" y="2558"/>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29" name="Google Shape;629;p24"/>
            <p:cNvSpPr/>
            <p:nvPr/>
          </p:nvSpPr>
          <p:spPr>
            <a:xfrm>
              <a:off x="392222" y="294294"/>
              <a:ext cx="713132" cy="71313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0" name="Google Shape;630;p24"/>
            <p:cNvSpPr/>
            <p:nvPr/>
          </p:nvSpPr>
          <p:spPr>
            <a:xfrm>
              <a:off x="1497577" y="2558"/>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1" name="Google Shape;631;p24"/>
            <p:cNvSpPr txBox="1"/>
            <p:nvPr/>
          </p:nvSpPr>
          <p:spPr>
            <a:xfrm>
              <a:off x="1497577" y="2558"/>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800" u="none" cap="none" strike="noStrike">
                  <a:solidFill>
                    <a:schemeClr val="dk1"/>
                  </a:solidFill>
                  <a:latin typeface="Avenir"/>
                  <a:ea typeface="Avenir"/>
                  <a:cs typeface="Avenir"/>
                  <a:sym typeface="Avenir"/>
                </a:rPr>
                <a:t>IBM Cloud </a:t>
              </a:r>
              <a:r>
                <a:rPr b="0" i="0" lang="en-US" sz="2800" u="none" cap="none" strike="noStrike">
                  <a:solidFill>
                    <a:schemeClr val="dk1"/>
                  </a:solidFill>
                  <a:latin typeface="Avenir"/>
                  <a:ea typeface="Avenir"/>
                  <a:cs typeface="Avenir"/>
                  <a:sym typeface="Avenir"/>
                </a:rPr>
                <a:t>—Offers a range of services, including AI and blockchain, with a focus on enterprise solutions. </a:t>
              </a:r>
              <a:endParaRPr b="0" i="0" sz="2800" u="none" cap="none" strike="noStrike">
                <a:solidFill>
                  <a:schemeClr val="dk1"/>
                </a:solidFill>
                <a:latin typeface="Avenir"/>
                <a:ea typeface="Avenir"/>
                <a:cs typeface="Avenir"/>
                <a:sym typeface="Avenir"/>
              </a:endParaRPr>
            </a:p>
          </p:txBody>
        </p:sp>
        <p:sp>
          <p:nvSpPr>
            <p:cNvPr id="632" name="Google Shape;632;p24"/>
            <p:cNvSpPr/>
            <p:nvPr/>
          </p:nvSpPr>
          <p:spPr>
            <a:xfrm>
              <a:off x="0" y="1623313"/>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3" name="Google Shape;633;p24"/>
            <p:cNvSpPr/>
            <p:nvPr/>
          </p:nvSpPr>
          <p:spPr>
            <a:xfrm>
              <a:off x="392222" y="1915049"/>
              <a:ext cx="713132" cy="71313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4" name="Google Shape;634;p24"/>
            <p:cNvSpPr/>
            <p:nvPr/>
          </p:nvSpPr>
          <p:spPr>
            <a:xfrm>
              <a:off x="1497577" y="1623313"/>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5" name="Google Shape;635;p24"/>
            <p:cNvSpPr txBox="1"/>
            <p:nvPr/>
          </p:nvSpPr>
          <p:spPr>
            <a:xfrm>
              <a:off x="1497577" y="1623313"/>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800" u="none" cap="none" strike="noStrike">
                  <a:solidFill>
                    <a:schemeClr val="dk1"/>
                  </a:solidFill>
                  <a:latin typeface="Avenir"/>
                  <a:ea typeface="Avenir"/>
                  <a:cs typeface="Avenir"/>
                  <a:sym typeface="Avenir"/>
                </a:rPr>
                <a:t>Oracle Cloud </a:t>
              </a:r>
              <a:r>
                <a:rPr b="0" i="0" lang="en-US" sz="2800" u="none" cap="none" strike="noStrike">
                  <a:solidFill>
                    <a:schemeClr val="dk1"/>
                  </a:solidFill>
                  <a:latin typeface="Avenir"/>
                  <a:ea typeface="Avenir"/>
                  <a:cs typeface="Avenir"/>
                  <a:sym typeface="Avenir"/>
                </a:rPr>
                <a:t>—</a:t>
              </a:r>
              <a:r>
                <a:rPr b="1" i="0" lang="en-US" sz="2800" u="none" cap="none" strike="noStrike">
                  <a:solidFill>
                    <a:schemeClr val="dk1"/>
                  </a:solidFill>
                  <a:latin typeface="Avenir"/>
                  <a:ea typeface="Avenir"/>
                  <a:cs typeface="Avenir"/>
                  <a:sym typeface="Avenir"/>
                </a:rPr>
                <a:t>  </a:t>
              </a:r>
              <a:r>
                <a:rPr b="0" i="0" lang="en-US" sz="2800" u="none" cap="none" strike="noStrike">
                  <a:solidFill>
                    <a:schemeClr val="dk1"/>
                  </a:solidFill>
                  <a:latin typeface="Avenir"/>
                  <a:ea typeface="Avenir"/>
                  <a:cs typeface="Avenir"/>
                  <a:sym typeface="Avenir"/>
                </a:rPr>
                <a:t>Emphasizes on database and enterprise applications. </a:t>
              </a:r>
              <a:endParaRPr b="0" i="0" sz="2800" u="none" cap="none" strike="noStrike">
                <a:solidFill>
                  <a:schemeClr val="dk1"/>
                </a:solidFill>
                <a:latin typeface="Avenir"/>
                <a:ea typeface="Avenir"/>
                <a:cs typeface="Avenir"/>
                <a:sym typeface="Avenir"/>
              </a:endParaRPr>
            </a:p>
          </p:txBody>
        </p:sp>
        <p:sp>
          <p:nvSpPr>
            <p:cNvPr id="636" name="Google Shape;636;p24"/>
            <p:cNvSpPr/>
            <p:nvPr/>
          </p:nvSpPr>
          <p:spPr>
            <a:xfrm>
              <a:off x="0" y="3244068"/>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7" name="Google Shape;637;p24"/>
            <p:cNvSpPr/>
            <p:nvPr/>
          </p:nvSpPr>
          <p:spPr>
            <a:xfrm>
              <a:off x="392222" y="3535804"/>
              <a:ext cx="713132" cy="71313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8" name="Google Shape;638;p24"/>
            <p:cNvSpPr/>
            <p:nvPr/>
          </p:nvSpPr>
          <p:spPr>
            <a:xfrm>
              <a:off x="1497577" y="3244068"/>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39" name="Google Shape;639;p24"/>
            <p:cNvSpPr txBox="1"/>
            <p:nvPr/>
          </p:nvSpPr>
          <p:spPr>
            <a:xfrm>
              <a:off x="1497577" y="3244068"/>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800" u="none" cap="none" strike="noStrike">
                  <a:solidFill>
                    <a:schemeClr val="dk1"/>
                  </a:solidFill>
                  <a:latin typeface="Avenir"/>
                  <a:ea typeface="Avenir"/>
                  <a:cs typeface="Avenir"/>
                  <a:sym typeface="Avenir"/>
                </a:rPr>
                <a:t>Digital Ocean </a:t>
              </a:r>
              <a:r>
                <a:rPr b="0" i="0" lang="en-US" sz="2800" u="none" cap="none" strike="noStrike">
                  <a:solidFill>
                    <a:schemeClr val="dk1"/>
                  </a:solidFill>
                  <a:latin typeface="Avenir"/>
                  <a:ea typeface="Avenir"/>
                  <a:cs typeface="Avenir"/>
                  <a:sym typeface="Avenir"/>
                </a:rPr>
                <a:t> — Popular among developers and startups for its simplicity and developer-friendly approach</a:t>
              </a:r>
              <a:endParaRPr b="0" i="0" sz="2800" u="none" cap="none" strike="noStrike">
                <a:solidFill>
                  <a:schemeClr val="dk1"/>
                </a:solidFill>
                <a:latin typeface="Avenir"/>
                <a:ea typeface="Avenir"/>
                <a:cs typeface="Avenir"/>
                <a:sym typeface="Avenir"/>
              </a:endParaRPr>
            </a:p>
          </p:txBody>
        </p:sp>
        <p:sp>
          <p:nvSpPr>
            <p:cNvPr id="640" name="Google Shape;640;p24"/>
            <p:cNvSpPr/>
            <p:nvPr/>
          </p:nvSpPr>
          <p:spPr>
            <a:xfrm>
              <a:off x="0" y="4864823"/>
              <a:ext cx="7812562" cy="1296604"/>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41" name="Google Shape;641;p24"/>
            <p:cNvSpPr/>
            <p:nvPr/>
          </p:nvSpPr>
          <p:spPr>
            <a:xfrm>
              <a:off x="392222" y="5156559"/>
              <a:ext cx="713132" cy="713132"/>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42" name="Google Shape;642;p24"/>
            <p:cNvSpPr/>
            <p:nvPr/>
          </p:nvSpPr>
          <p:spPr>
            <a:xfrm>
              <a:off x="1497577" y="4864823"/>
              <a:ext cx="6314984" cy="129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800"/>
            </a:p>
          </p:txBody>
        </p:sp>
        <p:sp>
          <p:nvSpPr>
            <p:cNvPr id="643" name="Google Shape;643;p24"/>
            <p:cNvSpPr txBox="1"/>
            <p:nvPr/>
          </p:nvSpPr>
          <p:spPr>
            <a:xfrm>
              <a:off x="1497577" y="4864823"/>
              <a:ext cx="6314984" cy="1296604"/>
            </a:xfrm>
            <a:prstGeom prst="rect">
              <a:avLst/>
            </a:prstGeom>
            <a:noFill/>
            <a:ln>
              <a:noFill/>
            </a:ln>
          </p:spPr>
          <p:txBody>
            <a:bodyPr anchorCtr="0" anchor="ctr" bIns="137200" lIns="137200" spcFirstLastPara="1" rIns="137200" wrap="square" tIns="137200">
              <a:noAutofit/>
            </a:bodyPr>
            <a:lstStyle/>
            <a:p>
              <a:pPr indent="0" lvl="0" marL="0" marR="0" rtl="0" algn="l">
                <a:lnSpc>
                  <a:spcPct val="90000"/>
                </a:lnSpc>
                <a:spcBef>
                  <a:spcPts val="0"/>
                </a:spcBef>
                <a:spcAft>
                  <a:spcPts val="0"/>
                </a:spcAft>
                <a:buNone/>
              </a:pPr>
              <a:r>
                <a:rPr b="1" i="0" lang="en-US" sz="2800" u="none" cap="none" strike="noStrike">
                  <a:solidFill>
                    <a:schemeClr val="dk1"/>
                  </a:solidFill>
                  <a:latin typeface="Avenir"/>
                  <a:ea typeface="Avenir"/>
                  <a:cs typeface="Avenir"/>
                  <a:sym typeface="Avenir"/>
                </a:rPr>
                <a:t>Open Stack</a:t>
              </a:r>
              <a:r>
                <a:rPr b="0" i="0" lang="en-US" sz="2800" u="none" cap="none" strike="noStrike">
                  <a:solidFill>
                    <a:schemeClr val="dk1"/>
                  </a:solidFill>
                  <a:latin typeface="Avenir"/>
                  <a:ea typeface="Avenir"/>
                  <a:cs typeface="Avenir"/>
                  <a:sym typeface="Avenir"/>
                </a:rPr>
                <a:t>— Often used for building private and hybrid clouds</a:t>
              </a:r>
              <a:endParaRPr b="0" i="0" sz="2800" u="none" cap="none" strike="noStrike">
                <a:solidFill>
                  <a:schemeClr val="dk1"/>
                </a:solidFill>
                <a:latin typeface="Avenir"/>
                <a:ea typeface="Avenir"/>
                <a:cs typeface="Avenir"/>
                <a:sym typeface="Aveni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7" name="Shape 647"/>
        <p:cNvGrpSpPr/>
        <p:nvPr/>
      </p:nvGrpSpPr>
      <p:grpSpPr>
        <a:xfrm>
          <a:off x="0" y="0"/>
          <a:ext cx="0" cy="0"/>
          <a:chOff x="0" y="0"/>
          <a:chExt cx="0" cy="0"/>
        </a:xfrm>
      </p:grpSpPr>
      <p:sp>
        <p:nvSpPr>
          <p:cNvPr id="648" name="Google Shape;648;p2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49" name="Google Shape;649;p25"/>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50" name="Google Shape;650;p25"/>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651" name="Google Shape;651;p25"/>
          <p:cNvGrpSpPr/>
          <p:nvPr/>
        </p:nvGrpSpPr>
        <p:grpSpPr>
          <a:xfrm>
            <a:off x="0" y="0"/>
            <a:ext cx="12214827" cy="6858000"/>
            <a:chOff x="-6214" y="-1"/>
            <a:chExt cx="12214827" cy="6858000"/>
          </a:xfrm>
        </p:grpSpPr>
        <p:cxnSp>
          <p:nvCxnSpPr>
            <p:cNvPr id="652" name="Google Shape;652;p25"/>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3" name="Google Shape;653;p25"/>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4" name="Google Shape;654;p25"/>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5" name="Google Shape;655;p25"/>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6" name="Google Shape;656;p25"/>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7" name="Google Shape;657;p25"/>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8" name="Google Shape;658;p25"/>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59" name="Google Shape;659;p25"/>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0" name="Google Shape;660;p25"/>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1" name="Google Shape;661;p25"/>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2" name="Google Shape;662;p25"/>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3" name="Google Shape;663;p25"/>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4" name="Google Shape;664;p25"/>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5" name="Google Shape;665;p25"/>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6" name="Google Shape;666;p25"/>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7" name="Google Shape;667;p25"/>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8" name="Google Shape;668;p25"/>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69" name="Google Shape;669;p25"/>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0" name="Google Shape;670;p25"/>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1" name="Google Shape;671;p25"/>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2" name="Google Shape;672;p25"/>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3" name="Google Shape;673;p25"/>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4" name="Google Shape;674;p25"/>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5" name="Google Shape;675;p25"/>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6" name="Google Shape;676;p25"/>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7" name="Google Shape;677;p25"/>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8" name="Google Shape;678;p25"/>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79" name="Google Shape;679;p25"/>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680" name="Google Shape;680;p25"/>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681" name="Google Shape;681;p25"/>
          <p:cNvSpPr txBox="1"/>
          <p:nvPr>
            <p:ph idx="4294967295" type="ctrTitle"/>
          </p:nvPr>
        </p:nvSpPr>
        <p:spPr>
          <a:xfrm>
            <a:off x="478972" y="193053"/>
            <a:ext cx="4952999" cy="148334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What Is a Private Cloud?</a:t>
            </a:r>
            <a:endParaRPr/>
          </a:p>
        </p:txBody>
      </p:sp>
      <p:sp>
        <p:nvSpPr>
          <p:cNvPr id="682" name="Google Shape;682;p25"/>
          <p:cNvSpPr txBox="1"/>
          <p:nvPr>
            <p:ph idx="1" type="body"/>
          </p:nvPr>
        </p:nvSpPr>
        <p:spPr>
          <a:xfrm>
            <a:off x="457200" y="1741715"/>
            <a:ext cx="5738170" cy="4532612"/>
          </a:xfrm>
          <a:prstGeom prst="rect">
            <a:avLst/>
          </a:prstGeom>
          <a:noFill/>
          <a:ln>
            <a:noFill/>
          </a:ln>
        </p:spPr>
        <p:txBody>
          <a:bodyPr anchorCtr="0" anchor="t" bIns="45700" lIns="91425" spcFirstLastPara="1" rIns="91425" wrap="square" tIns="45700">
            <a:normAutofit/>
          </a:bodyPr>
          <a:lstStyle/>
          <a:p>
            <a:pPr indent="-285750" lvl="0" marL="228600" rtl="0" algn="l">
              <a:lnSpc>
                <a:spcPct val="100000"/>
              </a:lnSpc>
              <a:spcBef>
                <a:spcPts val="0"/>
              </a:spcBef>
              <a:spcAft>
                <a:spcPts val="0"/>
              </a:spcAft>
              <a:buClr>
                <a:srgbClr val="585298"/>
              </a:buClr>
              <a:buSzPts val="2400"/>
              <a:buFont typeface="Noto Sans Symbols"/>
              <a:buChar char="⮚"/>
            </a:pPr>
            <a:r>
              <a:rPr lang="en-US" sz="2900">
                <a:solidFill>
                  <a:schemeClr val="dk2"/>
                </a:solidFill>
              </a:rPr>
              <a:t>The private cloud is a cloud solution that is dedicated to a single organization. </a:t>
            </a:r>
            <a:endParaRPr sz="2900">
              <a:solidFill>
                <a:schemeClr val="dk2"/>
              </a:solidFill>
            </a:endParaRPr>
          </a:p>
          <a:p>
            <a:pPr indent="0" lvl="0" marL="228600" rtl="0" algn="l">
              <a:lnSpc>
                <a:spcPct val="100000"/>
              </a:lnSpc>
              <a:spcBef>
                <a:spcPts val="0"/>
              </a:spcBef>
              <a:spcAft>
                <a:spcPts val="0"/>
              </a:spcAft>
              <a:buNone/>
            </a:pPr>
            <a:r>
              <a:t/>
            </a:r>
            <a:endParaRPr sz="2900">
              <a:solidFill>
                <a:schemeClr val="dk2"/>
              </a:solidFill>
            </a:endParaRPr>
          </a:p>
          <a:p>
            <a:pPr indent="-285750" lvl="0" marL="228600" rtl="0" algn="l">
              <a:lnSpc>
                <a:spcPct val="100000"/>
              </a:lnSpc>
              <a:spcBef>
                <a:spcPts val="1000"/>
              </a:spcBef>
              <a:spcAft>
                <a:spcPts val="0"/>
              </a:spcAft>
              <a:buClr>
                <a:srgbClr val="585298"/>
              </a:buClr>
              <a:buSzPts val="2400"/>
              <a:buFont typeface="Noto Sans Symbols"/>
              <a:buChar char="⮚"/>
            </a:pPr>
            <a:r>
              <a:rPr lang="en-US" sz="2900">
                <a:solidFill>
                  <a:schemeClr val="dk2"/>
                </a:solidFill>
              </a:rPr>
              <a:t>You do not share the computing resources with anyone else. </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p:txBody>
      </p:sp>
      <p:pic>
        <p:nvPicPr>
          <p:cNvPr descr="Cloud shaped hard drive with cables" id="683" name="Google Shape;683;p25"/>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7" name="Shape 687"/>
        <p:cNvGrpSpPr/>
        <p:nvPr/>
      </p:nvGrpSpPr>
      <p:grpSpPr>
        <a:xfrm>
          <a:off x="0" y="0"/>
          <a:ext cx="0" cy="0"/>
          <a:chOff x="0" y="0"/>
          <a:chExt cx="0" cy="0"/>
        </a:xfrm>
      </p:grpSpPr>
      <p:sp>
        <p:nvSpPr>
          <p:cNvPr id="688" name="Google Shape;688;p2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89" name="Google Shape;689;p26"/>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690" name="Google Shape;690;p26"/>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691" name="Google Shape;691;p26"/>
          <p:cNvGrpSpPr/>
          <p:nvPr/>
        </p:nvGrpSpPr>
        <p:grpSpPr>
          <a:xfrm>
            <a:off x="0" y="0"/>
            <a:ext cx="12214827" cy="6858000"/>
            <a:chOff x="-6214" y="-1"/>
            <a:chExt cx="12214827" cy="6858000"/>
          </a:xfrm>
        </p:grpSpPr>
        <p:cxnSp>
          <p:nvCxnSpPr>
            <p:cNvPr id="692" name="Google Shape;692;p26"/>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3" name="Google Shape;693;p26"/>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4" name="Google Shape;694;p26"/>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5" name="Google Shape;695;p26"/>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6" name="Google Shape;696;p26"/>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7" name="Google Shape;697;p26"/>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8" name="Google Shape;698;p26"/>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699" name="Google Shape;699;p26"/>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0" name="Google Shape;700;p26"/>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1" name="Google Shape;701;p26"/>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2" name="Google Shape;702;p26"/>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3" name="Google Shape;703;p26"/>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4" name="Google Shape;704;p26"/>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5" name="Google Shape;705;p26"/>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6" name="Google Shape;706;p26"/>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7" name="Google Shape;707;p26"/>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8" name="Google Shape;708;p26"/>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09" name="Google Shape;709;p26"/>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0" name="Google Shape;710;p26"/>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1" name="Google Shape;711;p26"/>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2" name="Google Shape;712;p26"/>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3" name="Google Shape;713;p26"/>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4" name="Google Shape;714;p26"/>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5" name="Google Shape;715;p26"/>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6" name="Google Shape;716;p26"/>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7" name="Google Shape;717;p26"/>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8" name="Google Shape;718;p26"/>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19" name="Google Shape;719;p26"/>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20" name="Google Shape;720;p26"/>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721" name="Google Shape;721;p26"/>
          <p:cNvSpPr txBox="1"/>
          <p:nvPr>
            <p:ph idx="4294967295" type="ctrTitle"/>
          </p:nvPr>
        </p:nvSpPr>
        <p:spPr>
          <a:xfrm>
            <a:off x="478972" y="193053"/>
            <a:ext cx="4953000" cy="1483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What Is a Private Cloud?</a:t>
            </a:r>
            <a:endParaRPr/>
          </a:p>
        </p:txBody>
      </p:sp>
      <p:sp>
        <p:nvSpPr>
          <p:cNvPr id="722" name="Google Shape;722;p26"/>
          <p:cNvSpPr txBox="1"/>
          <p:nvPr>
            <p:ph idx="1" type="body"/>
          </p:nvPr>
        </p:nvSpPr>
        <p:spPr>
          <a:xfrm>
            <a:off x="457200" y="1741715"/>
            <a:ext cx="5738100" cy="4532700"/>
          </a:xfrm>
          <a:prstGeom prst="rect">
            <a:avLst/>
          </a:prstGeom>
          <a:noFill/>
          <a:ln>
            <a:noFill/>
          </a:ln>
        </p:spPr>
        <p:txBody>
          <a:bodyPr anchorCtr="0" anchor="t" bIns="45700" lIns="91425" spcFirstLastPara="1" rIns="91425" wrap="square" tIns="45700">
            <a:normAutofit lnSpcReduction="20000"/>
          </a:bodyPr>
          <a:lstStyle/>
          <a:p>
            <a:pPr indent="0" lvl="0" marL="228600" rtl="0" algn="l">
              <a:lnSpc>
                <a:spcPct val="100000"/>
              </a:lnSpc>
              <a:spcBef>
                <a:spcPts val="1000"/>
              </a:spcBef>
              <a:spcAft>
                <a:spcPts val="0"/>
              </a:spcAft>
              <a:buNone/>
            </a:pPr>
            <a:r>
              <a:t/>
            </a:r>
            <a:endParaRPr sz="2000">
              <a:solidFill>
                <a:schemeClr val="dk2"/>
              </a:solidFill>
            </a:endParaRPr>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The data center resources can be located on your premises or off-site controlled by a third-party vendor. </a:t>
            </a:r>
            <a:endParaRPr sz="2900">
              <a:solidFill>
                <a:schemeClr val="dk2"/>
              </a:solidFill>
            </a:endParaRPr>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The computing resources are isolated and delivered to your organization across a secure private network that is not shared with any other customers.</a:t>
            </a:r>
            <a:endParaRPr sz="2900">
              <a:solidFill>
                <a:schemeClr val="dk2"/>
              </a:solidFill>
            </a:endParaRPr>
          </a:p>
        </p:txBody>
      </p:sp>
      <p:pic>
        <p:nvPicPr>
          <p:cNvPr descr="Cloud shaped hard drive with cables" id="723" name="Google Shape;723;p26"/>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2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29" name="Google Shape;729;p27"/>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30" name="Google Shape;730;p27"/>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731" name="Google Shape;731;p27"/>
          <p:cNvGrpSpPr/>
          <p:nvPr/>
        </p:nvGrpSpPr>
        <p:grpSpPr>
          <a:xfrm>
            <a:off x="0" y="0"/>
            <a:ext cx="12214827" cy="6858000"/>
            <a:chOff x="-6214" y="-1"/>
            <a:chExt cx="12214827" cy="6858000"/>
          </a:xfrm>
        </p:grpSpPr>
        <p:cxnSp>
          <p:nvCxnSpPr>
            <p:cNvPr id="732" name="Google Shape;732;p27"/>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3" name="Google Shape;733;p27"/>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4" name="Google Shape;734;p27"/>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5" name="Google Shape;735;p27"/>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6" name="Google Shape;736;p27"/>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7" name="Google Shape;737;p27"/>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8" name="Google Shape;738;p27"/>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39" name="Google Shape;739;p27"/>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0" name="Google Shape;740;p27"/>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1" name="Google Shape;741;p27"/>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2" name="Google Shape;742;p27"/>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3" name="Google Shape;743;p27"/>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4" name="Google Shape;744;p27"/>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5" name="Google Shape;745;p27"/>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6" name="Google Shape;746;p27"/>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7" name="Google Shape;747;p27"/>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8" name="Google Shape;748;p27"/>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49" name="Google Shape;749;p27"/>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0" name="Google Shape;750;p27"/>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1" name="Google Shape;751;p27"/>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2" name="Google Shape;752;p27"/>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3" name="Google Shape;753;p27"/>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4" name="Google Shape;754;p27"/>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5" name="Google Shape;755;p27"/>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6" name="Google Shape;756;p27"/>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7" name="Google Shape;757;p27"/>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8" name="Google Shape;758;p27"/>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59" name="Google Shape;759;p27"/>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760" name="Google Shape;760;p27"/>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761" name="Google Shape;761;p27"/>
          <p:cNvSpPr txBox="1"/>
          <p:nvPr>
            <p:ph idx="4294967295" type="ctrTitle"/>
          </p:nvPr>
        </p:nvSpPr>
        <p:spPr>
          <a:xfrm>
            <a:off x="478972" y="193053"/>
            <a:ext cx="4952999" cy="148334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What Is a Private Cloud?</a:t>
            </a:r>
            <a:endParaRPr/>
          </a:p>
        </p:txBody>
      </p:sp>
      <p:sp>
        <p:nvSpPr>
          <p:cNvPr id="762" name="Google Shape;762;p27"/>
          <p:cNvSpPr txBox="1"/>
          <p:nvPr>
            <p:ph idx="1" type="body"/>
          </p:nvPr>
        </p:nvSpPr>
        <p:spPr>
          <a:xfrm>
            <a:off x="457200" y="1741715"/>
            <a:ext cx="5738170" cy="4532612"/>
          </a:xfrm>
          <a:prstGeom prst="rect">
            <a:avLst/>
          </a:prstGeom>
          <a:noFill/>
          <a:ln>
            <a:noFill/>
          </a:ln>
        </p:spPr>
        <p:txBody>
          <a:bodyPr anchorCtr="0" anchor="t" bIns="45700" lIns="91425" spcFirstLastPara="1" rIns="91425" wrap="square" tIns="45700">
            <a:normAutofit/>
          </a:bodyPr>
          <a:lstStyle/>
          <a:p>
            <a:pPr indent="-317500" lvl="0" marL="228600" rtl="0" algn="l">
              <a:lnSpc>
                <a:spcPct val="100000"/>
              </a:lnSpc>
              <a:spcBef>
                <a:spcPts val="0"/>
              </a:spcBef>
              <a:spcAft>
                <a:spcPts val="0"/>
              </a:spcAft>
              <a:buClr>
                <a:srgbClr val="585298"/>
              </a:buClr>
              <a:buSzPts val="2900"/>
              <a:buFont typeface="Noto Sans Symbols"/>
              <a:buChar char="⮚"/>
            </a:pPr>
            <a:r>
              <a:rPr lang="en-US" sz="2900">
                <a:solidFill>
                  <a:schemeClr val="dk2"/>
                </a:solidFill>
              </a:rPr>
              <a:t>The private cloud is completely customizable to meet the company’s unique business and security needs. </a:t>
            </a:r>
            <a:endParaRPr sz="2900">
              <a:solidFill>
                <a:schemeClr val="dk2"/>
              </a:solidFill>
            </a:endParaRPr>
          </a:p>
          <a:p>
            <a:pPr indent="-133350" lvl="0" marL="228600" rtl="0" algn="l">
              <a:lnSpc>
                <a:spcPct val="100000"/>
              </a:lnSpc>
              <a:spcBef>
                <a:spcPts val="1000"/>
              </a:spcBef>
              <a:spcAft>
                <a:spcPts val="0"/>
              </a:spcAft>
              <a:buClr>
                <a:srgbClr val="585298"/>
              </a:buClr>
              <a:buSzPts val="1500"/>
              <a:buFont typeface="Noto Sans Symbols"/>
              <a:buNone/>
            </a:pPr>
            <a:r>
              <a:t/>
            </a:r>
            <a:endParaRPr sz="2900">
              <a:solidFill>
                <a:schemeClr val="dk2"/>
              </a:solidFill>
            </a:endParaRPr>
          </a:p>
          <a:p>
            <a:pPr indent="-133350" lvl="0" marL="228600" rtl="0" algn="l">
              <a:lnSpc>
                <a:spcPct val="100000"/>
              </a:lnSpc>
              <a:spcBef>
                <a:spcPts val="1000"/>
              </a:spcBef>
              <a:spcAft>
                <a:spcPts val="0"/>
              </a:spcAft>
              <a:buClr>
                <a:srgbClr val="585298"/>
              </a:buClr>
              <a:buSzPts val="1500"/>
              <a:buFont typeface="Noto Sans Symbols"/>
              <a:buNone/>
            </a:pPr>
            <a:r>
              <a:t/>
            </a:r>
            <a:endParaRPr sz="2900">
              <a:solidFill>
                <a:schemeClr val="dk2"/>
              </a:solidFill>
            </a:endParaRPr>
          </a:p>
        </p:txBody>
      </p:sp>
      <p:pic>
        <p:nvPicPr>
          <p:cNvPr descr="Cloud shaped hard drive with cables" id="763" name="Google Shape;763;p27"/>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28"/>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69" name="Google Shape;769;p28"/>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770" name="Google Shape;770;p28"/>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771" name="Google Shape;771;p28"/>
          <p:cNvGrpSpPr/>
          <p:nvPr/>
        </p:nvGrpSpPr>
        <p:grpSpPr>
          <a:xfrm>
            <a:off x="0" y="0"/>
            <a:ext cx="12214827" cy="6858000"/>
            <a:chOff x="-6214" y="-1"/>
            <a:chExt cx="12214827" cy="6858000"/>
          </a:xfrm>
        </p:grpSpPr>
        <p:cxnSp>
          <p:nvCxnSpPr>
            <p:cNvPr id="772" name="Google Shape;772;p28"/>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3" name="Google Shape;773;p28"/>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4" name="Google Shape;774;p28"/>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5" name="Google Shape;775;p28"/>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6" name="Google Shape;776;p28"/>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7" name="Google Shape;777;p28"/>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8" name="Google Shape;778;p28"/>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79" name="Google Shape;779;p28"/>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0" name="Google Shape;780;p28"/>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1" name="Google Shape;781;p28"/>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2" name="Google Shape;782;p28"/>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3" name="Google Shape;783;p28"/>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4" name="Google Shape;784;p28"/>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5" name="Google Shape;785;p28"/>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6" name="Google Shape;786;p28"/>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7" name="Google Shape;787;p28"/>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8" name="Google Shape;788;p28"/>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89" name="Google Shape;789;p28"/>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0" name="Google Shape;790;p28"/>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1" name="Google Shape;791;p28"/>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2" name="Google Shape;792;p28"/>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3" name="Google Shape;793;p28"/>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4" name="Google Shape;794;p28"/>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5" name="Google Shape;795;p28"/>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6" name="Google Shape;796;p28"/>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7" name="Google Shape;797;p28"/>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8" name="Google Shape;798;p28"/>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799" name="Google Shape;799;p28"/>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00" name="Google Shape;800;p28"/>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801" name="Google Shape;801;p28"/>
          <p:cNvSpPr txBox="1"/>
          <p:nvPr>
            <p:ph idx="4294967295" type="ctrTitle"/>
          </p:nvPr>
        </p:nvSpPr>
        <p:spPr>
          <a:xfrm>
            <a:off x="478972" y="193053"/>
            <a:ext cx="4953000" cy="14832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What Is a Private Cloud?</a:t>
            </a:r>
            <a:endParaRPr/>
          </a:p>
        </p:txBody>
      </p:sp>
      <p:sp>
        <p:nvSpPr>
          <p:cNvPr id="802" name="Google Shape;802;p28"/>
          <p:cNvSpPr txBox="1"/>
          <p:nvPr>
            <p:ph idx="1" type="body"/>
          </p:nvPr>
        </p:nvSpPr>
        <p:spPr>
          <a:xfrm>
            <a:off x="389750" y="1741725"/>
            <a:ext cx="6094200" cy="4532700"/>
          </a:xfrm>
          <a:prstGeom prst="rect">
            <a:avLst/>
          </a:prstGeom>
          <a:noFill/>
          <a:ln>
            <a:noFill/>
          </a:ln>
        </p:spPr>
        <p:txBody>
          <a:bodyPr anchorCtr="0" anchor="t" bIns="45700" lIns="91425" spcFirstLastPara="1" rIns="91425" wrap="square" tIns="45700">
            <a:noAutofit/>
          </a:bodyPr>
          <a:lstStyle/>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Organizations are granted greater visibility and control into the infrastructure, allowing them to operate sensitive IT workloads that meet all regulations and without compromising security or performance that could previously only be achieved with dedicated on-site data centers.</a:t>
            </a:r>
            <a:endParaRPr sz="2900"/>
          </a:p>
          <a:p>
            <a:pPr indent="-133350" lvl="0" marL="228600" rtl="0" algn="l">
              <a:lnSpc>
                <a:spcPct val="100000"/>
              </a:lnSpc>
              <a:spcBef>
                <a:spcPts val="1000"/>
              </a:spcBef>
              <a:spcAft>
                <a:spcPts val="0"/>
              </a:spcAft>
              <a:buClr>
                <a:srgbClr val="585298"/>
              </a:buClr>
              <a:buSzPts val="1500"/>
              <a:buFont typeface="Noto Sans Symbols"/>
              <a:buNone/>
            </a:pPr>
            <a:r>
              <a:t/>
            </a:r>
            <a:endParaRPr sz="2900">
              <a:solidFill>
                <a:schemeClr val="dk2"/>
              </a:solidFill>
            </a:endParaRPr>
          </a:p>
        </p:txBody>
      </p:sp>
      <p:pic>
        <p:nvPicPr>
          <p:cNvPr descr="Cloud shaped hard drive with cables" id="803" name="Google Shape;803;p28"/>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09" name="Google Shape;809;p29"/>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10" name="Google Shape;810;p29"/>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811" name="Google Shape;811;p29"/>
          <p:cNvGrpSpPr/>
          <p:nvPr/>
        </p:nvGrpSpPr>
        <p:grpSpPr>
          <a:xfrm>
            <a:off x="0" y="0"/>
            <a:ext cx="12214827" cy="6858000"/>
            <a:chOff x="-6214" y="-1"/>
            <a:chExt cx="12214827" cy="6858000"/>
          </a:xfrm>
        </p:grpSpPr>
        <p:cxnSp>
          <p:nvCxnSpPr>
            <p:cNvPr id="812" name="Google Shape;812;p29"/>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3" name="Google Shape;813;p29"/>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4" name="Google Shape;814;p29"/>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5" name="Google Shape;815;p29"/>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6" name="Google Shape;816;p29"/>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7" name="Google Shape;817;p29"/>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8" name="Google Shape;818;p29"/>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19" name="Google Shape;819;p29"/>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0" name="Google Shape;820;p29"/>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1" name="Google Shape;821;p29"/>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2" name="Google Shape;822;p29"/>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3" name="Google Shape;823;p29"/>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4" name="Google Shape;824;p29"/>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5" name="Google Shape;825;p29"/>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6" name="Google Shape;826;p29"/>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7" name="Google Shape;827;p29"/>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8" name="Google Shape;828;p29"/>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29" name="Google Shape;829;p29"/>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0" name="Google Shape;830;p29"/>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1" name="Google Shape;831;p29"/>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2" name="Google Shape;832;p29"/>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3" name="Google Shape;833;p29"/>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4" name="Google Shape;834;p29"/>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5" name="Google Shape;835;p29"/>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6" name="Google Shape;836;p29"/>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7" name="Google Shape;837;p29"/>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8" name="Google Shape;838;p29"/>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39" name="Google Shape;839;p29"/>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40" name="Google Shape;840;p29"/>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841" name="Google Shape;841;p29"/>
          <p:cNvSpPr txBox="1"/>
          <p:nvPr>
            <p:ph idx="4294967295" type="ctrTitle"/>
          </p:nvPr>
        </p:nvSpPr>
        <p:spPr>
          <a:xfrm>
            <a:off x="478972" y="193054"/>
            <a:ext cx="5716398" cy="1256099"/>
          </a:xfrm>
          <a:prstGeom prst="rect">
            <a:avLst/>
          </a:prstGeom>
          <a:noFill/>
          <a:ln>
            <a:noFill/>
          </a:ln>
        </p:spPr>
        <p:txBody>
          <a:bodyPr anchorCtr="0" anchor="ctr" bIns="45700" lIns="91425" spcFirstLastPara="1" rIns="91425" wrap="square" tIns="45700">
            <a:normAutofit fontScale="90000"/>
          </a:bodyPr>
          <a:lstStyle/>
          <a:p>
            <a:pPr indent="0" lvl="0" marL="0" marR="0" rtl="0" algn="l">
              <a:lnSpc>
                <a:spcPct val="90000"/>
              </a:lnSpc>
              <a:spcBef>
                <a:spcPts val="0"/>
              </a:spcBef>
              <a:spcAft>
                <a:spcPts val="0"/>
              </a:spcAft>
              <a:buClr>
                <a:schemeClr val="dk2"/>
              </a:buClr>
              <a:buSzPct val="100000"/>
              <a:buFont typeface="Arial"/>
              <a:buNone/>
            </a:pPr>
            <a:r>
              <a:rPr b="0" i="0" lang="en-US" sz="4400" u="none" cap="none" strike="noStrike">
                <a:solidFill>
                  <a:schemeClr val="dk2"/>
                </a:solidFill>
                <a:latin typeface="Arial"/>
                <a:ea typeface="Arial"/>
                <a:cs typeface="Arial"/>
                <a:sym typeface="Arial"/>
              </a:rPr>
              <a:t>Private clouds are best suited for:</a:t>
            </a:r>
            <a:endParaRPr b="0" i="0" sz="4400" u="none" cap="none" strike="noStrike">
              <a:solidFill>
                <a:schemeClr val="dk2"/>
              </a:solidFill>
              <a:latin typeface="Arial"/>
              <a:ea typeface="Arial"/>
              <a:cs typeface="Arial"/>
              <a:sym typeface="Arial"/>
            </a:endParaRPr>
          </a:p>
        </p:txBody>
      </p:sp>
      <p:sp>
        <p:nvSpPr>
          <p:cNvPr id="842" name="Google Shape;842;p29"/>
          <p:cNvSpPr txBox="1"/>
          <p:nvPr>
            <p:ph idx="1" type="body"/>
          </p:nvPr>
        </p:nvSpPr>
        <p:spPr>
          <a:xfrm>
            <a:off x="457200" y="1556657"/>
            <a:ext cx="5738170" cy="4717669"/>
          </a:xfrm>
          <a:prstGeom prst="rect">
            <a:avLst/>
          </a:prstGeom>
          <a:noFill/>
          <a:ln>
            <a:noFill/>
          </a:ln>
        </p:spPr>
        <p:txBody>
          <a:bodyPr anchorCtr="0" anchor="t" bIns="45700" lIns="91425" spcFirstLastPara="1" rIns="91425" wrap="square" tIns="45700">
            <a:normAutofit lnSpcReduction="10000"/>
          </a:bodyPr>
          <a:lstStyle/>
          <a:p>
            <a:pPr indent="-317500" lvl="0" marL="228600" rtl="0" algn="l">
              <a:lnSpc>
                <a:spcPct val="100000"/>
              </a:lnSpc>
              <a:spcBef>
                <a:spcPts val="0"/>
              </a:spcBef>
              <a:spcAft>
                <a:spcPts val="0"/>
              </a:spcAft>
              <a:buClr>
                <a:srgbClr val="585298"/>
              </a:buClr>
              <a:buSzPts val="2900"/>
              <a:buFont typeface="Noto Sans Symbols"/>
              <a:buChar char="⮚"/>
            </a:pPr>
            <a:r>
              <a:rPr lang="en-US" sz="2900">
                <a:solidFill>
                  <a:schemeClr val="dk2"/>
                </a:solidFill>
              </a:rPr>
              <a:t>Highly sensitive data</a:t>
            </a:r>
            <a:endParaRPr sz="2900">
              <a:solidFill>
                <a:schemeClr val="dk2"/>
              </a:solidFill>
            </a:endParaRPr>
          </a:p>
          <a:p>
            <a:pPr indent="0" lvl="0" marL="228600" rtl="0" algn="l">
              <a:lnSpc>
                <a:spcPct val="100000"/>
              </a:lnSpc>
              <a:spcBef>
                <a:spcPts val="0"/>
              </a:spcBef>
              <a:spcAft>
                <a:spcPts val="0"/>
              </a:spcAft>
              <a:buNone/>
            </a:pPr>
            <a:r>
              <a:t/>
            </a:r>
            <a:endParaRPr sz="2900">
              <a:solidFill>
                <a:schemeClr val="dk2"/>
              </a:solidFill>
            </a:endParaRPr>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Government agencies and other strictly regulated industries</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a:p>
            <a:pPr indent="-317500" lvl="0" marL="228600" rtl="0" algn="l">
              <a:lnSpc>
                <a:spcPct val="100000"/>
              </a:lnSpc>
              <a:spcBef>
                <a:spcPts val="1000"/>
              </a:spcBef>
              <a:spcAft>
                <a:spcPts val="0"/>
              </a:spcAft>
              <a:buClr>
                <a:schemeClr val="dk2"/>
              </a:buClr>
              <a:buSzPts val="2900"/>
              <a:buChar char="⮚"/>
            </a:pPr>
            <a:r>
              <a:rPr lang="en-US" sz="2900">
                <a:solidFill>
                  <a:schemeClr val="dk2"/>
                </a:solidFill>
              </a:rPr>
              <a:t>Businesses that need complete control and security over IT workloads and the underlying infrastructure</a:t>
            </a:r>
            <a:endParaRPr sz="2900">
              <a:solidFill>
                <a:schemeClr val="dk2"/>
              </a:solidFill>
            </a:endParaRPr>
          </a:p>
          <a:p>
            <a:pPr indent="0" lvl="0" marL="0" rtl="0" algn="l">
              <a:lnSpc>
                <a:spcPct val="100000"/>
              </a:lnSpc>
              <a:spcBef>
                <a:spcPts val="1000"/>
              </a:spcBef>
              <a:spcAft>
                <a:spcPts val="0"/>
              </a:spcAft>
              <a:buNone/>
            </a:pPr>
            <a:r>
              <a:t/>
            </a:r>
            <a:endParaRPr/>
          </a:p>
        </p:txBody>
      </p:sp>
      <p:pic>
        <p:nvPicPr>
          <p:cNvPr descr="Cloud shaped hard drive with cables" id="843" name="Google Shape;843;p29"/>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3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49" name="Google Shape;849;p30"/>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50" name="Google Shape;850;p30"/>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851" name="Google Shape;851;p30"/>
          <p:cNvGrpSpPr/>
          <p:nvPr/>
        </p:nvGrpSpPr>
        <p:grpSpPr>
          <a:xfrm>
            <a:off x="0" y="0"/>
            <a:ext cx="12214827" cy="6858000"/>
            <a:chOff x="-6214" y="-1"/>
            <a:chExt cx="12214827" cy="6858000"/>
          </a:xfrm>
        </p:grpSpPr>
        <p:cxnSp>
          <p:nvCxnSpPr>
            <p:cNvPr id="852" name="Google Shape;852;p30"/>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3" name="Google Shape;853;p30"/>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4" name="Google Shape;854;p30"/>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5" name="Google Shape;855;p30"/>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6" name="Google Shape;856;p30"/>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7" name="Google Shape;857;p30"/>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8" name="Google Shape;858;p30"/>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59" name="Google Shape;859;p30"/>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0" name="Google Shape;860;p30"/>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1" name="Google Shape;861;p30"/>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2" name="Google Shape;862;p30"/>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3" name="Google Shape;863;p30"/>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4" name="Google Shape;864;p30"/>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5" name="Google Shape;865;p30"/>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6" name="Google Shape;866;p30"/>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7" name="Google Shape;867;p30"/>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8" name="Google Shape;868;p30"/>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69" name="Google Shape;869;p30"/>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0" name="Google Shape;870;p30"/>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1" name="Google Shape;871;p30"/>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2" name="Google Shape;872;p30"/>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3" name="Google Shape;873;p30"/>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4" name="Google Shape;874;p30"/>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5" name="Google Shape;875;p30"/>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6" name="Google Shape;876;p30"/>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7" name="Google Shape;877;p30"/>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8" name="Google Shape;878;p30"/>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79" name="Google Shape;879;p30"/>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880" name="Google Shape;880;p30"/>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881" name="Google Shape;881;p30"/>
          <p:cNvSpPr txBox="1"/>
          <p:nvPr>
            <p:ph idx="4294967295" type="ctrTitle"/>
          </p:nvPr>
        </p:nvSpPr>
        <p:spPr>
          <a:xfrm>
            <a:off x="478972" y="193054"/>
            <a:ext cx="5716500" cy="1256100"/>
          </a:xfrm>
          <a:prstGeom prst="rect">
            <a:avLst/>
          </a:prstGeom>
          <a:noFill/>
          <a:ln>
            <a:noFill/>
          </a:ln>
        </p:spPr>
        <p:txBody>
          <a:bodyPr anchorCtr="0" anchor="ctr" bIns="45700" lIns="91425" spcFirstLastPara="1" rIns="91425" wrap="square" tIns="45700">
            <a:normAutofit fontScale="90000"/>
          </a:bodyPr>
          <a:lstStyle/>
          <a:p>
            <a:pPr indent="0" lvl="0" marL="0" marR="0" rtl="0" algn="l">
              <a:lnSpc>
                <a:spcPct val="90000"/>
              </a:lnSpc>
              <a:spcBef>
                <a:spcPts val="0"/>
              </a:spcBef>
              <a:spcAft>
                <a:spcPts val="0"/>
              </a:spcAft>
              <a:buClr>
                <a:schemeClr val="dk2"/>
              </a:buClr>
              <a:buSzPct val="100000"/>
              <a:buFont typeface="Arial"/>
              <a:buNone/>
            </a:pPr>
            <a:r>
              <a:rPr b="0" i="0" lang="en-US" sz="4400" u="none" cap="none" strike="noStrike">
                <a:solidFill>
                  <a:schemeClr val="dk2"/>
                </a:solidFill>
                <a:latin typeface="Arial"/>
                <a:ea typeface="Arial"/>
                <a:cs typeface="Arial"/>
                <a:sym typeface="Arial"/>
              </a:rPr>
              <a:t>Private clouds are best suited for:</a:t>
            </a:r>
            <a:endParaRPr b="0" i="0" sz="4400" u="none" cap="none" strike="noStrike">
              <a:solidFill>
                <a:schemeClr val="dk2"/>
              </a:solidFill>
              <a:latin typeface="Arial"/>
              <a:ea typeface="Arial"/>
              <a:cs typeface="Arial"/>
              <a:sym typeface="Arial"/>
            </a:endParaRPr>
          </a:p>
        </p:txBody>
      </p:sp>
      <p:sp>
        <p:nvSpPr>
          <p:cNvPr id="882" name="Google Shape;882;p30"/>
          <p:cNvSpPr txBox="1"/>
          <p:nvPr>
            <p:ph idx="1" type="body"/>
          </p:nvPr>
        </p:nvSpPr>
        <p:spPr>
          <a:xfrm>
            <a:off x="457200" y="1556657"/>
            <a:ext cx="5738100" cy="4717800"/>
          </a:xfrm>
          <a:prstGeom prst="rect">
            <a:avLst/>
          </a:prstGeom>
          <a:noFill/>
          <a:ln>
            <a:noFill/>
          </a:ln>
        </p:spPr>
        <p:txBody>
          <a:bodyPr anchorCtr="0" anchor="t" bIns="45700" lIns="91425" spcFirstLastPara="1" rIns="91425" wrap="square" tIns="45700">
            <a:normAutofit/>
          </a:bodyPr>
          <a:lstStyle/>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O</a:t>
            </a:r>
            <a:r>
              <a:rPr lang="en-US" sz="2900">
                <a:solidFill>
                  <a:schemeClr val="dk2"/>
                </a:solidFill>
              </a:rPr>
              <a:t>rganizations that can afford to invest in high-performance technologies</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Large enterprises that need the power of an advanced data center able to operate efficiently and cost-effectively</a:t>
            </a:r>
            <a:endParaRPr sz="2900"/>
          </a:p>
        </p:txBody>
      </p:sp>
      <p:pic>
        <p:nvPicPr>
          <p:cNvPr descr="Cloud shaped hard drive with cables" id="883" name="Google Shape;883;p30"/>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7" name="Shape 887"/>
        <p:cNvGrpSpPr/>
        <p:nvPr/>
      </p:nvGrpSpPr>
      <p:grpSpPr>
        <a:xfrm>
          <a:off x="0" y="0"/>
          <a:ext cx="0" cy="0"/>
          <a:chOff x="0" y="0"/>
          <a:chExt cx="0" cy="0"/>
        </a:xfrm>
      </p:grpSpPr>
      <p:sp>
        <p:nvSpPr>
          <p:cNvPr id="888" name="Google Shape;888;p3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89" name="Google Shape;889;p31"/>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890" name="Google Shape;890;p31"/>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891" name="Google Shape;891;p31"/>
          <p:cNvGrpSpPr/>
          <p:nvPr/>
        </p:nvGrpSpPr>
        <p:grpSpPr>
          <a:xfrm>
            <a:off x="0" y="0"/>
            <a:ext cx="12214827" cy="6858000"/>
            <a:chOff x="-6214" y="-1"/>
            <a:chExt cx="12214827" cy="6858000"/>
          </a:xfrm>
        </p:grpSpPr>
        <p:cxnSp>
          <p:nvCxnSpPr>
            <p:cNvPr id="892" name="Google Shape;892;p31"/>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3" name="Google Shape;893;p31"/>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4" name="Google Shape;894;p31"/>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5" name="Google Shape;895;p31"/>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6" name="Google Shape;896;p31"/>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7" name="Google Shape;897;p31"/>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8" name="Google Shape;898;p31"/>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899" name="Google Shape;899;p31"/>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0" name="Google Shape;900;p31"/>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1" name="Google Shape;901;p31"/>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2" name="Google Shape;902;p31"/>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3" name="Google Shape;903;p31"/>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4" name="Google Shape;904;p31"/>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5" name="Google Shape;905;p31"/>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6" name="Google Shape;906;p31"/>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7" name="Google Shape;907;p31"/>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8" name="Google Shape;908;p31"/>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09" name="Google Shape;909;p31"/>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0" name="Google Shape;910;p31"/>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1" name="Google Shape;911;p31"/>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2" name="Google Shape;912;p31"/>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3" name="Google Shape;913;p31"/>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4" name="Google Shape;914;p31"/>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5" name="Google Shape;915;p31"/>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6" name="Google Shape;916;p31"/>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7" name="Google Shape;917;p31"/>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8" name="Google Shape;918;p31"/>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19" name="Google Shape;919;p31"/>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920" name="Google Shape;920;p31"/>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921" name="Google Shape;921;p31"/>
          <p:cNvSpPr txBox="1"/>
          <p:nvPr>
            <p:ph idx="4294967295" type="ctrTitle"/>
          </p:nvPr>
        </p:nvSpPr>
        <p:spPr>
          <a:xfrm>
            <a:off x="457200" y="171717"/>
            <a:ext cx="5738170" cy="143936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Private Cloud?</a:t>
            </a:r>
            <a:endParaRPr/>
          </a:p>
        </p:txBody>
      </p:sp>
      <p:sp>
        <p:nvSpPr>
          <p:cNvPr id="922" name="Google Shape;922;p31"/>
          <p:cNvSpPr txBox="1"/>
          <p:nvPr>
            <p:ph idx="1" type="body"/>
          </p:nvPr>
        </p:nvSpPr>
        <p:spPr>
          <a:xfrm>
            <a:off x="457199" y="1676400"/>
            <a:ext cx="5852111" cy="4597926"/>
          </a:xfrm>
          <a:prstGeom prst="rect">
            <a:avLst/>
          </a:prstGeom>
          <a:noFill/>
          <a:ln>
            <a:noFill/>
          </a:ln>
        </p:spPr>
        <p:txBody>
          <a:bodyPr anchorCtr="0" anchor="t" bIns="45700" lIns="91425" spcFirstLastPara="1" rIns="91425" wrap="square" tIns="45700">
            <a:noAutofit/>
          </a:bodyPr>
          <a:lstStyle/>
          <a:p>
            <a:pPr indent="-327025" lvl="0" marL="228600" rtl="0" algn="l">
              <a:lnSpc>
                <a:spcPct val="100000"/>
              </a:lnSpc>
              <a:spcBef>
                <a:spcPts val="0"/>
              </a:spcBef>
              <a:spcAft>
                <a:spcPts val="0"/>
              </a:spcAft>
              <a:buClr>
                <a:srgbClr val="585298"/>
              </a:buClr>
              <a:buSzPts val="2900"/>
              <a:buFont typeface="Noto Sans Symbols"/>
              <a:buChar char="⮚"/>
            </a:pPr>
            <a:r>
              <a:rPr b="1" lang="en-US" sz="2900">
                <a:solidFill>
                  <a:schemeClr val="dk2"/>
                </a:solidFill>
              </a:rPr>
              <a:t>Exclusive, dedicated environment</a:t>
            </a:r>
            <a:r>
              <a:rPr lang="en-US" sz="2900">
                <a:solidFill>
                  <a:schemeClr val="dk2"/>
                </a:solidFill>
              </a:rPr>
              <a:t>s — The private cloud is for your use only</a:t>
            </a:r>
            <a:endParaRPr sz="2900">
              <a:solidFill>
                <a:schemeClr val="dk2"/>
              </a:solidFill>
            </a:endParaRPr>
          </a:p>
          <a:p>
            <a:pPr indent="0" lvl="0" marL="228600" rtl="0" algn="l">
              <a:lnSpc>
                <a:spcPct val="100000"/>
              </a:lnSpc>
              <a:spcBef>
                <a:spcPts val="0"/>
              </a:spcBef>
              <a:spcAft>
                <a:spcPts val="0"/>
              </a:spcAft>
              <a:buNone/>
            </a:pPr>
            <a:r>
              <a:t/>
            </a:r>
            <a:endParaRPr sz="2900">
              <a:solidFill>
                <a:schemeClr val="dk2"/>
              </a:solidFill>
            </a:endParaRPr>
          </a:p>
          <a:p>
            <a:pPr indent="-327025"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Somewhat scalable </a:t>
            </a:r>
            <a:r>
              <a:rPr lang="en-US" sz="2900">
                <a:solidFill>
                  <a:schemeClr val="dk2"/>
                </a:solidFill>
              </a:rPr>
              <a:t>— The environment can be scaled as needed without tradeoffs</a:t>
            </a:r>
            <a:endParaRPr sz="2900"/>
          </a:p>
          <a:p>
            <a:pPr indent="0" lvl="0" marL="228600" rtl="0" algn="l">
              <a:lnSpc>
                <a:spcPct val="100000"/>
              </a:lnSpc>
              <a:spcBef>
                <a:spcPts val="1000"/>
              </a:spcBef>
              <a:spcAft>
                <a:spcPts val="0"/>
              </a:spcAft>
              <a:buNone/>
            </a:pPr>
            <a:r>
              <a:t/>
            </a:r>
            <a:endParaRPr sz="2900"/>
          </a:p>
        </p:txBody>
      </p:sp>
      <p:pic>
        <p:nvPicPr>
          <p:cNvPr descr="Cloud shaped hard drive with cables" id="923" name="Google Shape;923;p31"/>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7" name="Shape 927"/>
        <p:cNvGrpSpPr/>
        <p:nvPr/>
      </p:nvGrpSpPr>
      <p:grpSpPr>
        <a:xfrm>
          <a:off x="0" y="0"/>
          <a:ext cx="0" cy="0"/>
          <a:chOff x="0" y="0"/>
          <a:chExt cx="0" cy="0"/>
        </a:xfrm>
      </p:grpSpPr>
      <p:sp>
        <p:nvSpPr>
          <p:cNvPr id="928" name="Google Shape;928;p32"/>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29" name="Google Shape;929;p32"/>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30" name="Google Shape;930;p32"/>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931" name="Google Shape;931;p32"/>
          <p:cNvGrpSpPr/>
          <p:nvPr/>
        </p:nvGrpSpPr>
        <p:grpSpPr>
          <a:xfrm>
            <a:off x="0" y="0"/>
            <a:ext cx="12214827" cy="6858000"/>
            <a:chOff x="-6214" y="-1"/>
            <a:chExt cx="12214827" cy="6858000"/>
          </a:xfrm>
        </p:grpSpPr>
        <p:cxnSp>
          <p:nvCxnSpPr>
            <p:cNvPr id="932" name="Google Shape;932;p32"/>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3" name="Google Shape;933;p32"/>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4" name="Google Shape;934;p32"/>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5" name="Google Shape;935;p32"/>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6" name="Google Shape;936;p32"/>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7" name="Google Shape;937;p32"/>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8" name="Google Shape;938;p32"/>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39" name="Google Shape;939;p32"/>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0" name="Google Shape;940;p32"/>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1" name="Google Shape;941;p32"/>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2" name="Google Shape;942;p32"/>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3" name="Google Shape;943;p32"/>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4" name="Google Shape;944;p32"/>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5" name="Google Shape;945;p32"/>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6" name="Google Shape;946;p32"/>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7" name="Google Shape;947;p32"/>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8" name="Google Shape;948;p32"/>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49" name="Google Shape;949;p32"/>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0" name="Google Shape;950;p32"/>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1" name="Google Shape;951;p32"/>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2" name="Google Shape;952;p32"/>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3" name="Google Shape;953;p32"/>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4" name="Google Shape;954;p32"/>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5" name="Google Shape;955;p32"/>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6" name="Google Shape;956;p32"/>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7" name="Google Shape;957;p32"/>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8" name="Google Shape;958;p32"/>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59" name="Google Shape;959;p32"/>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60" name="Google Shape;960;p32"/>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961" name="Google Shape;961;p32"/>
          <p:cNvSpPr txBox="1"/>
          <p:nvPr>
            <p:ph idx="4294967295" type="ctrTitle"/>
          </p:nvPr>
        </p:nvSpPr>
        <p:spPr>
          <a:xfrm>
            <a:off x="457200" y="171717"/>
            <a:ext cx="5738100" cy="1439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Private Cloud?</a:t>
            </a:r>
            <a:endParaRPr/>
          </a:p>
        </p:txBody>
      </p:sp>
      <p:sp>
        <p:nvSpPr>
          <p:cNvPr id="962" name="Google Shape;962;p32"/>
          <p:cNvSpPr txBox="1"/>
          <p:nvPr>
            <p:ph idx="1" type="body"/>
          </p:nvPr>
        </p:nvSpPr>
        <p:spPr>
          <a:xfrm>
            <a:off x="457199" y="1676400"/>
            <a:ext cx="5852100" cy="4597800"/>
          </a:xfrm>
          <a:prstGeom prst="rect">
            <a:avLst/>
          </a:prstGeom>
          <a:noFill/>
          <a:ln>
            <a:noFill/>
          </a:ln>
        </p:spPr>
        <p:txBody>
          <a:bodyPr anchorCtr="0" anchor="t" bIns="45700" lIns="91425" spcFirstLastPara="1" rIns="91425" wrap="square" tIns="45700">
            <a:noAutofit/>
          </a:bodyPr>
          <a:lstStyle/>
          <a:p>
            <a:pPr indent="-327025"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Customizable security </a:t>
            </a:r>
            <a:r>
              <a:rPr lang="en-US" sz="2900">
                <a:solidFill>
                  <a:schemeClr val="dk2"/>
                </a:solidFill>
              </a:rPr>
              <a:t>— The private cloud complies with stringent regulations, keeping data safe and secure through protocol runs, configurations, and measures based on the company’s unique workload requirements</a:t>
            </a:r>
            <a:endParaRPr sz="2900"/>
          </a:p>
          <a:p>
            <a:pPr indent="0" lvl="0" marL="228600" rtl="0" algn="l">
              <a:lnSpc>
                <a:spcPct val="100000"/>
              </a:lnSpc>
              <a:spcBef>
                <a:spcPts val="1000"/>
              </a:spcBef>
              <a:spcAft>
                <a:spcPts val="0"/>
              </a:spcAft>
              <a:buNone/>
            </a:pPr>
            <a:r>
              <a:t/>
            </a:r>
            <a:endParaRPr sz="2900"/>
          </a:p>
        </p:txBody>
      </p:sp>
      <p:pic>
        <p:nvPicPr>
          <p:cNvPr descr="Cloud shaped hard drive with cables" id="963" name="Google Shape;963;p32"/>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7" name="Shape 967"/>
        <p:cNvGrpSpPr/>
        <p:nvPr/>
      </p:nvGrpSpPr>
      <p:grpSpPr>
        <a:xfrm>
          <a:off x="0" y="0"/>
          <a:ext cx="0" cy="0"/>
          <a:chOff x="0" y="0"/>
          <a:chExt cx="0" cy="0"/>
        </a:xfrm>
      </p:grpSpPr>
      <p:sp>
        <p:nvSpPr>
          <p:cNvPr id="968" name="Google Shape;968;p3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69" name="Google Shape;969;p33"/>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970" name="Google Shape;970;p33"/>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971" name="Google Shape;971;p33"/>
          <p:cNvGrpSpPr/>
          <p:nvPr/>
        </p:nvGrpSpPr>
        <p:grpSpPr>
          <a:xfrm>
            <a:off x="0" y="0"/>
            <a:ext cx="12214827" cy="6858000"/>
            <a:chOff x="-6214" y="-1"/>
            <a:chExt cx="12214827" cy="6858000"/>
          </a:xfrm>
        </p:grpSpPr>
        <p:cxnSp>
          <p:nvCxnSpPr>
            <p:cNvPr id="972" name="Google Shape;972;p33"/>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3" name="Google Shape;973;p33"/>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4" name="Google Shape;974;p33"/>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5" name="Google Shape;975;p33"/>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6" name="Google Shape;976;p33"/>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7" name="Google Shape;977;p33"/>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8" name="Google Shape;978;p33"/>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79" name="Google Shape;979;p33"/>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0" name="Google Shape;980;p33"/>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1" name="Google Shape;981;p33"/>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2" name="Google Shape;982;p33"/>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3" name="Google Shape;983;p33"/>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4" name="Google Shape;984;p33"/>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5" name="Google Shape;985;p33"/>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6" name="Google Shape;986;p33"/>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7" name="Google Shape;987;p33"/>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8" name="Google Shape;988;p33"/>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89" name="Google Shape;989;p33"/>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0" name="Google Shape;990;p33"/>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1" name="Google Shape;991;p33"/>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2" name="Google Shape;992;p33"/>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3" name="Google Shape;993;p33"/>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4" name="Google Shape;994;p33"/>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5" name="Google Shape;995;p33"/>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6" name="Google Shape;996;p33"/>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7" name="Google Shape;997;p33"/>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8" name="Google Shape;998;p33"/>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999" name="Google Shape;999;p33"/>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00" name="Google Shape;1000;p33"/>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001" name="Google Shape;1001;p33"/>
          <p:cNvSpPr txBox="1"/>
          <p:nvPr>
            <p:ph idx="4294967295" type="ctrTitle"/>
          </p:nvPr>
        </p:nvSpPr>
        <p:spPr>
          <a:xfrm>
            <a:off x="457200" y="171717"/>
            <a:ext cx="5738100" cy="1439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Are the Benefits of a Private Cloud?</a:t>
            </a:r>
            <a:endParaRPr/>
          </a:p>
        </p:txBody>
      </p:sp>
      <p:sp>
        <p:nvSpPr>
          <p:cNvPr id="1002" name="Google Shape;1002;p33"/>
          <p:cNvSpPr txBox="1"/>
          <p:nvPr>
            <p:ph idx="1" type="body"/>
          </p:nvPr>
        </p:nvSpPr>
        <p:spPr>
          <a:xfrm>
            <a:off x="457199" y="1676400"/>
            <a:ext cx="5852100" cy="4597800"/>
          </a:xfrm>
          <a:prstGeom prst="rect">
            <a:avLst/>
          </a:prstGeom>
          <a:noFill/>
          <a:ln>
            <a:noFill/>
          </a:ln>
        </p:spPr>
        <p:txBody>
          <a:bodyPr anchorCtr="0" anchor="t" bIns="45700" lIns="91425" spcFirstLastPara="1" rIns="91425" wrap="square" tIns="45700">
            <a:noAutofit/>
          </a:bodyPr>
          <a:lstStyle/>
          <a:p>
            <a:pPr indent="-327025"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Highly efficient </a:t>
            </a:r>
            <a:r>
              <a:rPr lang="en-US" sz="2900">
                <a:solidFill>
                  <a:schemeClr val="dk2"/>
                </a:solidFill>
              </a:rPr>
              <a:t>— The performance of a private cloud is reliable and efficient</a:t>
            </a:r>
            <a:endParaRPr sz="2900">
              <a:solidFill>
                <a:schemeClr val="dk2"/>
              </a:solidFill>
            </a:endParaRPr>
          </a:p>
          <a:p>
            <a:pPr indent="0" lvl="0" marL="228600" rtl="0" algn="l">
              <a:lnSpc>
                <a:spcPct val="100000"/>
              </a:lnSpc>
              <a:spcBef>
                <a:spcPts val="1000"/>
              </a:spcBef>
              <a:spcAft>
                <a:spcPts val="0"/>
              </a:spcAft>
              <a:buNone/>
            </a:pPr>
            <a:r>
              <a:t/>
            </a:r>
            <a:endParaRPr sz="2900">
              <a:solidFill>
                <a:schemeClr val="dk2"/>
              </a:solidFill>
            </a:endParaRPr>
          </a:p>
          <a:p>
            <a:pPr indent="-327025"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Flexible</a:t>
            </a:r>
            <a:r>
              <a:rPr lang="en-US" sz="2900">
                <a:solidFill>
                  <a:schemeClr val="dk2"/>
                </a:solidFill>
              </a:rPr>
              <a:t> — The private cloud is able to transform its infrastructure according to the growing and changing needs of the organization</a:t>
            </a:r>
            <a:endParaRPr sz="2900"/>
          </a:p>
        </p:txBody>
      </p:sp>
      <p:pic>
        <p:nvPicPr>
          <p:cNvPr descr="Cloud shaped hard drive with cables" id="1003" name="Google Shape;1003;p33"/>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7" name="Shape 1007"/>
        <p:cNvGrpSpPr/>
        <p:nvPr/>
      </p:nvGrpSpPr>
      <p:grpSpPr>
        <a:xfrm>
          <a:off x="0" y="0"/>
          <a:ext cx="0" cy="0"/>
          <a:chOff x="0" y="0"/>
          <a:chExt cx="0" cy="0"/>
        </a:xfrm>
      </p:grpSpPr>
      <p:sp>
        <p:nvSpPr>
          <p:cNvPr id="1008" name="Google Shape;1008;p3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09" name="Google Shape;1009;p34"/>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10" name="Google Shape;1010;p34"/>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011" name="Google Shape;1011;p34"/>
          <p:cNvGrpSpPr/>
          <p:nvPr/>
        </p:nvGrpSpPr>
        <p:grpSpPr>
          <a:xfrm>
            <a:off x="0" y="0"/>
            <a:ext cx="12214827" cy="6858000"/>
            <a:chOff x="-6214" y="-1"/>
            <a:chExt cx="12214827" cy="6858000"/>
          </a:xfrm>
        </p:grpSpPr>
        <p:cxnSp>
          <p:nvCxnSpPr>
            <p:cNvPr id="1012" name="Google Shape;1012;p34"/>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3" name="Google Shape;1013;p34"/>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4" name="Google Shape;1014;p34"/>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5" name="Google Shape;1015;p34"/>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6" name="Google Shape;1016;p34"/>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7" name="Google Shape;1017;p34"/>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8" name="Google Shape;1018;p34"/>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19" name="Google Shape;1019;p34"/>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0" name="Google Shape;1020;p34"/>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1" name="Google Shape;1021;p34"/>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2" name="Google Shape;1022;p34"/>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3" name="Google Shape;1023;p34"/>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4" name="Google Shape;1024;p34"/>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5" name="Google Shape;1025;p34"/>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6" name="Google Shape;1026;p34"/>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7" name="Google Shape;1027;p34"/>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8" name="Google Shape;1028;p34"/>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29" name="Google Shape;1029;p34"/>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0" name="Google Shape;1030;p34"/>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1" name="Google Shape;1031;p34"/>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2" name="Google Shape;1032;p34"/>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3" name="Google Shape;1033;p34"/>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4" name="Google Shape;1034;p34"/>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5" name="Google Shape;1035;p34"/>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6" name="Google Shape;1036;p34"/>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7" name="Google Shape;1037;p34"/>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8" name="Google Shape;1038;p34"/>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39" name="Google Shape;1039;p34"/>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040" name="Google Shape;1040;p34"/>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041" name="Google Shape;1041;p34"/>
          <p:cNvSpPr txBox="1"/>
          <p:nvPr>
            <p:ph idx="4294967295" type="ctrTitle"/>
          </p:nvPr>
        </p:nvSpPr>
        <p:spPr>
          <a:xfrm>
            <a:off x="389901" y="182168"/>
            <a:ext cx="5805469" cy="145069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Drawbacks of a Private Cloud</a:t>
            </a:r>
            <a:endParaRPr/>
          </a:p>
        </p:txBody>
      </p:sp>
      <p:sp>
        <p:nvSpPr>
          <p:cNvPr id="1042" name="Google Shape;1042;p34"/>
          <p:cNvSpPr txBox="1"/>
          <p:nvPr>
            <p:ph idx="1" type="body"/>
          </p:nvPr>
        </p:nvSpPr>
        <p:spPr>
          <a:xfrm>
            <a:off x="457200" y="1843287"/>
            <a:ext cx="5738170" cy="4431039"/>
          </a:xfrm>
          <a:prstGeom prst="rect">
            <a:avLst/>
          </a:prstGeom>
          <a:noFill/>
          <a:ln>
            <a:noFill/>
          </a:ln>
        </p:spPr>
        <p:txBody>
          <a:bodyPr anchorCtr="0" anchor="t" bIns="45700" lIns="91425" spcFirstLastPara="1" rIns="91425" wrap="square" tIns="45700">
            <a:normAutofit/>
          </a:bodyPr>
          <a:lstStyle/>
          <a:p>
            <a:pPr indent="-317500" lvl="0" marL="228600" rtl="0" algn="l">
              <a:lnSpc>
                <a:spcPct val="100000"/>
              </a:lnSpc>
              <a:spcBef>
                <a:spcPts val="0"/>
              </a:spcBef>
              <a:spcAft>
                <a:spcPts val="0"/>
              </a:spcAft>
              <a:buClr>
                <a:srgbClr val="585298"/>
              </a:buClr>
              <a:buSzPts val="2900"/>
              <a:buFont typeface="Noto Sans Symbols"/>
              <a:buChar char="⮚"/>
            </a:pPr>
            <a:r>
              <a:rPr b="1" lang="en-US" sz="2900">
                <a:solidFill>
                  <a:schemeClr val="dk2"/>
                </a:solidFill>
              </a:rPr>
              <a:t>Price</a:t>
            </a:r>
            <a:r>
              <a:rPr lang="en-US" sz="2900">
                <a:solidFill>
                  <a:schemeClr val="dk2"/>
                </a:solidFill>
              </a:rPr>
              <a:t> — The cost of a private cloud solution is quite expensive and comes with a relatively high total cost of ownership compared to public cloud alternatives, especially in the short term</a:t>
            </a:r>
            <a:endParaRPr sz="2900"/>
          </a:p>
          <a:p>
            <a:pPr indent="0" lvl="0" marL="228600" rtl="0" algn="l">
              <a:lnSpc>
                <a:spcPct val="100000"/>
              </a:lnSpc>
              <a:spcBef>
                <a:spcPts val="1000"/>
              </a:spcBef>
              <a:spcAft>
                <a:spcPts val="0"/>
              </a:spcAft>
              <a:buNone/>
            </a:pPr>
            <a:r>
              <a:t/>
            </a:r>
            <a:endParaRPr sz="2900"/>
          </a:p>
        </p:txBody>
      </p:sp>
      <p:pic>
        <p:nvPicPr>
          <p:cNvPr descr="Cloud shaped hard drive with cables" id="1043" name="Google Shape;1043;p34"/>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7" name="Shape 1047"/>
        <p:cNvGrpSpPr/>
        <p:nvPr/>
      </p:nvGrpSpPr>
      <p:grpSpPr>
        <a:xfrm>
          <a:off x="0" y="0"/>
          <a:ext cx="0" cy="0"/>
          <a:chOff x="0" y="0"/>
          <a:chExt cx="0" cy="0"/>
        </a:xfrm>
      </p:grpSpPr>
      <p:sp>
        <p:nvSpPr>
          <p:cNvPr id="1048" name="Google Shape;1048;p35"/>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49" name="Google Shape;1049;p35"/>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50" name="Google Shape;1050;p35"/>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051" name="Google Shape;1051;p35"/>
          <p:cNvGrpSpPr/>
          <p:nvPr/>
        </p:nvGrpSpPr>
        <p:grpSpPr>
          <a:xfrm>
            <a:off x="0" y="0"/>
            <a:ext cx="12214827" cy="6858000"/>
            <a:chOff x="-6214" y="-1"/>
            <a:chExt cx="12214827" cy="6858000"/>
          </a:xfrm>
        </p:grpSpPr>
        <p:cxnSp>
          <p:nvCxnSpPr>
            <p:cNvPr id="1052" name="Google Shape;1052;p35"/>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3" name="Google Shape;1053;p35"/>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4" name="Google Shape;1054;p35"/>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5" name="Google Shape;1055;p35"/>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6" name="Google Shape;1056;p35"/>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7" name="Google Shape;1057;p35"/>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8" name="Google Shape;1058;p35"/>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59" name="Google Shape;1059;p35"/>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0" name="Google Shape;1060;p35"/>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1" name="Google Shape;1061;p35"/>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2" name="Google Shape;1062;p35"/>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3" name="Google Shape;1063;p35"/>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4" name="Google Shape;1064;p35"/>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5" name="Google Shape;1065;p35"/>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6" name="Google Shape;1066;p35"/>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7" name="Google Shape;1067;p35"/>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8" name="Google Shape;1068;p35"/>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69" name="Google Shape;1069;p35"/>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0" name="Google Shape;1070;p35"/>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1" name="Google Shape;1071;p35"/>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2" name="Google Shape;1072;p35"/>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3" name="Google Shape;1073;p35"/>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4" name="Google Shape;1074;p35"/>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5" name="Google Shape;1075;p35"/>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6" name="Google Shape;1076;p35"/>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7" name="Google Shape;1077;p35"/>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8" name="Google Shape;1078;p35"/>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79" name="Google Shape;1079;p35"/>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80" name="Google Shape;1080;p35"/>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081" name="Google Shape;1081;p35"/>
          <p:cNvSpPr txBox="1"/>
          <p:nvPr>
            <p:ph idx="4294967295" type="ctrTitle"/>
          </p:nvPr>
        </p:nvSpPr>
        <p:spPr>
          <a:xfrm>
            <a:off x="389901" y="182168"/>
            <a:ext cx="5805600" cy="14508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Drawbacks of a Private Cloud</a:t>
            </a:r>
            <a:endParaRPr/>
          </a:p>
        </p:txBody>
      </p:sp>
      <p:sp>
        <p:nvSpPr>
          <p:cNvPr id="1082" name="Google Shape;1082;p35"/>
          <p:cNvSpPr txBox="1"/>
          <p:nvPr>
            <p:ph idx="1" type="body"/>
          </p:nvPr>
        </p:nvSpPr>
        <p:spPr>
          <a:xfrm>
            <a:off x="457200" y="1843287"/>
            <a:ext cx="5738100" cy="4431000"/>
          </a:xfrm>
          <a:prstGeom prst="rect">
            <a:avLst/>
          </a:prstGeom>
          <a:noFill/>
          <a:ln>
            <a:noFill/>
          </a:ln>
        </p:spPr>
        <p:txBody>
          <a:bodyPr anchorCtr="0" anchor="t" bIns="45700" lIns="91425" spcFirstLastPara="1" rIns="91425" wrap="square" tIns="45700">
            <a:normAutofit/>
          </a:bodyPr>
          <a:lstStyle/>
          <a:p>
            <a:pPr indent="-317500"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Not very mo</a:t>
            </a:r>
            <a:r>
              <a:rPr b="1" lang="en-US" sz="2900">
                <a:solidFill>
                  <a:schemeClr val="dk2"/>
                </a:solidFill>
              </a:rPr>
              <a:t>bile-friendly </a:t>
            </a:r>
            <a:r>
              <a:rPr lang="en-US" sz="2900">
                <a:solidFill>
                  <a:schemeClr val="dk2"/>
                </a:solidFill>
              </a:rPr>
              <a:t>— Mobile users may have limited access to the private cloud because of the high security measures</a:t>
            </a:r>
            <a:endParaRPr sz="2900"/>
          </a:p>
          <a:p>
            <a:pPr indent="0" lvl="0" marL="228600" rtl="0" algn="l">
              <a:lnSpc>
                <a:spcPct val="100000"/>
              </a:lnSpc>
              <a:spcBef>
                <a:spcPts val="1000"/>
              </a:spcBef>
              <a:spcAft>
                <a:spcPts val="0"/>
              </a:spcAft>
              <a:buNone/>
            </a:pPr>
            <a:r>
              <a:t/>
            </a:r>
            <a:endParaRPr sz="2900"/>
          </a:p>
        </p:txBody>
      </p:sp>
      <p:pic>
        <p:nvPicPr>
          <p:cNvPr descr="Cloud shaped hard drive with cables" id="1083" name="Google Shape;1083;p35"/>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7" name="Shape 1087"/>
        <p:cNvGrpSpPr/>
        <p:nvPr/>
      </p:nvGrpSpPr>
      <p:grpSpPr>
        <a:xfrm>
          <a:off x="0" y="0"/>
          <a:ext cx="0" cy="0"/>
          <a:chOff x="0" y="0"/>
          <a:chExt cx="0" cy="0"/>
        </a:xfrm>
      </p:grpSpPr>
      <p:sp>
        <p:nvSpPr>
          <p:cNvPr id="1088" name="Google Shape;1088;p3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89" name="Google Shape;1089;p36"/>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90" name="Google Shape;1090;p36"/>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091" name="Google Shape;1091;p36"/>
          <p:cNvGrpSpPr/>
          <p:nvPr/>
        </p:nvGrpSpPr>
        <p:grpSpPr>
          <a:xfrm>
            <a:off x="0" y="0"/>
            <a:ext cx="12214827" cy="6858000"/>
            <a:chOff x="-6214" y="-1"/>
            <a:chExt cx="12214827" cy="6858000"/>
          </a:xfrm>
        </p:grpSpPr>
        <p:cxnSp>
          <p:nvCxnSpPr>
            <p:cNvPr id="1092" name="Google Shape;1092;p36"/>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3" name="Google Shape;1093;p36"/>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4" name="Google Shape;1094;p36"/>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5" name="Google Shape;1095;p36"/>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6" name="Google Shape;1096;p36"/>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7" name="Google Shape;1097;p36"/>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8" name="Google Shape;1098;p36"/>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099" name="Google Shape;1099;p36"/>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0" name="Google Shape;1100;p36"/>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1" name="Google Shape;1101;p36"/>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2" name="Google Shape;1102;p36"/>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3" name="Google Shape;1103;p36"/>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4" name="Google Shape;1104;p36"/>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5" name="Google Shape;1105;p36"/>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6" name="Google Shape;1106;p36"/>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7" name="Google Shape;1107;p36"/>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8" name="Google Shape;1108;p36"/>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09" name="Google Shape;1109;p36"/>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0" name="Google Shape;1110;p36"/>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1" name="Google Shape;1111;p36"/>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2" name="Google Shape;1112;p36"/>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3" name="Google Shape;1113;p36"/>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4" name="Google Shape;1114;p36"/>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5" name="Google Shape;1115;p36"/>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6" name="Google Shape;1116;p36"/>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7" name="Google Shape;1117;p36"/>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8" name="Google Shape;1118;p36"/>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19" name="Google Shape;1119;p36"/>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120" name="Google Shape;1120;p36"/>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121" name="Google Shape;1121;p36"/>
          <p:cNvSpPr txBox="1"/>
          <p:nvPr>
            <p:ph idx="4294967295" type="ctrTitle"/>
          </p:nvPr>
        </p:nvSpPr>
        <p:spPr>
          <a:xfrm>
            <a:off x="389901" y="182168"/>
            <a:ext cx="5805600" cy="14508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Drawbacks of a Private Cloud</a:t>
            </a:r>
            <a:endParaRPr/>
          </a:p>
        </p:txBody>
      </p:sp>
      <p:sp>
        <p:nvSpPr>
          <p:cNvPr id="1122" name="Google Shape;1122;p36"/>
          <p:cNvSpPr txBox="1"/>
          <p:nvPr>
            <p:ph idx="1" type="body"/>
          </p:nvPr>
        </p:nvSpPr>
        <p:spPr>
          <a:xfrm>
            <a:off x="457200" y="1843287"/>
            <a:ext cx="5738100" cy="4431000"/>
          </a:xfrm>
          <a:prstGeom prst="rect">
            <a:avLst/>
          </a:prstGeom>
          <a:noFill/>
          <a:ln>
            <a:noFill/>
          </a:ln>
        </p:spPr>
        <p:txBody>
          <a:bodyPr anchorCtr="0" anchor="t" bIns="45700" lIns="91425" spcFirstLastPara="1" rIns="91425" wrap="square" tIns="45700">
            <a:normAutofit/>
          </a:bodyPr>
          <a:lstStyle/>
          <a:p>
            <a:pPr indent="-317500" lvl="0" marL="228600" rtl="0" algn="l">
              <a:lnSpc>
                <a:spcPct val="100000"/>
              </a:lnSpc>
              <a:spcBef>
                <a:spcPts val="1000"/>
              </a:spcBef>
              <a:spcAft>
                <a:spcPts val="0"/>
              </a:spcAft>
              <a:buClr>
                <a:srgbClr val="585298"/>
              </a:buClr>
              <a:buSzPts val="2900"/>
              <a:buFont typeface="Noto Sans Symbols"/>
              <a:buChar char="⮚"/>
            </a:pPr>
            <a:r>
              <a:rPr b="1" lang="en-US" sz="2900">
                <a:solidFill>
                  <a:schemeClr val="dk2"/>
                </a:solidFill>
              </a:rPr>
              <a:t>Limited scalability </a:t>
            </a:r>
            <a:r>
              <a:rPr lang="en-US" sz="2900">
                <a:solidFill>
                  <a:schemeClr val="dk2"/>
                </a:solidFill>
              </a:rPr>
              <a:t>— The infrastructure may not offer enough scalability solutions to meet all demands, especially when the cloud data center is restricted to on-site computing resources</a:t>
            </a:r>
            <a:endParaRPr sz="2900"/>
          </a:p>
        </p:txBody>
      </p:sp>
      <p:pic>
        <p:nvPicPr>
          <p:cNvPr descr="Cloud shaped hard drive with cables" id="1123" name="Google Shape;1123;p36"/>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3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29" name="Google Shape;1129;p37"/>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30" name="Google Shape;1130;p37"/>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131" name="Google Shape;1131;p37"/>
          <p:cNvGrpSpPr/>
          <p:nvPr/>
        </p:nvGrpSpPr>
        <p:grpSpPr>
          <a:xfrm>
            <a:off x="0" y="0"/>
            <a:ext cx="12214827" cy="6858000"/>
            <a:chOff x="-6214" y="-1"/>
            <a:chExt cx="12214827" cy="6858000"/>
          </a:xfrm>
        </p:grpSpPr>
        <p:cxnSp>
          <p:nvCxnSpPr>
            <p:cNvPr id="1132" name="Google Shape;1132;p37"/>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3" name="Google Shape;1133;p37"/>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4" name="Google Shape;1134;p37"/>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5" name="Google Shape;1135;p37"/>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6" name="Google Shape;1136;p37"/>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7" name="Google Shape;1137;p37"/>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8" name="Google Shape;1138;p37"/>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39" name="Google Shape;1139;p37"/>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0" name="Google Shape;1140;p37"/>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1" name="Google Shape;1141;p37"/>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2" name="Google Shape;1142;p37"/>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3" name="Google Shape;1143;p37"/>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4" name="Google Shape;1144;p37"/>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5" name="Google Shape;1145;p37"/>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6" name="Google Shape;1146;p37"/>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7" name="Google Shape;1147;p37"/>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8" name="Google Shape;1148;p37"/>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49" name="Google Shape;1149;p37"/>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0" name="Google Shape;1150;p37"/>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1" name="Google Shape;1151;p37"/>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2" name="Google Shape;1152;p37"/>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3" name="Google Shape;1153;p37"/>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4" name="Google Shape;1154;p37"/>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5" name="Google Shape;1155;p37"/>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6" name="Google Shape;1156;p37"/>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7" name="Google Shape;1157;p37"/>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8" name="Google Shape;1158;p37"/>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59" name="Google Shape;1159;p37"/>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60" name="Google Shape;1160;p37"/>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161" name="Google Shape;1161;p37"/>
          <p:cNvSpPr txBox="1"/>
          <p:nvPr>
            <p:ph idx="4294967295" type="ctrTitle"/>
          </p:nvPr>
        </p:nvSpPr>
        <p:spPr>
          <a:xfrm>
            <a:off x="389901" y="2398023"/>
            <a:ext cx="5805469" cy="166882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Examples of Private Cloud</a:t>
            </a:r>
            <a:endParaRPr b="0" i="0" sz="4400" u="none" cap="none" strike="noStrike">
              <a:solidFill>
                <a:schemeClr val="dk2"/>
              </a:solidFill>
              <a:latin typeface="Arial"/>
              <a:ea typeface="Arial"/>
              <a:cs typeface="Arial"/>
              <a:sym typeface="Arial"/>
            </a:endParaRPr>
          </a:p>
        </p:txBody>
      </p:sp>
      <p:pic>
        <p:nvPicPr>
          <p:cNvPr descr="Graph on document with pen" id="1162" name="Google Shape;1162;p37"/>
          <p:cNvPicPr preferRelativeResize="0"/>
          <p:nvPr/>
        </p:nvPicPr>
        <p:blipFill rotWithShape="1">
          <a:blip r:embed="rId3">
            <a:alphaModFix/>
          </a:blip>
          <a:srcRect b="-4" l="28376" r="14322"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pic>
        <p:nvPicPr>
          <p:cNvPr id="1163" name="Google Shape;1163;p37"/>
          <p:cNvPicPr preferRelativeResize="0"/>
          <p:nvPr/>
        </p:nvPicPr>
        <p:blipFill rotWithShape="1">
          <a:blip r:embed="rId4">
            <a:alphaModFix/>
          </a:blip>
          <a:srcRect b="4" l="0" r="24774" t="0"/>
          <a:stretch/>
        </p:blipFill>
        <p:spPr>
          <a:xfrm>
            <a:off x="6041571" y="0"/>
            <a:ext cx="6150429" cy="685800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38"/>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69" name="Google Shape;1169;p38"/>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70" name="Google Shape;1170;p38"/>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171" name="Google Shape;1171;p38"/>
          <p:cNvGrpSpPr/>
          <p:nvPr/>
        </p:nvGrpSpPr>
        <p:grpSpPr>
          <a:xfrm>
            <a:off x="0" y="0"/>
            <a:ext cx="12214827" cy="6858000"/>
            <a:chOff x="-6214" y="-1"/>
            <a:chExt cx="12214827" cy="6858000"/>
          </a:xfrm>
        </p:grpSpPr>
        <p:cxnSp>
          <p:nvCxnSpPr>
            <p:cNvPr id="1172" name="Google Shape;1172;p38"/>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3" name="Google Shape;1173;p38"/>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4" name="Google Shape;1174;p38"/>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5" name="Google Shape;1175;p38"/>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6" name="Google Shape;1176;p38"/>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7" name="Google Shape;1177;p38"/>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8" name="Google Shape;1178;p38"/>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79" name="Google Shape;1179;p38"/>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0" name="Google Shape;1180;p38"/>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1" name="Google Shape;1181;p38"/>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2" name="Google Shape;1182;p38"/>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3" name="Google Shape;1183;p38"/>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4" name="Google Shape;1184;p38"/>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5" name="Google Shape;1185;p38"/>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6" name="Google Shape;1186;p38"/>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7" name="Google Shape;1187;p38"/>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8" name="Google Shape;1188;p38"/>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89" name="Google Shape;1189;p38"/>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0" name="Google Shape;1190;p38"/>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1" name="Google Shape;1191;p38"/>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2" name="Google Shape;1192;p38"/>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3" name="Google Shape;1193;p38"/>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4" name="Google Shape;1194;p38"/>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5" name="Google Shape;1195;p38"/>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6" name="Google Shape;1196;p38"/>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7" name="Google Shape;1197;p38"/>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8" name="Google Shape;1198;p38"/>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199" name="Google Shape;1199;p38"/>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00" name="Google Shape;1200;p38"/>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201" name="Google Shape;1201;p38"/>
          <p:cNvSpPr txBox="1"/>
          <p:nvPr>
            <p:ph idx="4294967295" type="ctrTitle"/>
          </p:nvPr>
        </p:nvSpPr>
        <p:spPr>
          <a:xfrm>
            <a:off x="389901" y="182167"/>
            <a:ext cx="4227819" cy="606623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5400"/>
              <a:buFont typeface="Arial"/>
              <a:buNone/>
            </a:pPr>
            <a:r>
              <a:rPr b="0" i="0" lang="en-US" sz="5400" u="none" cap="none" strike="noStrike">
                <a:solidFill>
                  <a:schemeClr val="dk2"/>
                </a:solidFill>
                <a:latin typeface="Arial"/>
                <a:ea typeface="Arial"/>
                <a:cs typeface="Arial"/>
                <a:sym typeface="Arial"/>
              </a:rPr>
              <a:t>Financial Sector – </a:t>
            </a:r>
            <a:br>
              <a:rPr b="0" i="0" lang="en-US" sz="5400" u="none" cap="none" strike="noStrike">
                <a:solidFill>
                  <a:schemeClr val="dk2"/>
                </a:solidFill>
                <a:latin typeface="Arial"/>
                <a:ea typeface="Arial"/>
                <a:cs typeface="Arial"/>
                <a:sym typeface="Arial"/>
              </a:rPr>
            </a:br>
            <a:r>
              <a:rPr b="0" i="0" lang="en-US" sz="5400" u="none" cap="none" strike="noStrike">
                <a:solidFill>
                  <a:schemeClr val="dk2"/>
                </a:solidFill>
                <a:latin typeface="Arial"/>
                <a:ea typeface="Arial"/>
                <a:cs typeface="Arial"/>
                <a:sym typeface="Arial"/>
              </a:rPr>
              <a:t>JPMorgan Chase</a:t>
            </a:r>
            <a:endParaRPr b="0" i="0" sz="5400" u="none" cap="none" strike="noStrike">
              <a:solidFill>
                <a:schemeClr val="dk2"/>
              </a:solidFill>
              <a:latin typeface="Arial"/>
              <a:ea typeface="Arial"/>
              <a:cs typeface="Arial"/>
              <a:sym typeface="Arial"/>
            </a:endParaRPr>
          </a:p>
        </p:txBody>
      </p:sp>
      <p:grpSp>
        <p:nvGrpSpPr>
          <p:cNvPr id="1202" name="Google Shape;1202;p38"/>
          <p:cNvGrpSpPr/>
          <p:nvPr/>
        </p:nvGrpSpPr>
        <p:grpSpPr>
          <a:xfrm>
            <a:off x="3743625" y="110050"/>
            <a:ext cx="8255683" cy="6748015"/>
            <a:chOff x="0" y="675"/>
            <a:chExt cx="7351454" cy="5534789"/>
          </a:xfrm>
        </p:grpSpPr>
        <p:sp>
          <p:nvSpPr>
            <p:cNvPr id="1203" name="Google Shape;1203;p38"/>
            <p:cNvSpPr/>
            <p:nvPr/>
          </p:nvSpPr>
          <p:spPr>
            <a:xfrm>
              <a:off x="0" y="675"/>
              <a:ext cx="7351454" cy="1581368"/>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04" name="Google Shape;1204;p38"/>
            <p:cNvSpPr/>
            <p:nvPr/>
          </p:nvSpPr>
          <p:spPr>
            <a:xfrm>
              <a:off x="478363" y="356483"/>
              <a:ext cx="869752" cy="86975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05" name="Google Shape;1205;p38"/>
            <p:cNvSpPr/>
            <p:nvPr/>
          </p:nvSpPr>
          <p:spPr>
            <a:xfrm>
              <a:off x="1826480" y="675"/>
              <a:ext cx="5524973"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06" name="Google Shape;1206;p38"/>
            <p:cNvSpPr txBox="1"/>
            <p:nvPr/>
          </p:nvSpPr>
          <p:spPr>
            <a:xfrm>
              <a:off x="1826480" y="675"/>
              <a:ext cx="5524973"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900" u="none" cap="none" strike="noStrike">
                  <a:solidFill>
                    <a:schemeClr val="dk1"/>
                  </a:solidFill>
                  <a:latin typeface="Avenir"/>
                  <a:ea typeface="Avenir"/>
                  <a:cs typeface="Avenir"/>
                  <a:sym typeface="Avenir"/>
                </a:rPr>
                <a:t>Enhanced Security: Protects sensitive financial data and transactions</a:t>
              </a:r>
              <a:endParaRPr sz="2900"/>
            </a:p>
          </p:txBody>
        </p:sp>
        <p:sp>
          <p:nvSpPr>
            <p:cNvPr id="1207" name="Google Shape;1207;p38"/>
            <p:cNvSpPr/>
            <p:nvPr/>
          </p:nvSpPr>
          <p:spPr>
            <a:xfrm>
              <a:off x="0" y="1977386"/>
              <a:ext cx="7351454" cy="1581368"/>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08" name="Google Shape;1208;p38"/>
            <p:cNvSpPr/>
            <p:nvPr/>
          </p:nvSpPr>
          <p:spPr>
            <a:xfrm>
              <a:off x="478363" y="2333194"/>
              <a:ext cx="869752" cy="86975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09" name="Google Shape;1209;p38"/>
            <p:cNvSpPr/>
            <p:nvPr/>
          </p:nvSpPr>
          <p:spPr>
            <a:xfrm>
              <a:off x="1826480" y="1977386"/>
              <a:ext cx="5524973"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10" name="Google Shape;1210;p38"/>
            <p:cNvSpPr txBox="1"/>
            <p:nvPr/>
          </p:nvSpPr>
          <p:spPr>
            <a:xfrm>
              <a:off x="1826480" y="1977386"/>
              <a:ext cx="5524973"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900" u="none" cap="none" strike="noStrike">
                  <a:solidFill>
                    <a:schemeClr val="dk1"/>
                  </a:solidFill>
                  <a:latin typeface="Avenir"/>
                  <a:ea typeface="Avenir"/>
                  <a:cs typeface="Avenir"/>
                  <a:sym typeface="Avenir"/>
                </a:rPr>
                <a:t>Compliance: Meets regulatory requirements such as GDPR and PCI DSS</a:t>
              </a:r>
              <a:endParaRPr sz="2900"/>
            </a:p>
          </p:txBody>
        </p:sp>
        <p:sp>
          <p:nvSpPr>
            <p:cNvPr id="1211" name="Google Shape;1211;p38"/>
            <p:cNvSpPr/>
            <p:nvPr/>
          </p:nvSpPr>
          <p:spPr>
            <a:xfrm>
              <a:off x="0" y="3954096"/>
              <a:ext cx="7351454" cy="1581368"/>
            </a:xfrm>
            <a:prstGeom prst="roundRect">
              <a:avLst>
                <a:gd fmla="val 10000" name="adj"/>
              </a:avLst>
            </a:prstGeom>
            <a:solidFill>
              <a:srgbClr val="7BA8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12" name="Google Shape;1212;p38"/>
            <p:cNvSpPr/>
            <p:nvPr/>
          </p:nvSpPr>
          <p:spPr>
            <a:xfrm>
              <a:off x="478363" y="4309904"/>
              <a:ext cx="869752" cy="86975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13" name="Google Shape;1213;p38"/>
            <p:cNvSpPr/>
            <p:nvPr/>
          </p:nvSpPr>
          <p:spPr>
            <a:xfrm>
              <a:off x="1826480" y="3954096"/>
              <a:ext cx="5524973"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900"/>
            </a:p>
          </p:txBody>
        </p:sp>
        <p:sp>
          <p:nvSpPr>
            <p:cNvPr id="1214" name="Google Shape;1214;p38"/>
            <p:cNvSpPr txBox="1"/>
            <p:nvPr/>
          </p:nvSpPr>
          <p:spPr>
            <a:xfrm>
              <a:off x="1826480" y="3954096"/>
              <a:ext cx="5524973"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900" u="none" cap="none" strike="noStrike">
                  <a:solidFill>
                    <a:schemeClr val="dk1"/>
                  </a:solidFill>
                  <a:latin typeface="Avenir"/>
                  <a:ea typeface="Avenir"/>
                  <a:cs typeface="Avenir"/>
                  <a:sym typeface="Avenir"/>
                </a:rPr>
                <a:t>Scalability: Supports the bank's massive operations while ensuring reliability</a:t>
              </a:r>
              <a:endParaRPr sz="29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3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20" name="Google Shape;1220;p39"/>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21" name="Google Shape;1221;p39"/>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222" name="Google Shape;1222;p39"/>
          <p:cNvGrpSpPr/>
          <p:nvPr/>
        </p:nvGrpSpPr>
        <p:grpSpPr>
          <a:xfrm>
            <a:off x="0" y="0"/>
            <a:ext cx="12214827" cy="6858000"/>
            <a:chOff x="-6214" y="-1"/>
            <a:chExt cx="12214827" cy="6858000"/>
          </a:xfrm>
        </p:grpSpPr>
        <p:cxnSp>
          <p:nvCxnSpPr>
            <p:cNvPr id="1223" name="Google Shape;1223;p39"/>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4" name="Google Shape;1224;p39"/>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5" name="Google Shape;1225;p39"/>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6" name="Google Shape;1226;p39"/>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7" name="Google Shape;1227;p39"/>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8" name="Google Shape;1228;p39"/>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29" name="Google Shape;1229;p39"/>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0" name="Google Shape;1230;p39"/>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1" name="Google Shape;1231;p39"/>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2" name="Google Shape;1232;p39"/>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3" name="Google Shape;1233;p39"/>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4" name="Google Shape;1234;p39"/>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5" name="Google Shape;1235;p39"/>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6" name="Google Shape;1236;p39"/>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7" name="Google Shape;1237;p39"/>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8" name="Google Shape;1238;p39"/>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39" name="Google Shape;1239;p39"/>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0" name="Google Shape;1240;p39"/>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1" name="Google Shape;1241;p39"/>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2" name="Google Shape;1242;p39"/>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3" name="Google Shape;1243;p39"/>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4" name="Google Shape;1244;p39"/>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5" name="Google Shape;1245;p39"/>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6" name="Google Shape;1246;p39"/>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7" name="Google Shape;1247;p39"/>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8" name="Google Shape;1248;p39"/>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49" name="Google Shape;1249;p39"/>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50" name="Google Shape;1250;p39"/>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51" name="Google Shape;1251;p39"/>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252" name="Google Shape;1252;p39"/>
          <p:cNvSpPr txBox="1"/>
          <p:nvPr>
            <p:ph type="title"/>
          </p:nvPr>
        </p:nvSpPr>
        <p:spPr>
          <a:xfrm>
            <a:off x="457200" y="365125"/>
            <a:ext cx="1072293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Arial"/>
              <a:buNone/>
            </a:pPr>
            <a:r>
              <a:t/>
            </a:r>
            <a:endParaRPr/>
          </a:p>
        </p:txBody>
      </p:sp>
      <p:sp>
        <p:nvSpPr>
          <p:cNvPr id="1253" name="Google Shape;1253;p39"/>
          <p:cNvSpPr txBox="1"/>
          <p:nvPr/>
        </p:nvSpPr>
        <p:spPr>
          <a:xfrm>
            <a:off x="635000" y="640823"/>
            <a:ext cx="3418659" cy="558314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5100"/>
              <a:buFont typeface="Arial"/>
              <a:buNone/>
            </a:pPr>
            <a:r>
              <a:rPr b="0" i="0" lang="en-US" sz="5100" u="none" cap="none" strike="noStrike">
                <a:solidFill>
                  <a:schemeClr val="dk1"/>
                </a:solidFill>
                <a:latin typeface="Arial"/>
                <a:ea typeface="Arial"/>
                <a:cs typeface="Arial"/>
                <a:sym typeface="Arial"/>
              </a:rPr>
              <a:t>Healthcare Industry - Mayo Clinic</a:t>
            </a:r>
            <a:endParaRPr b="0" i="0" sz="5100" u="none" cap="none" strike="noStrike">
              <a:solidFill>
                <a:schemeClr val="dk1"/>
              </a:solidFill>
              <a:latin typeface="Arial"/>
              <a:ea typeface="Arial"/>
              <a:cs typeface="Arial"/>
              <a:sym typeface="Arial"/>
            </a:endParaRPr>
          </a:p>
        </p:txBody>
      </p:sp>
      <p:grpSp>
        <p:nvGrpSpPr>
          <p:cNvPr id="1254" name="Google Shape;1254;p39"/>
          <p:cNvGrpSpPr/>
          <p:nvPr/>
        </p:nvGrpSpPr>
        <p:grpSpPr>
          <a:xfrm>
            <a:off x="3946600" y="0"/>
            <a:ext cx="7601604" cy="6858157"/>
            <a:chOff x="0" y="675"/>
            <a:chExt cx="6900512" cy="5534789"/>
          </a:xfrm>
        </p:grpSpPr>
        <p:sp>
          <p:nvSpPr>
            <p:cNvPr id="1255" name="Google Shape;1255;p39"/>
            <p:cNvSpPr/>
            <p:nvPr/>
          </p:nvSpPr>
          <p:spPr>
            <a:xfrm>
              <a:off x="0" y="675"/>
              <a:ext cx="6900512" cy="1581368"/>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56" name="Google Shape;1256;p39"/>
            <p:cNvSpPr/>
            <p:nvPr/>
          </p:nvSpPr>
          <p:spPr>
            <a:xfrm>
              <a:off x="478363" y="356483"/>
              <a:ext cx="869752" cy="86975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57" name="Google Shape;1257;p39"/>
            <p:cNvSpPr/>
            <p:nvPr/>
          </p:nvSpPr>
          <p:spPr>
            <a:xfrm>
              <a:off x="1826480" y="675"/>
              <a:ext cx="5074031"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58" name="Google Shape;1258;p39"/>
            <p:cNvSpPr txBox="1"/>
            <p:nvPr/>
          </p:nvSpPr>
          <p:spPr>
            <a:xfrm>
              <a:off x="1826480" y="675"/>
              <a:ext cx="5074031"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700" u="none" cap="none" strike="noStrike">
                  <a:solidFill>
                    <a:schemeClr val="dk1"/>
                  </a:solidFill>
                  <a:latin typeface="Avenir"/>
                  <a:ea typeface="Avenir"/>
                  <a:cs typeface="Avenir"/>
                  <a:sym typeface="Avenir"/>
                </a:rPr>
                <a:t>Data Security: Ensures patient confidentiality and compliance with HIPAA regulations</a:t>
              </a:r>
              <a:endParaRPr sz="2700"/>
            </a:p>
          </p:txBody>
        </p:sp>
        <p:sp>
          <p:nvSpPr>
            <p:cNvPr id="1259" name="Google Shape;1259;p39"/>
            <p:cNvSpPr/>
            <p:nvPr/>
          </p:nvSpPr>
          <p:spPr>
            <a:xfrm>
              <a:off x="0" y="1977386"/>
              <a:ext cx="6900512" cy="1581368"/>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0" name="Google Shape;1260;p39"/>
            <p:cNvSpPr/>
            <p:nvPr/>
          </p:nvSpPr>
          <p:spPr>
            <a:xfrm>
              <a:off x="478363" y="2333194"/>
              <a:ext cx="869752" cy="86975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1" name="Google Shape;1261;p39"/>
            <p:cNvSpPr/>
            <p:nvPr/>
          </p:nvSpPr>
          <p:spPr>
            <a:xfrm>
              <a:off x="1826480" y="1977386"/>
              <a:ext cx="5074031"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2" name="Google Shape;1262;p39"/>
            <p:cNvSpPr txBox="1"/>
            <p:nvPr/>
          </p:nvSpPr>
          <p:spPr>
            <a:xfrm>
              <a:off x="1826480" y="1977386"/>
              <a:ext cx="5074031"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700" u="none" cap="none" strike="noStrike">
                  <a:solidFill>
                    <a:schemeClr val="dk1"/>
                  </a:solidFill>
                  <a:latin typeface="Avenir"/>
                  <a:ea typeface="Avenir"/>
                  <a:cs typeface="Avenir"/>
                  <a:sym typeface="Avenir"/>
                </a:rPr>
                <a:t>Accessibility: Enables secure access to patient records for healthcare professionals</a:t>
              </a:r>
              <a:endParaRPr sz="2700"/>
            </a:p>
          </p:txBody>
        </p:sp>
        <p:sp>
          <p:nvSpPr>
            <p:cNvPr id="1263" name="Google Shape;1263;p39"/>
            <p:cNvSpPr/>
            <p:nvPr/>
          </p:nvSpPr>
          <p:spPr>
            <a:xfrm>
              <a:off x="0" y="3954096"/>
              <a:ext cx="6900512" cy="1581368"/>
            </a:xfrm>
            <a:prstGeom prst="roundRect">
              <a:avLst>
                <a:gd fmla="val 10000" name="adj"/>
              </a:avLst>
            </a:prstGeom>
            <a:solidFill>
              <a:srgbClr val="7BA8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4" name="Google Shape;1264;p39"/>
            <p:cNvSpPr/>
            <p:nvPr/>
          </p:nvSpPr>
          <p:spPr>
            <a:xfrm>
              <a:off x="478363" y="4309904"/>
              <a:ext cx="869752" cy="86975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5" name="Google Shape;1265;p39"/>
            <p:cNvSpPr/>
            <p:nvPr/>
          </p:nvSpPr>
          <p:spPr>
            <a:xfrm>
              <a:off x="1826480" y="3954096"/>
              <a:ext cx="5074031" cy="15813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p>
          </p:txBody>
        </p:sp>
        <p:sp>
          <p:nvSpPr>
            <p:cNvPr id="1266" name="Google Shape;1266;p39"/>
            <p:cNvSpPr txBox="1"/>
            <p:nvPr/>
          </p:nvSpPr>
          <p:spPr>
            <a:xfrm>
              <a:off x="1826480" y="3954096"/>
              <a:ext cx="5074031" cy="1581368"/>
            </a:xfrm>
            <a:prstGeom prst="rect">
              <a:avLst/>
            </a:prstGeom>
            <a:noFill/>
            <a:ln>
              <a:noFill/>
            </a:ln>
          </p:spPr>
          <p:txBody>
            <a:bodyPr anchorCtr="0" anchor="ctr" bIns="167350" lIns="167350" spcFirstLastPara="1" rIns="167350" wrap="square" tIns="167350">
              <a:noAutofit/>
            </a:bodyPr>
            <a:lstStyle/>
            <a:p>
              <a:pPr indent="0" lvl="0" marL="0" marR="0" rtl="0" algn="l">
                <a:lnSpc>
                  <a:spcPct val="90000"/>
                </a:lnSpc>
                <a:spcBef>
                  <a:spcPts val="0"/>
                </a:spcBef>
                <a:spcAft>
                  <a:spcPts val="0"/>
                </a:spcAft>
                <a:buNone/>
              </a:pPr>
              <a:r>
                <a:rPr b="0" i="0" lang="en-US" sz="2700" u="none" cap="none" strike="noStrike">
                  <a:solidFill>
                    <a:schemeClr val="dk1"/>
                  </a:solidFill>
                  <a:latin typeface="Avenir"/>
                  <a:ea typeface="Avenir"/>
                  <a:cs typeface="Avenir"/>
                  <a:sym typeface="Avenir"/>
                </a:rPr>
                <a:t>Efficiency: Streamlines administrative and clinical processes</a:t>
              </a:r>
              <a:endParaRPr sz="27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40"/>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72" name="Google Shape;1272;p40"/>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73" name="Google Shape;1273;p40"/>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274" name="Google Shape;1274;p40"/>
          <p:cNvGrpSpPr/>
          <p:nvPr/>
        </p:nvGrpSpPr>
        <p:grpSpPr>
          <a:xfrm>
            <a:off x="0" y="0"/>
            <a:ext cx="12214827" cy="6858000"/>
            <a:chOff x="-6214" y="-1"/>
            <a:chExt cx="12214827" cy="6858000"/>
          </a:xfrm>
        </p:grpSpPr>
        <p:cxnSp>
          <p:nvCxnSpPr>
            <p:cNvPr id="1275" name="Google Shape;1275;p40"/>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76" name="Google Shape;1276;p40"/>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77" name="Google Shape;1277;p40"/>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78" name="Google Shape;1278;p40"/>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79" name="Google Shape;1279;p40"/>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0" name="Google Shape;1280;p40"/>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1" name="Google Shape;1281;p40"/>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2" name="Google Shape;1282;p40"/>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3" name="Google Shape;1283;p40"/>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4" name="Google Shape;1284;p40"/>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5" name="Google Shape;1285;p40"/>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6" name="Google Shape;1286;p40"/>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7" name="Google Shape;1287;p40"/>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8" name="Google Shape;1288;p40"/>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89" name="Google Shape;1289;p40"/>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0" name="Google Shape;1290;p40"/>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1" name="Google Shape;1291;p40"/>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2" name="Google Shape;1292;p40"/>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3" name="Google Shape;1293;p40"/>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4" name="Google Shape;1294;p40"/>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5" name="Google Shape;1295;p40"/>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6" name="Google Shape;1296;p40"/>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7" name="Google Shape;1297;p40"/>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8" name="Google Shape;1298;p40"/>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299" name="Google Shape;1299;p40"/>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00" name="Google Shape;1300;p40"/>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01" name="Google Shape;1301;p40"/>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02" name="Google Shape;1302;p40"/>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03" name="Google Shape;1303;p40"/>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pic>
        <p:nvPicPr>
          <p:cNvPr id="1304" name="Google Shape;1304;p40"/>
          <p:cNvPicPr preferRelativeResize="0"/>
          <p:nvPr/>
        </p:nvPicPr>
        <p:blipFill rotWithShape="1">
          <a:blip r:embed="rId3">
            <a:alphaModFix/>
          </a:blip>
          <a:srcRect b="6250" l="47043" r="17144"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305" name="Google Shape;1305;p40"/>
          <p:cNvSpPr txBox="1"/>
          <p:nvPr/>
        </p:nvSpPr>
        <p:spPr>
          <a:xfrm>
            <a:off x="4657345" y="329184"/>
            <a:ext cx="6891527" cy="17830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5400"/>
              <a:buFont typeface="Arial"/>
              <a:buNone/>
            </a:pPr>
            <a:r>
              <a:rPr b="0" i="0" lang="en-US" sz="5400" u="none" cap="none" strike="noStrike">
                <a:solidFill>
                  <a:schemeClr val="dk1"/>
                </a:solidFill>
                <a:latin typeface="Arial"/>
                <a:ea typeface="Arial"/>
                <a:cs typeface="Arial"/>
                <a:sym typeface="Arial"/>
              </a:rPr>
              <a:t>Government Sector - NASA</a:t>
            </a:r>
            <a:endParaRPr b="0" i="0" sz="5400" u="none" cap="none" strike="noStrike">
              <a:solidFill>
                <a:schemeClr val="dk1"/>
              </a:solidFill>
              <a:latin typeface="Arial"/>
              <a:ea typeface="Arial"/>
              <a:cs typeface="Arial"/>
              <a:sym typeface="Arial"/>
            </a:endParaRPr>
          </a:p>
        </p:txBody>
      </p:sp>
      <p:sp>
        <p:nvSpPr>
          <p:cNvPr id="1306" name="Google Shape;1306;p40"/>
          <p:cNvSpPr txBox="1"/>
          <p:nvPr>
            <p:ph idx="1" type="body"/>
          </p:nvPr>
        </p:nvSpPr>
        <p:spPr>
          <a:xfrm>
            <a:off x="4846320" y="2112264"/>
            <a:ext cx="6702552" cy="4078224"/>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10000"/>
              </a:lnSpc>
              <a:spcBef>
                <a:spcPts val="0"/>
              </a:spcBef>
              <a:spcAft>
                <a:spcPts val="0"/>
              </a:spcAft>
              <a:buClr>
                <a:srgbClr val="585298"/>
              </a:buClr>
              <a:buSzPts val="2100"/>
              <a:buFont typeface="Noto Sans Symbols"/>
              <a:buChar char="⮚"/>
            </a:pPr>
            <a:r>
              <a:rPr lang="en-US">
                <a:solidFill>
                  <a:schemeClr val="dk1"/>
                </a:solidFill>
              </a:rPr>
              <a:t>Data Sovereignty: Maintains control over classified and sensitive information</a:t>
            </a:r>
            <a:endParaRPr/>
          </a:p>
          <a:p>
            <a:pPr indent="-228600" lvl="0" marL="228600" rtl="0" algn="l">
              <a:lnSpc>
                <a:spcPct val="110000"/>
              </a:lnSpc>
              <a:spcBef>
                <a:spcPts val="1000"/>
              </a:spcBef>
              <a:spcAft>
                <a:spcPts val="0"/>
              </a:spcAft>
              <a:buClr>
                <a:srgbClr val="585298"/>
              </a:buClr>
              <a:buSzPts val="2100"/>
              <a:buFont typeface="Noto Sans Symbols"/>
              <a:buChar char="⮚"/>
            </a:pPr>
            <a:r>
              <a:rPr lang="en-US">
                <a:solidFill>
                  <a:schemeClr val="dk1"/>
                </a:solidFill>
              </a:rPr>
              <a:t>Performance: Supports high-performance computing for space exploration missions</a:t>
            </a:r>
            <a:endParaRPr/>
          </a:p>
          <a:p>
            <a:pPr indent="-228600" lvl="0" marL="228600" rtl="0" algn="l">
              <a:lnSpc>
                <a:spcPct val="110000"/>
              </a:lnSpc>
              <a:spcBef>
                <a:spcPts val="1000"/>
              </a:spcBef>
              <a:spcAft>
                <a:spcPts val="0"/>
              </a:spcAft>
              <a:buClr>
                <a:srgbClr val="585298"/>
              </a:buClr>
              <a:buSzPts val="2100"/>
              <a:buFont typeface="Noto Sans Symbols"/>
              <a:buChar char="⮚"/>
            </a:pPr>
            <a:r>
              <a:rPr lang="en-US">
                <a:solidFill>
                  <a:schemeClr val="dk1"/>
                </a:solidFill>
              </a:rPr>
              <a:t>Collaboration: Facilitates collaboration among researchers and scientists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4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12" name="Google Shape;1312;p41"/>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13" name="Google Shape;1313;p41"/>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pic>
        <p:nvPicPr>
          <p:cNvPr descr="Oil refinery against blue sky" id="1314" name="Google Shape;1314;p41"/>
          <p:cNvPicPr preferRelativeResize="0"/>
          <p:nvPr/>
        </p:nvPicPr>
        <p:blipFill rotWithShape="1">
          <a:blip r:embed="rId3">
            <a:alphaModFix/>
          </a:blip>
          <a:srcRect b="-2" l="35052" r="26747"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315" name="Google Shape;1315;p41"/>
          <p:cNvSpPr txBox="1"/>
          <p:nvPr/>
        </p:nvSpPr>
        <p:spPr>
          <a:xfrm>
            <a:off x="4657345" y="10"/>
            <a:ext cx="6251110" cy="17830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5600"/>
              <a:buFont typeface="Arial"/>
              <a:buNone/>
            </a:pPr>
            <a:r>
              <a:rPr b="0" i="0" lang="en-US" sz="5600" u="none" cap="none" strike="noStrike">
                <a:solidFill>
                  <a:srgbClr val="000000"/>
                </a:solidFill>
                <a:latin typeface="Arial"/>
                <a:ea typeface="Arial"/>
                <a:cs typeface="Arial"/>
                <a:sym typeface="Arial"/>
              </a:rPr>
              <a:t>Manufacturing Industry - Toyota</a:t>
            </a:r>
            <a:endParaRPr b="0" i="0" sz="5600" u="none" cap="none" strike="noStrike">
              <a:solidFill>
                <a:srgbClr val="000000"/>
              </a:solidFill>
              <a:latin typeface="Arial"/>
              <a:ea typeface="Arial"/>
              <a:cs typeface="Arial"/>
              <a:sym typeface="Arial"/>
            </a:endParaRPr>
          </a:p>
        </p:txBody>
      </p:sp>
      <p:sp>
        <p:nvSpPr>
          <p:cNvPr id="1316" name="Google Shape;1316;p41"/>
          <p:cNvSpPr txBox="1"/>
          <p:nvPr>
            <p:ph idx="1" type="body"/>
          </p:nvPr>
        </p:nvSpPr>
        <p:spPr>
          <a:xfrm>
            <a:off x="4823460" y="1850994"/>
            <a:ext cx="7155180" cy="4846986"/>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585298"/>
              </a:buClr>
              <a:buSzPts val="2400"/>
              <a:buFont typeface="Noto Sans Symbols"/>
              <a:buChar char="⮚"/>
            </a:pPr>
            <a:r>
              <a:rPr b="0" i="0" lang="en-US" sz="2400" u="none" cap="none" strike="noStrike">
                <a:solidFill>
                  <a:srgbClr val="000000"/>
                </a:solidFill>
              </a:rPr>
              <a:t>Toyota, a leading automotive manufacturer, employs a private cloud for its manufacturing processes</a:t>
            </a:r>
            <a:endParaRPr/>
          </a:p>
          <a:p>
            <a:pPr indent="0" lvl="0" marL="0" rtl="0" algn="l">
              <a:lnSpc>
                <a:spcPct val="100000"/>
              </a:lnSpc>
              <a:spcBef>
                <a:spcPts val="0"/>
              </a:spcBef>
              <a:spcAft>
                <a:spcPts val="0"/>
              </a:spcAft>
              <a:buClr>
                <a:srgbClr val="585298"/>
              </a:buClr>
              <a:buSzPts val="2400"/>
              <a:buNone/>
            </a:pPr>
            <a:r>
              <a:rPr b="0" i="0" lang="en-US" sz="2400" u="none" cap="none" strike="noStrike">
                <a:solidFill>
                  <a:srgbClr val="000000"/>
                </a:solidFill>
              </a:rPr>
              <a:t>Benefits</a:t>
            </a:r>
            <a:endParaRPr/>
          </a:p>
          <a:p>
            <a:pPr indent="-228600" lvl="1" marL="228600" rtl="0" algn="l">
              <a:lnSpc>
                <a:spcPct val="100000"/>
              </a:lnSpc>
              <a:spcBef>
                <a:spcPts val="0"/>
              </a:spcBef>
              <a:spcAft>
                <a:spcPts val="0"/>
              </a:spcAft>
              <a:buClr>
                <a:srgbClr val="585298"/>
              </a:buClr>
              <a:buSzPts val="2400"/>
              <a:buFont typeface="Noto Sans Symbols"/>
              <a:buChar char="⮚"/>
            </a:pPr>
            <a:r>
              <a:rPr b="0" i="0" lang="en-US" u="none" cap="none" strike="noStrike">
                <a:solidFill>
                  <a:srgbClr val="000000"/>
                </a:solidFill>
              </a:rPr>
              <a:t>Intellectual Property Protection: Safeguards proprietary designs and trade secrets</a:t>
            </a:r>
            <a:endParaRPr/>
          </a:p>
          <a:p>
            <a:pPr indent="-228600" lvl="1" marL="228600" rtl="0" algn="l">
              <a:lnSpc>
                <a:spcPct val="100000"/>
              </a:lnSpc>
              <a:spcBef>
                <a:spcPts val="0"/>
              </a:spcBef>
              <a:spcAft>
                <a:spcPts val="0"/>
              </a:spcAft>
              <a:buClr>
                <a:srgbClr val="585298"/>
              </a:buClr>
              <a:buSzPts val="2400"/>
              <a:buFont typeface="Noto Sans Symbols"/>
              <a:buChar char="⮚"/>
            </a:pPr>
            <a:r>
              <a:rPr b="0" i="0" lang="en-US" u="none" cap="none" strike="noStrike">
                <a:solidFill>
                  <a:srgbClr val="000000"/>
                </a:solidFill>
              </a:rPr>
              <a:t>Efficiency: Optimizes production processes and supply chain management</a:t>
            </a:r>
            <a:endParaRPr/>
          </a:p>
          <a:p>
            <a:pPr indent="-228600" lvl="1" marL="228600" rtl="0" algn="l">
              <a:lnSpc>
                <a:spcPct val="100000"/>
              </a:lnSpc>
              <a:spcBef>
                <a:spcPts val="0"/>
              </a:spcBef>
              <a:spcAft>
                <a:spcPts val="0"/>
              </a:spcAft>
              <a:buClr>
                <a:srgbClr val="585298"/>
              </a:buClr>
              <a:buSzPts val="2400"/>
              <a:buFont typeface="Noto Sans Symbols"/>
              <a:buChar char="⮚"/>
            </a:pPr>
            <a:r>
              <a:rPr b="0" i="0" lang="en-US" u="none" cap="none" strike="noStrike">
                <a:solidFill>
                  <a:srgbClr val="000000"/>
                </a:solidFill>
              </a:rPr>
              <a:t>Flexibility: Adapts to changing market demands and production requirements</a:t>
            </a:r>
            <a:endParaRPr/>
          </a:p>
          <a:p>
            <a:pPr indent="0" lvl="0" marL="0" rtl="0" algn="l">
              <a:lnSpc>
                <a:spcPct val="100000"/>
              </a:lnSpc>
              <a:spcBef>
                <a:spcPts val="0"/>
              </a:spcBef>
              <a:spcAft>
                <a:spcPts val="0"/>
              </a:spcAft>
              <a:buClr>
                <a:srgbClr val="585298"/>
              </a:buClr>
              <a:buSzPts val="2400"/>
              <a:buNone/>
            </a:pPr>
            <a:r>
              <a:rPr b="0" i="0" lang="en-US" sz="2400" u="none" cap="none" strike="noStrike">
                <a:solidFill>
                  <a:srgbClr val="000000"/>
                </a:solidFill>
              </a:rPr>
              <a:t>Case Study Highlights: Improvements in production efficiency, quality control, and innovation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4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22" name="Google Shape;1322;p42"/>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23" name="Google Shape;1323;p42"/>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24" name="Google Shape;1324;p42"/>
          <p:cNvSpPr txBox="1"/>
          <p:nvPr/>
        </p:nvSpPr>
        <p:spPr>
          <a:xfrm>
            <a:off x="4657345" y="329184"/>
            <a:ext cx="6891527" cy="17830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5000"/>
              <a:buFont typeface="Arial"/>
              <a:buNone/>
            </a:pPr>
            <a:r>
              <a:rPr b="0" i="0" lang="en-US" sz="5000" u="none" cap="none" strike="noStrike">
                <a:solidFill>
                  <a:schemeClr val="dk1"/>
                </a:solidFill>
                <a:latin typeface="Arial"/>
                <a:ea typeface="Arial"/>
                <a:cs typeface="Arial"/>
                <a:sym typeface="Arial"/>
              </a:rPr>
              <a:t>Research Institutions - CERN</a:t>
            </a:r>
            <a:endParaRPr b="0" i="0" sz="5000" u="none" cap="none" strike="noStrike">
              <a:solidFill>
                <a:schemeClr val="dk1"/>
              </a:solidFill>
              <a:latin typeface="Arial"/>
              <a:ea typeface="Arial"/>
              <a:cs typeface="Arial"/>
              <a:sym typeface="Arial"/>
            </a:endParaRPr>
          </a:p>
        </p:txBody>
      </p:sp>
      <p:sp>
        <p:nvSpPr>
          <p:cNvPr id="1325" name="Google Shape;1325;p42"/>
          <p:cNvSpPr/>
          <p:nvPr/>
        </p:nvSpPr>
        <p:spPr>
          <a:xfrm>
            <a:off x="5412862" y="2395728"/>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rgbClr val="846EEE"/>
          </a:solidFill>
          <a:ln cap="rnd" cmpd="sng" w="38100">
            <a:solidFill>
              <a:srgbClr val="846E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venir"/>
              <a:ea typeface="Avenir"/>
              <a:cs typeface="Avenir"/>
              <a:sym typeface="Avenir"/>
            </a:endParaRPr>
          </a:p>
        </p:txBody>
      </p:sp>
      <p:sp>
        <p:nvSpPr>
          <p:cNvPr id="1326" name="Google Shape;1326;p42"/>
          <p:cNvSpPr txBox="1"/>
          <p:nvPr>
            <p:ph idx="1" type="body"/>
          </p:nvPr>
        </p:nvSpPr>
        <p:spPr>
          <a:xfrm>
            <a:off x="4657345" y="2706624"/>
            <a:ext cx="6891527" cy="3922776"/>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350"/>
              <a:buChar char="•"/>
            </a:pPr>
            <a:r>
              <a:rPr lang="en-US" sz="1800">
                <a:solidFill>
                  <a:schemeClr val="dk1"/>
                </a:solidFill>
              </a:rPr>
              <a:t>CERN, the European Organization for Nuclear Research, utilizes a private cloud for scientific data processing</a:t>
            </a:r>
            <a:endParaRPr/>
          </a:p>
          <a:p>
            <a:pPr indent="-228600" lvl="0" marL="228600" rtl="0" algn="l">
              <a:lnSpc>
                <a:spcPct val="100000"/>
              </a:lnSpc>
              <a:spcBef>
                <a:spcPts val="1000"/>
              </a:spcBef>
              <a:spcAft>
                <a:spcPts val="0"/>
              </a:spcAft>
              <a:buSzPts val="1350"/>
              <a:buChar char="•"/>
            </a:pPr>
            <a:r>
              <a:rPr lang="en-US" sz="1800">
                <a:solidFill>
                  <a:schemeClr val="dk1"/>
                </a:solidFill>
              </a:rPr>
              <a:t>Benefits</a:t>
            </a:r>
            <a:endParaRPr/>
          </a:p>
          <a:p>
            <a:pPr indent="-228600" lvl="1" marL="228600" rtl="0" algn="l">
              <a:lnSpc>
                <a:spcPct val="100000"/>
              </a:lnSpc>
              <a:spcBef>
                <a:spcPts val="500"/>
              </a:spcBef>
              <a:spcAft>
                <a:spcPts val="0"/>
              </a:spcAft>
              <a:buSzPts val="1350"/>
              <a:buChar char="•"/>
            </a:pPr>
            <a:r>
              <a:rPr lang="en-US" sz="1800">
                <a:solidFill>
                  <a:schemeClr val="dk1"/>
                </a:solidFill>
              </a:rPr>
              <a:t>Data Analysis: Handles massive volumes of data generated from particle physics experiments</a:t>
            </a:r>
            <a:endParaRPr/>
          </a:p>
          <a:p>
            <a:pPr indent="-228600" lvl="1" marL="228600" rtl="0" algn="l">
              <a:lnSpc>
                <a:spcPct val="100000"/>
              </a:lnSpc>
              <a:spcBef>
                <a:spcPts val="500"/>
              </a:spcBef>
              <a:spcAft>
                <a:spcPts val="0"/>
              </a:spcAft>
              <a:buSzPts val="1350"/>
              <a:buChar char="•"/>
            </a:pPr>
            <a:r>
              <a:rPr lang="en-US" sz="1800">
                <a:solidFill>
                  <a:schemeClr val="dk1"/>
                </a:solidFill>
              </a:rPr>
              <a:t>Collaboration: Facilitates collaboration among scientists from around the world</a:t>
            </a:r>
            <a:endParaRPr/>
          </a:p>
          <a:p>
            <a:pPr indent="-228600" lvl="1" marL="228600" rtl="0" algn="l">
              <a:lnSpc>
                <a:spcPct val="100000"/>
              </a:lnSpc>
              <a:spcBef>
                <a:spcPts val="500"/>
              </a:spcBef>
              <a:spcAft>
                <a:spcPts val="0"/>
              </a:spcAft>
              <a:buSzPts val="1350"/>
              <a:buChar char="•"/>
            </a:pPr>
            <a:r>
              <a:rPr lang="en-US" sz="1800">
                <a:solidFill>
                  <a:schemeClr val="dk1"/>
                </a:solidFill>
              </a:rPr>
              <a:t>Innovation: Supports groundbreaking discoveries and advancements in particle physics</a:t>
            </a:r>
            <a:endParaRPr/>
          </a:p>
          <a:p>
            <a:pPr indent="-228600" lvl="0" marL="228600" rtl="0" algn="l">
              <a:lnSpc>
                <a:spcPct val="100000"/>
              </a:lnSpc>
              <a:spcBef>
                <a:spcPts val="1000"/>
              </a:spcBef>
              <a:spcAft>
                <a:spcPts val="0"/>
              </a:spcAft>
              <a:buSzPts val="1350"/>
              <a:buChar char="•"/>
            </a:pPr>
            <a:r>
              <a:rPr lang="en-US" sz="1800">
                <a:solidFill>
                  <a:schemeClr val="dk1"/>
                </a:solidFill>
              </a:rPr>
              <a:t>Case Study Highlights: Notable discoveries and contributions enabled by private cloud infrastructure</a:t>
            </a:r>
            <a:endParaRPr/>
          </a:p>
        </p:txBody>
      </p:sp>
      <p:pic>
        <p:nvPicPr>
          <p:cNvPr descr="Molecular DNA structure" id="1327" name="Google Shape;1327;p42"/>
          <p:cNvPicPr preferRelativeResize="0"/>
          <p:nvPr/>
        </p:nvPicPr>
        <p:blipFill rotWithShape="1">
          <a:blip r:embed="rId3">
            <a:alphaModFix/>
          </a:blip>
          <a:srcRect b="-3" l="19570" r="35165"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1" name="Shape 1331"/>
        <p:cNvGrpSpPr/>
        <p:nvPr/>
      </p:nvGrpSpPr>
      <p:grpSpPr>
        <a:xfrm>
          <a:off x="0" y="0"/>
          <a:ext cx="0" cy="0"/>
          <a:chOff x="0" y="0"/>
          <a:chExt cx="0" cy="0"/>
        </a:xfrm>
      </p:grpSpPr>
      <p:sp>
        <p:nvSpPr>
          <p:cNvPr id="1332" name="Google Shape;1332;p4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33" name="Google Shape;1333;p43"/>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34" name="Google Shape;1334;p43"/>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335" name="Google Shape;1335;p43"/>
          <p:cNvGrpSpPr/>
          <p:nvPr/>
        </p:nvGrpSpPr>
        <p:grpSpPr>
          <a:xfrm>
            <a:off x="0" y="0"/>
            <a:ext cx="12214827" cy="6858000"/>
            <a:chOff x="-6214" y="-1"/>
            <a:chExt cx="12214827" cy="6858000"/>
          </a:xfrm>
        </p:grpSpPr>
        <p:cxnSp>
          <p:nvCxnSpPr>
            <p:cNvPr id="1336" name="Google Shape;1336;p43"/>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37" name="Google Shape;1337;p43"/>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38" name="Google Shape;1338;p43"/>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39" name="Google Shape;1339;p43"/>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0" name="Google Shape;1340;p43"/>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1" name="Google Shape;1341;p43"/>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2" name="Google Shape;1342;p43"/>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3" name="Google Shape;1343;p43"/>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4" name="Google Shape;1344;p43"/>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5" name="Google Shape;1345;p43"/>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6" name="Google Shape;1346;p43"/>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7" name="Google Shape;1347;p43"/>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8" name="Google Shape;1348;p43"/>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49" name="Google Shape;1349;p43"/>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0" name="Google Shape;1350;p43"/>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1" name="Google Shape;1351;p43"/>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2" name="Google Shape;1352;p43"/>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3" name="Google Shape;1353;p43"/>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4" name="Google Shape;1354;p43"/>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5" name="Google Shape;1355;p43"/>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6" name="Google Shape;1356;p43"/>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7" name="Google Shape;1357;p43"/>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8" name="Google Shape;1358;p43"/>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59" name="Google Shape;1359;p43"/>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0" name="Google Shape;1360;p43"/>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1" name="Google Shape;1361;p43"/>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2" name="Google Shape;1362;p43"/>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3" name="Google Shape;1363;p43"/>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364" name="Google Shape;1364;p43"/>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365" name="Google Shape;1365;p43"/>
          <p:cNvSpPr txBox="1"/>
          <p:nvPr>
            <p:ph idx="4294967295" type="ctrTitle"/>
          </p:nvPr>
        </p:nvSpPr>
        <p:spPr>
          <a:xfrm>
            <a:off x="389900" y="171723"/>
            <a:ext cx="5805600" cy="1400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
        <p:nvSpPr>
          <p:cNvPr id="1366" name="Google Shape;1366;p43"/>
          <p:cNvSpPr txBox="1"/>
          <p:nvPr>
            <p:ph idx="1" type="body"/>
          </p:nvPr>
        </p:nvSpPr>
        <p:spPr>
          <a:xfrm>
            <a:off x="457200" y="2079170"/>
            <a:ext cx="5738170" cy="4195155"/>
          </a:xfrm>
          <a:prstGeom prst="rect">
            <a:avLst/>
          </a:prstGeom>
          <a:noFill/>
          <a:ln>
            <a:noFill/>
          </a:ln>
        </p:spPr>
        <p:txBody>
          <a:bodyPr anchorCtr="0" anchor="t" bIns="45700" lIns="91425" spcFirstLastPara="1" rIns="91425" wrap="square" tIns="45700">
            <a:noAutofit/>
          </a:bodyPr>
          <a:lstStyle/>
          <a:p>
            <a:pPr indent="-317500" lvl="0" marL="228600" rtl="0" algn="l">
              <a:lnSpc>
                <a:spcPct val="100000"/>
              </a:lnSpc>
              <a:spcBef>
                <a:spcPts val="0"/>
              </a:spcBef>
              <a:spcAft>
                <a:spcPts val="0"/>
              </a:spcAft>
              <a:buClr>
                <a:srgbClr val="585298"/>
              </a:buClr>
              <a:buSzPts val="2900"/>
              <a:buFont typeface="Noto Sans Symbols"/>
              <a:buChar char="⮚"/>
            </a:pPr>
            <a:r>
              <a:rPr lang="en-US" sz="2900">
                <a:solidFill>
                  <a:schemeClr val="dk2"/>
                </a:solidFill>
              </a:rPr>
              <a:t>A public cloud solution is all about delivering IT services directly to the client over the internet</a:t>
            </a:r>
            <a:endParaRPr sz="2900"/>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This cloud-based service is either free, based on premiums, or by subscription according to the volume of computing resources the customer uses</a:t>
            </a:r>
            <a:endParaRPr sz="2900"/>
          </a:p>
          <a:p>
            <a:pPr indent="-133350" lvl="0" marL="228600" rtl="0" algn="l">
              <a:lnSpc>
                <a:spcPct val="100000"/>
              </a:lnSpc>
              <a:spcBef>
                <a:spcPts val="1000"/>
              </a:spcBef>
              <a:spcAft>
                <a:spcPts val="0"/>
              </a:spcAft>
              <a:buClr>
                <a:srgbClr val="585298"/>
              </a:buClr>
              <a:buSzPts val="1500"/>
              <a:buFont typeface="Noto Sans Symbols"/>
              <a:buNone/>
            </a:pPr>
            <a:r>
              <a:t/>
            </a:r>
            <a:endParaRPr sz="2900">
              <a:solidFill>
                <a:schemeClr val="dk2"/>
              </a:solidFill>
            </a:endParaRPr>
          </a:p>
        </p:txBody>
      </p:sp>
      <p:pic>
        <p:nvPicPr>
          <p:cNvPr descr="Cloud shaped hard drive with cables" id="1367" name="Google Shape;1367;p43"/>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1" name="Shape 1371"/>
        <p:cNvGrpSpPr/>
        <p:nvPr/>
      </p:nvGrpSpPr>
      <p:grpSpPr>
        <a:xfrm>
          <a:off x="0" y="0"/>
          <a:ext cx="0" cy="0"/>
          <a:chOff x="0" y="0"/>
          <a:chExt cx="0" cy="0"/>
        </a:xfrm>
      </p:grpSpPr>
      <p:sp>
        <p:nvSpPr>
          <p:cNvPr id="1372" name="Google Shape;1372;p4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73" name="Google Shape;1373;p44"/>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374" name="Google Shape;1374;p44"/>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375" name="Google Shape;1375;p44"/>
          <p:cNvGrpSpPr/>
          <p:nvPr/>
        </p:nvGrpSpPr>
        <p:grpSpPr>
          <a:xfrm>
            <a:off x="0" y="0"/>
            <a:ext cx="12214827" cy="6858000"/>
            <a:chOff x="-6214" y="-1"/>
            <a:chExt cx="12214827" cy="6858000"/>
          </a:xfrm>
        </p:grpSpPr>
        <p:cxnSp>
          <p:nvCxnSpPr>
            <p:cNvPr id="1376" name="Google Shape;1376;p44"/>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77" name="Google Shape;1377;p44"/>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78" name="Google Shape;1378;p44"/>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79" name="Google Shape;1379;p44"/>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0" name="Google Shape;1380;p44"/>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1" name="Google Shape;1381;p44"/>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2" name="Google Shape;1382;p44"/>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3" name="Google Shape;1383;p44"/>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4" name="Google Shape;1384;p44"/>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5" name="Google Shape;1385;p44"/>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6" name="Google Shape;1386;p44"/>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7" name="Google Shape;1387;p44"/>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8" name="Google Shape;1388;p44"/>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89" name="Google Shape;1389;p44"/>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0" name="Google Shape;1390;p44"/>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1" name="Google Shape;1391;p44"/>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2" name="Google Shape;1392;p44"/>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3" name="Google Shape;1393;p44"/>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4" name="Google Shape;1394;p44"/>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5" name="Google Shape;1395;p44"/>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6" name="Google Shape;1396;p44"/>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7" name="Google Shape;1397;p44"/>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8" name="Google Shape;1398;p44"/>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399" name="Google Shape;1399;p44"/>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00" name="Google Shape;1400;p44"/>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01" name="Google Shape;1401;p44"/>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02" name="Google Shape;1402;p44"/>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03" name="Google Shape;1403;p44"/>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04" name="Google Shape;1404;p44"/>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405" name="Google Shape;1405;p44"/>
          <p:cNvSpPr txBox="1"/>
          <p:nvPr>
            <p:ph idx="4294967295" type="ctrTitle"/>
          </p:nvPr>
        </p:nvSpPr>
        <p:spPr>
          <a:xfrm>
            <a:off x="389900" y="171723"/>
            <a:ext cx="5805600" cy="1385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
        <p:nvSpPr>
          <p:cNvPr id="1406" name="Google Shape;1406;p44"/>
          <p:cNvSpPr txBox="1"/>
          <p:nvPr>
            <p:ph idx="1" type="body"/>
          </p:nvPr>
        </p:nvSpPr>
        <p:spPr>
          <a:xfrm>
            <a:off x="457200" y="2079170"/>
            <a:ext cx="5738100" cy="4195200"/>
          </a:xfrm>
          <a:prstGeom prst="rect">
            <a:avLst/>
          </a:prstGeom>
          <a:noFill/>
          <a:ln>
            <a:noFill/>
          </a:ln>
        </p:spPr>
        <p:txBody>
          <a:bodyPr anchorCtr="0" anchor="t" bIns="45700" lIns="91425" spcFirstLastPara="1" rIns="91425" wrap="square" tIns="45700">
            <a:noAutofit/>
          </a:bodyPr>
          <a:lstStyle/>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Public cloud vendors will manage, maintain, and develop the scope of computing resources shared between various customers</a:t>
            </a:r>
            <a:endParaRPr sz="2900"/>
          </a:p>
          <a:p>
            <a:pPr indent="-317500"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One main differentiating aspect of public cloud solutions is their high scalability and elasticity.</a:t>
            </a:r>
            <a:endParaRPr sz="2900">
              <a:solidFill>
                <a:schemeClr val="dk2"/>
              </a:solidFill>
            </a:endParaRPr>
          </a:p>
          <a:p>
            <a:pPr indent="-133350" lvl="0" marL="228600" rtl="0" algn="l">
              <a:lnSpc>
                <a:spcPct val="100000"/>
              </a:lnSpc>
              <a:spcBef>
                <a:spcPts val="1000"/>
              </a:spcBef>
              <a:spcAft>
                <a:spcPts val="0"/>
              </a:spcAft>
              <a:buClr>
                <a:srgbClr val="585298"/>
              </a:buClr>
              <a:buSzPts val="1500"/>
              <a:buFont typeface="Noto Sans Symbols"/>
              <a:buNone/>
            </a:pPr>
            <a:r>
              <a:t/>
            </a:r>
            <a:endParaRPr sz="2900">
              <a:solidFill>
                <a:schemeClr val="dk2"/>
              </a:solidFill>
            </a:endParaRPr>
          </a:p>
        </p:txBody>
      </p:sp>
      <p:pic>
        <p:nvPicPr>
          <p:cNvPr descr="Cloud shaped hard drive with cables" id="1407" name="Google Shape;1407;p44"/>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4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13" name="Google Shape;1413;p45"/>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14" name="Google Shape;1414;p45"/>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415" name="Google Shape;1415;p45"/>
          <p:cNvGrpSpPr/>
          <p:nvPr/>
        </p:nvGrpSpPr>
        <p:grpSpPr>
          <a:xfrm>
            <a:off x="0" y="0"/>
            <a:ext cx="12214827" cy="6858000"/>
            <a:chOff x="-6214" y="-1"/>
            <a:chExt cx="12214827" cy="6858000"/>
          </a:xfrm>
        </p:grpSpPr>
        <p:cxnSp>
          <p:nvCxnSpPr>
            <p:cNvPr id="1416" name="Google Shape;1416;p45"/>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17" name="Google Shape;1417;p45"/>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18" name="Google Shape;1418;p45"/>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19" name="Google Shape;1419;p45"/>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0" name="Google Shape;1420;p45"/>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1" name="Google Shape;1421;p45"/>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2" name="Google Shape;1422;p45"/>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3" name="Google Shape;1423;p45"/>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4" name="Google Shape;1424;p45"/>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5" name="Google Shape;1425;p45"/>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6" name="Google Shape;1426;p45"/>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7" name="Google Shape;1427;p45"/>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8" name="Google Shape;1428;p45"/>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29" name="Google Shape;1429;p45"/>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0" name="Google Shape;1430;p45"/>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1" name="Google Shape;1431;p45"/>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2" name="Google Shape;1432;p45"/>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3" name="Google Shape;1433;p45"/>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4" name="Google Shape;1434;p45"/>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5" name="Google Shape;1435;p45"/>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6" name="Google Shape;1436;p45"/>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7" name="Google Shape;1437;p45"/>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8" name="Google Shape;1438;p45"/>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39" name="Google Shape;1439;p45"/>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0" name="Google Shape;1440;p45"/>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1" name="Google Shape;1441;p45"/>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2" name="Google Shape;1442;p45"/>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3" name="Google Shape;1443;p45"/>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444" name="Google Shape;1444;p45"/>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445" name="Google Shape;1445;p45"/>
          <p:cNvSpPr txBox="1"/>
          <p:nvPr>
            <p:ph idx="1" type="body"/>
          </p:nvPr>
        </p:nvSpPr>
        <p:spPr>
          <a:xfrm>
            <a:off x="457200" y="2079170"/>
            <a:ext cx="5738170" cy="4195155"/>
          </a:xfrm>
          <a:prstGeom prst="rect">
            <a:avLst/>
          </a:prstGeom>
          <a:noFill/>
          <a:ln>
            <a:noFill/>
          </a:ln>
        </p:spPr>
        <p:txBody>
          <a:bodyPr anchorCtr="0" anchor="t" bIns="45700" lIns="91425" spcFirstLastPara="1" rIns="91425" wrap="square" tIns="45700">
            <a:noAutofit/>
          </a:bodyPr>
          <a:lstStyle/>
          <a:p>
            <a:pPr indent="-346075" lvl="0" marL="228600" rtl="0" algn="l">
              <a:lnSpc>
                <a:spcPct val="100000"/>
              </a:lnSpc>
              <a:spcBef>
                <a:spcPts val="0"/>
              </a:spcBef>
              <a:spcAft>
                <a:spcPts val="0"/>
              </a:spcAft>
              <a:buClr>
                <a:srgbClr val="585298"/>
              </a:buClr>
              <a:buSzPts val="2900"/>
              <a:buFont typeface="Noto Sans Symbols"/>
              <a:buChar char="⮚"/>
            </a:pPr>
            <a:r>
              <a:rPr lang="en-US" sz="2900">
                <a:solidFill>
                  <a:schemeClr val="dk2"/>
                </a:solidFill>
              </a:rPr>
              <a:t>A private cloud puts the main focus on virtualization and thereby is able to separate the IT services and resources from the physical device. </a:t>
            </a:r>
            <a:endParaRPr sz="2900">
              <a:solidFill>
                <a:schemeClr val="dk2"/>
              </a:solidFill>
            </a:endParaRPr>
          </a:p>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Applications are available virtually on the cloud, as they do not run locally on servers or end devices. </a:t>
            </a:r>
            <a:endParaRPr sz="2900">
              <a:solidFill>
                <a:schemeClr val="dk2"/>
              </a:solidFill>
            </a:endParaRPr>
          </a:p>
          <a:p>
            <a:pPr indent="-161925" lvl="0" marL="228600" rtl="0" algn="l">
              <a:lnSpc>
                <a:spcPct val="100000"/>
              </a:lnSpc>
              <a:spcBef>
                <a:spcPts val="1000"/>
              </a:spcBef>
              <a:spcAft>
                <a:spcPts val="0"/>
              </a:spcAft>
              <a:buClr>
                <a:srgbClr val="585298"/>
              </a:buClr>
              <a:buSzPts val="1050"/>
              <a:buFont typeface="Noto Sans Symbols"/>
              <a:buNone/>
            </a:pPr>
            <a:r>
              <a:t/>
            </a:r>
            <a:endParaRPr sz="2900">
              <a:solidFill>
                <a:schemeClr val="dk2"/>
              </a:solidFill>
            </a:endParaRPr>
          </a:p>
        </p:txBody>
      </p:sp>
      <p:pic>
        <p:nvPicPr>
          <p:cNvPr descr="Cloud shaped hard drive with cables" id="1446" name="Google Shape;1446;p45"/>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
        <p:nvSpPr>
          <p:cNvPr id="1447" name="Google Shape;1447;p45"/>
          <p:cNvSpPr txBox="1"/>
          <p:nvPr>
            <p:ph idx="4294967295" type="ctrTitle"/>
          </p:nvPr>
        </p:nvSpPr>
        <p:spPr>
          <a:xfrm>
            <a:off x="389900" y="171723"/>
            <a:ext cx="5805600" cy="1385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4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53" name="Google Shape;1453;p46"/>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54" name="Google Shape;1454;p46"/>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455" name="Google Shape;1455;p46"/>
          <p:cNvGrpSpPr/>
          <p:nvPr/>
        </p:nvGrpSpPr>
        <p:grpSpPr>
          <a:xfrm>
            <a:off x="0" y="0"/>
            <a:ext cx="12214827" cy="6858000"/>
            <a:chOff x="-6214" y="-1"/>
            <a:chExt cx="12214827" cy="6858000"/>
          </a:xfrm>
        </p:grpSpPr>
        <p:cxnSp>
          <p:nvCxnSpPr>
            <p:cNvPr id="1456" name="Google Shape;1456;p46"/>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57" name="Google Shape;1457;p46"/>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58" name="Google Shape;1458;p46"/>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59" name="Google Shape;1459;p46"/>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0" name="Google Shape;1460;p46"/>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1" name="Google Shape;1461;p46"/>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2" name="Google Shape;1462;p46"/>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3" name="Google Shape;1463;p46"/>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4" name="Google Shape;1464;p46"/>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5" name="Google Shape;1465;p46"/>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6" name="Google Shape;1466;p46"/>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7" name="Google Shape;1467;p46"/>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8" name="Google Shape;1468;p46"/>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69" name="Google Shape;1469;p46"/>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0" name="Google Shape;1470;p46"/>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1" name="Google Shape;1471;p46"/>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2" name="Google Shape;1472;p46"/>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3" name="Google Shape;1473;p46"/>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4" name="Google Shape;1474;p46"/>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5" name="Google Shape;1475;p46"/>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6" name="Google Shape;1476;p46"/>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7" name="Google Shape;1477;p46"/>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8" name="Google Shape;1478;p46"/>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79" name="Google Shape;1479;p46"/>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80" name="Google Shape;1480;p46"/>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81" name="Google Shape;1481;p46"/>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82" name="Google Shape;1482;p46"/>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83" name="Google Shape;1483;p46"/>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84" name="Google Shape;1484;p46"/>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485" name="Google Shape;1485;p46"/>
          <p:cNvSpPr txBox="1"/>
          <p:nvPr>
            <p:ph idx="1" type="body"/>
          </p:nvPr>
        </p:nvSpPr>
        <p:spPr>
          <a:xfrm>
            <a:off x="457200" y="2079170"/>
            <a:ext cx="5738100" cy="4195200"/>
          </a:xfrm>
          <a:prstGeom prst="rect">
            <a:avLst/>
          </a:prstGeom>
          <a:noFill/>
          <a:ln>
            <a:noFill/>
          </a:ln>
        </p:spPr>
        <p:txBody>
          <a:bodyPr anchorCtr="0" anchor="t" bIns="45700" lIns="91425" spcFirstLastPara="1" rIns="91425" wrap="square" tIns="45700">
            <a:noAutofit/>
          </a:bodyPr>
          <a:lstStyle/>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An ideal solution for companies that deal with strict data processing and security requirements.</a:t>
            </a:r>
            <a:endParaRPr sz="2900"/>
          </a:p>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It allocates services according to the needs of the client, making it a more flexible option.</a:t>
            </a:r>
            <a:endParaRPr sz="2900"/>
          </a:p>
          <a:p>
            <a:pPr indent="-161925" lvl="0" marL="228600" rtl="0" algn="l">
              <a:lnSpc>
                <a:spcPct val="100000"/>
              </a:lnSpc>
              <a:spcBef>
                <a:spcPts val="1000"/>
              </a:spcBef>
              <a:spcAft>
                <a:spcPts val="0"/>
              </a:spcAft>
              <a:buClr>
                <a:srgbClr val="585298"/>
              </a:buClr>
              <a:buSzPts val="1050"/>
              <a:buFont typeface="Noto Sans Symbols"/>
              <a:buNone/>
            </a:pPr>
            <a:r>
              <a:t/>
            </a:r>
            <a:endParaRPr sz="2900">
              <a:solidFill>
                <a:schemeClr val="dk2"/>
              </a:solidFill>
            </a:endParaRPr>
          </a:p>
        </p:txBody>
      </p:sp>
      <p:pic>
        <p:nvPicPr>
          <p:cNvPr descr="Cloud shaped hard drive with cables" id="1486" name="Google Shape;1486;p46"/>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
        <p:nvSpPr>
          <p:cNvPr id="1487" name="Google Shape;1487;p46"/>
          <p:cNvSpPr txBox="1"/>
          <p:nvPr>
            <p:ph idx="4294967295" type="ctrTitle"/>
          </p:nvPr>
        </p:nvSpPr>
        <p:spPr>
          <a:xfrm>
            <a:off x="389900" y="171723"/>
            <a:ext cx="5805600" cy="1385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47"/>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93" name="Google Shape;1493;p47"/>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494" name="Google Shape;1494;p47"/>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495" name="Google Shape;1495;p47"/>
          <p:cNvGrpSpPr/>
          <p:nvPr/>
        </p:nvGrpSpPr>
        <p:grpSpPr>
          <a:xfrm>
            <a:off x="0" y="0"/>
            <a:ext cx="12214827" cy="6858000"/>
            <a:chOff x="-6214" y="-1"/>
            <a:chExt cx="12214827" cy="6858000"/>
          </a:xfrm>
        </p:grpSpPr>
        <p:cxnSp>
          <p:nvCxnSpPr>
            <p:cNvPr id="1496" name="Google Shape;1496;p47"/>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97" name="Google Shape;1497;p47"/>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98" name="Google Shape;1498;p47"/>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499" name="Google Shape;1499;p47"/>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0" name="Google Shape;1500;p47"/>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1" name="Google Shape;1501;p47"/>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2" name="Google Shape;1502;p47"/>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3" name="Google Shape;1503;p47"/>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4" name="Google Shape;1504;p47"/>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5" name="Google Shape;1505;p47"/>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6" name="Google Shape;1506;p47"/>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7" name="Google Shape;1507;p47"/>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8" name="Google Shape;1508;p47"/>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09" name="Google Shape;1509;p47"/>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0" name="Google Shape;1510;p47"/>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1" name="Google Shape;1511;p47"/>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2" name="Google Shape;1512;p47"/>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3" name="Google Shape;1513;p47"/>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4" name="Google Shape;1514;p47"/>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5" name="Google Shape;1515;p47"/>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6" name="Google Shape;1516;p47"/>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7" name="Google Shape;1517;p47"/>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8" name="Google Shape;1518;p47"/>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19" name="Google Shape;1519;p47"/>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20" name="Google Shape;1520;p47"/>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21" name="Google Shape;1521;p47"/>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22" name="Google Shape;1522;p47"/>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23" name="Google Shape;1523;p47"/>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24" name="Google Shape;1524;p47"/>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525" name="Google Shape;1525;p47"/>
          <p:cNvSpPr txBox="1"/>
          <p:nvPr>
            <p:ph idx="1" type="body"/>
          </p:nvPr>
        </p:nvSpPr>
        <p:spPr>
          <a:xfrm>
            <a:off x="457200" y="1887750"/>
            <a:ext cx="6200700" cy="4729500"/>
          </a:xfrm>
          <a:prstGeom prst="rect">
            <a:avLst/>
          </a:prstGeom>
          <a:noFill/>
          <a:ln>
            <a:noFill/>
          </a:ln>
        </p:spPr>
        <p:txBody>
          <a:bodyPr anchorCtr="0" anchor="t" bIns="45700" lIns="91425" spcFirstLastPara="1" rIns="91425" wrap="square" tIns="45700">
            <a:noAutofit/>
          </a:bodyPr>
          <a:lstStyle/>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For tighter security, a firewall is installed to protect the private cloud from any unauthorized access. </a:t>
            </a:r>
            <a:endParaRPr sz="2900">
              <a:solidFill>
                <a:schemeClr val="dk2"/>
              </a:solidFill>
            </a:endParaRPr>
          </a:p>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Only users with security clearance are authorized to access the data on private cloud applications either by use of a secure Virtual Private Network (VPN) or over the client’s intranet. </a:t>
            </a:r>
            <a:endParaRPr sz="2900">
              <a:solidFill>
                <a:schemeClr val="dk2"/>
              </a:solidFill>
            </a:endParaRPr>
          </a:p>
          <a:p>
            <a:pPr indent="0" lvl="0" marL="66675" rtl="0" algn="l">
              <a:lnSpc>
                <a:spcPct val="100000"/>
              </a:lnSpc>
              <a:spcBef>
                <a:spcPts val="1000"/>
              </a:spcBef>
              <a:spcAft>
                <a:spcPts val="0"/>
              </a:spcAft>
              <a:buClr>
                <a:srgbClr val="585298"/>
              </a:buClr>
              <a:buSzPts val="1050"/>
              <a:buFont typeface="Noto Sans Symbols"/>
              <a:buNone/>
            </a:pPr>
            <a:r>
              <a:t/>
            </a:r>
            <a:endParaRPr sz="2900">
              <a:solidFill>
                <a:schemeClr val="dk2"/>
              </a:solidFill>
            </a:endParaRPr>
          </a:p>
        </p:txBody>
      </p:sp>
      <p:pic>
        <p:nvPicPr>
          <p:cNvPr descr="Cloud shaped hard drive with cables" id="1526" name="Google Shape;1526;p47"/>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
        <p:nvSpPr>
          <p:cNvPr id="1527" name="Google Shape;1527;p47"/>
          <p:cNvSpPr txBox="1"/>
          <p:nvPr>
            <p:ph idx="4294967295" type="ctrTitle"/>
          </p:nvPr>
        </p:nvSpPr>
        <p:spPr>
          <a:xfrm>
            <a:off x="389900" y="171723"/>
            <a:ext cx="5805600" cy="1385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48"/>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33" name="Google Shape;1533;p48"/>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34" name="Google Shape;1534;p48"/>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535" name="Google Shape;1535;p48"/>
          <p:cNvGrpSpPr/>
          <p:nvPr/>
        </p:nvGrpSpPr>
        <p:grpSpPr>
          <a:xfrm>
            <a:off x="0" y="0"/>
            <a:ext cx="12214827" cy="6858000"/>
            <a:chOff x="-6214" y="-1"/>
            <a:chExt cx="12214827" cy="6858000"/>
          </a:xfrm>
        </p:grpSpPr>
        <p:cxnSp>
          <p:nvCxnSpPr>
            <p:cNvPr id="1536" name="Google Shape;1536;p48"/>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37" name="Google Shape;1537;p48"/>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38" name="Google Shape;1538;p48"/>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39" name="Google Shape;1539;p48"/>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0" name="Google Shape;1540;p48"/>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1" name="Google Shape;1541;p48"/>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2" name="Google Shape;1542;p48"/>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3" name="Google Shape;1543;p48"/>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4" name="Google Shape;1544;p48"/>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5" name="Google Shape;1545;p48"/>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6" name="Google Shape;1546;p48"/>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7" name="Google Shape;1547;p48"/>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8" name="Google Shape;1548;p48"/>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49" name="Google Shape;1549;p48"/>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0" name="Google Shape;1550;p48"/>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1" name="Google Shape;1551;p48"/>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2" name="Google Shape;1552;p48"/>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3" name="Google Shape;1553;p48"/>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4" name="Google Shape;1554;p48"/>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5" name="Google Shape;1555;p48"/>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6" name="Google Shape;1556;p48"/>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7" name="Google Shape;1557;p48"/>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8" name="Google Shape;1558;p48"/>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59" name="Google Shape;1559;p48"/>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60" name="Google Shape;1560;p48"/>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61" name="Google Shape;1561;p48"/>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62" name="Google Shape;1562;p48"/>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63" name="Google Shape;1563;p48"/>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564" name="Google Shape;1564;p48"/>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565" name="Google Shape;1565;p48"/>
          <p:cNvSpPr txBox="1"/>
          <p:nvPr>
            <p:ph idx="1" type="body"/>
          </p:nvPr>
        </p:nvSpPr>
        <p:spPr>
          <a:xfrm>
            <a:off x="457200" y="2079175"/>
            <a:ext cx="6200700" cy="4195200"/>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1000"/>
              </a:spcBef>
              <a:spcAft>
                <a:spcPts val="0"/>
              </a:spcAft>
              <a:buNone/>
            </a:pPr>
            <a:r>
              <a:t/>
            </a:r>
            <a:endParaRPr sz="2900">
              <a:solidFill>
                <a:schemeClr val="dk2"/>
              </a:solidFill>
            </a:endParaRPr>
          </a:p>
          <a:p>
            <a:pPr indent="-346075" lvl="0" marL="228600" rtl="0" algn="l">
              <a:lnSpc>
                <a:spcPct val="100000"/>
              </a:lnSpc>
              <a:spcBef>
                <a:spcPts val="1000"/>
              </a:spcBef>
              <a:spcAft>
                <a:spcPts val="0"/>
              </a:spcAft>
              <a:buClr>
                <a:srgbClr val="585298"/>
              </a:buClr>
              <a:buSzPts val="2900"/>
              <a:buFont typeface="Noto Sans Symbols"/>
              <a:buChar char="⮚"/>
            </a:pPr>
            <a:r>
              <a:rPr lang="en-US" sz="2900">
                <a:solidFill>
                  <a:schemeClr val="dk2"/>
                </a:solidFill>
              </a:rPr>
              <a:t>Users are granted the authentication rights needed to access the services.</a:t>
            </a:r>
            <a:endParaRPr sz="2900"/>
          </a:p>
          <a:p>
            <a:pPr indent="-161925" lvl="0" marL="228600" rtl="0" algn="l">
              <a:lnSpc>
                <a:spcPct val="100000"/>
              </a:lnSpc>
              <a:spcBef>
                <a:spcPts val="1000"/>
              </a:spcBef>
              <a:spcAft>
                <a:spcPts val="0"/>
              </a:spcAft>
              <a:buClr>
                <a:srgbClr val="585298"/>
              </a:buClr>
              <a:buSzPts val="1050"/>
              <a:buFont typeface="Noto Sans Symbols"/>
              <a:buNone/>
            </a:pPr>
            <a:r>
              <a:t/>
            </a:r>
            <a:endParaRPr sz="2900">
              <a:solidFill>
                <a:schemeClr val="dk2"/>
              </a:solidFill>
            </a:endParaRPr>
          </a:p>
        </p:txBody>
      </p:sp>
      <p:pic>
        <p:nvPicPr>
          <p:cNvPr descr="Cloud shaped hard drive with cables" id="1566" name="Google Shape;1566;p48"/>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
        <p:nvSpPr>
          <p:cNvPr id="1567" name="Google Shape;1567;p48"/>
          <p:cNvSpPr txBox="1"/>
          <p:nvPr>
            <p:ph idx="4294967295" type="ctrTitle"/>
          </p:nvPr>
        </p:nvSpPr>
        <p:spPr>
          <a:xfrm>
            <a:off x="389900" y="171723"/>
            <a:ext cx="5805600" cy="13854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700"/>
              <a:buFont typeface="Arial"/>
              <a:buNone/>
            </a:pPr>
            <a:r>
              <a:rPr b="0" i="0" lang="en-US" sz="3700" u="none" cap="none" strike="noStrike">
                <a:solidFill>
                  <a:schemeClr val="dk2"/>
                </a:solidFill>
                <a:latin typeface="Arial"/>
                <a:ea typeface="Arial"/>
                <a:cs typeface="Arial"/>
                <a:sym typeface="Arial"/>
              </a:rPr>
              <a:t>Difference Between a Public and Private Cloud?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1" name="Shape 1571"/>
        <p:cNvGrpSpPr/>
        <p:nvPr/>
      </p:nvGrpSpPr>
      <p:grpSpPr>
        <a:xfrm>
          <a:off x="0" y="0"/>
          <a:ext cx="0" cy="0"/>
          <a:chOff x="0" y="0"/>
          <a:chExt cx="0" cy="0"/>
        </a:xfrm>
      </p:grpSpPr>
      <p:sp>
        <p:nvSpPr>
          <p:cNvPr id="1572" name="Google Shape;1572;p4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73" name="Google Shape;1573;p49"/>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574" name="Google Shape;1574;p49"/>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575" name="Google Shape;1575;p49"/>
          <p:cNvGrpSpPr/>
          <p:nvPr/>
        </p:nvGrpSpPr>
        <p:grpSpPr>
          <a:xfrm>
            <a:off x="0" y="0"/>
            <a:ext cx="12214827" cy="6858000"/>
            <a:chOff x="-6214" y="-1"/>
            <a:chExt cx="12214827" cy="6858000"/>
          </a:xfrm>
        </p:grpSpPr>
        <p:cxnSp>
          <p:nvCxnSpPr>
            <p:cNvPr id="1576" name="Google Shape;1576;p49"/>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77" name="Google Shape;1577;p49"/>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78" name="Google Shape;1578;p49"/>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79" name="Google Shape;1579;p49"/>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0" name="Google Shape;1580;p49"/>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1" name="Google Shape;1581;p49"/>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2" name="Google Shape;1582;p49"/>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3" name="Google Shape;1583;p49"/>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4" name="Google Shape;1584;p49"/>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5" name="Google Shape;1585;p49"/>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6" name="Google Shape;1586;p49"/>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7" name="Google Shape;1587;p49"/>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8" name="Google Shape;1588;p49"/>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89" name="Google Shape;1589;p49"/>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0" name="Google Shape;1590;p49"/>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1" name="Google Shape;1591;p49"/>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2" name="Google Shape;1592;p49"/>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3" name="Google Shape;1593;p49"/>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4" name="Google Shape;1594;p49"/>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5" name="Google Shape;1595;p49"/>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6" name="Google Shape;1596;p49"/>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7" name="Google Shape;1597;p49"/>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8" name="Google Shape;1598;p49"/>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599" name="Google Shape;1599;p49"/>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00" name="Google Shape;1600;p49"/>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01" name="Google Shape;1601;p49"/>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02" name="Google Shape;1602;p49"/>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03" name="Google Shape;1603;p49"/>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604" name="Google Shape;1604;p49"/>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605" name="Google Shape;1605;p49"/>
          <p:cNvSpPr txBox="1"/>
          <p:nvPr>
            <p:ph idx="4294967295" type="ctrTitle"/>
          </p:nvPr>
        </p:nvSpPr>
        <p:spPr>
          <a:xfrm>
            <a:off x="389901" y="193053"/>
            <a:ext cx="4952999" cy="153777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a Hybrid Cloud?</a:t>
            </a:r>
            <a:endParaRPr/>
          </a:p>
        </p:txBody>
      </p:sp>
      <p:sp>
        <p:nvSpPr>
          <p:cNvPr id="1606" name="Google Shape;1606;p49"/>
          <p:cNvSpPr txBox="1"/>
          <p:nvPr>
            <p:ph idx="1" type="body"/>
          </p:nvPr>
        </p:nvSpPr>
        <p:spPr>
          <a:xfrm>
            <a:off x="457200" y="1851000"/>
            <a:ext cx="5775300" cy="4423200"/>
          </a:xfrm>
          <a:prstGeom prst="rect">
            <a:avLst/>
          </a:prstGeom>
          <a:noFill/>
          <a:ln>
            <a:noFill/>
          </a:ln>
        </p:spPr>
        <p:txBody>
          <a:bodyPr anchorCtr="0" anchor="t" bIns="45700" lIns="91425" spcFirstLastPara="1" rIns="91425" wrap="square" tIns="45700">
            <a:noAutofit/>
          </a:bodyPr>
          <a:lstStyle/>
          <a:p>
            <a:pPr indent="-336550" lvl="0" marL="228600" rtl="0" algn="l">
              <a:lnSpc>
                <a:spcPct val="100000"/>
              </a:lnSpc>
              <a:spcBef>
                <a:spcPts val="0"/>
              </a:spcBef>
              <a:spcAft>
                <a:spcPts val="0"/>
              </a:spcAft>
              <a:buSzPts val="2900"/>
              <a:buChar char="•"/>
            </a:pPr>
            <a:r>
              <a:rPr lang="en-US" sz="2900">
                <a:solidFill>
                  <a:schemeClr val="dk2"/>
                </a:solidFill>
              </a:rPr>
              <a:t>A hybrid cloud is a computing environment that combines an on-site data center, sometimes referred to as a private cloud with the power of a public cloud</a:t>
            </a:r>
            <a:endParaRPr sz="2900"/>
          </a:p>
          <a:p>
            <a:pPr indent="-336550" lvl="0" marL="228600" rtl="0" algn="l">
              <a:lnSpc>
                <a:spcPct val="100000"/>
              </a:lnSpc>
              <a:spcBef>
                <a:spcPts val="1000"/>
              </a:spcBef>
              <a:spcAft>
                <a:spcPts val="0"/>
              </a:spcAft>
              <a:buSzPts val="2900"/>
              <a:buChar char="•"/>
            </a:pPr>
            <a:r>
              <a:rPr lang="en-US" sz="2900">
                <a:solidFill>
                  <a:schemeClr val="dk2"/>
                </a:solidFill>
              </a:rPr>
              <a:t>This allows the two systems to share data and applications between them as needed</a:t>
            </a:r>
            <a:endParaRPr sz="2900"/>
          </a:p>
          <a:p>
            <a:pPr indent="-152400" lvl="0" marL="228600" rtl="0" algn="l">
              <a:lnSpc>
                <a:spcPct val="100000"/>
              </a:lnSpc>
              <a:spcBef>
                <a:spcPts val="1000"/>
              </a:spcBef>
              <a:spcAft>
                <a:spcPts val="0"/>
              </a:spcAft>
              <a:buSzPts val="1200"/>
              <a:buNone/>
            </a:pPr>
            <a:r>
              <a:t/>
            </a:r>
            <a:endParaRPr sz="2900">
              <a:solidFill>
                <a:schemeClr val="dk2"/>
              </a:solidFill>
            </a:endParaRPr>
          </a:p>
        </p:txBody>
      </p:sp>
      <p:pic>
        <p:nvPicPr>
          <p:cNvPr descr="Cloud shaped hard drive with cables" id="1607" name="Google Shape;1607;p49"/>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1" name="Shape 1611"/>
        <p:cNvGrpSpPr/>
        <p:nvPr/>
      </p:nvGrpSpPr>
      <p:grpSpPr>
        <a:xfrm>
          <a:off x="0" y="0"/>
          <a:ext cx="0" cy="0"/>
          <a:chOff x="0" y="0"/>
          <a:chExt cx="0" cy="0"/>
        </a:xfrm>
      </p:grpSpPr>
      <p:sp>
        <p:nvSpPr>
          <p:cNvPr id="1612" name="Google Shape;1612;p50"/>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13" name="Google Shape;1613;p50"/>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14" name="Google Shape;1614;p50"/>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615" name="Google Shape;1615;p50"/>
          <p:cNvGrpSpPr/>
          <p:nvPr/>
        </p:nvGrpSpPr>
        <p:grpSpPr>
          <a:xfrm>
            <a:off x="0" y="0"/>
            <a:ext cx="12214827" cy="6858000"/>
            <a:chOff x="-6214" y="-1"/>
            <a:chExt cx="12214827" cy="6858000"/>
          </a:xfrm>
        </p:grpSpPr>
        <p:cxnSp>
          <p:nvCxnSpPr>
            <p:cNvPr id="1616" name="Google Shape;1616;p50"/>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17" name="Google Shape;1617;p50"/>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18" name="Google Shape;1618;p50"/>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19" name="Google Shape;1619;p50"/>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0" name="Google Shape;1620;p50"/>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1" name="Google Shape;1621;p50"/>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2" name="Google Shape;1622;p50"/>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3" name="Google Shape;1623;p50"/>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4" name="Google Shape;1624;p50"/>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5" name="Google Shape;1625;p50"/>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6" name="Google Shape;1626;p50"/>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7" name="Google Shape;1627;p50"/>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8" name="Google Shape;1628;p50"/>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29" name="Google Shape;1629;p50"/>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0" name="Google Shape;1630;p50"/>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1" name="Google Shape;1631;p50"/>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2" name="Google Shape;1632;p50"/>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3" name="Google Shape;1633;p50"/>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4" name="Google Shape;1634;p50"/>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5" name="Google Shape;1635;p50"/>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6" name="Google Shape;1636;p50"/>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7" name="Google Shape;1637;p50"/>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8" name="Google Shape;1638;p50"/>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39" name="Google Shape;1639;p50"/>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40" name="Google Shape;1640;p50"/>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41" name="Google Shape;1641;p50"/>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42" name="Google Shape;1642;p50"/>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43" name="Google Shape;1643;p50"/>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44" name="Google Shape;1644;p50"/>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645" name="Google Shape;1645;p50"/>
          <p:cNvSpPr txBox="1"/>
          <p:nvPr>
            <p:ph idx="4294967295" type="ctrTitle"/>
          </p:nvPr>
        </p:nvSpPr>
        <p:spPr>
          <a:xfrm>
            <a:off x="389901" y="193053"/>
            <a:ext cx="4953000" cy="15378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a Hybrid Cloud?</a:t>
            </a:r>
            <a:endParaRPr/>
          </a:p>
        </p:txBody>
      </p:sp>
      <p:sp>
        <p:nvSpPr>
          <p:cNvPr id="1646" name="Google Shape;1646;p50"/>
          <p:cNvSpPr txBox="1"/>
          <p:nvPr>
            <p:ph idx="1" type="body"/>
          </p:nvPr>
        </p:nvSpPr>
        <p:spPr>
          <a:xfrm>
            <a:off x="457200" y="1851000"/>
            <a:ext cx="5893500" cy="4423200"/>
          </a:xfrm>
          <a:prstGeom prst="rect">
            <a:avLst/>
          </a:prstGeom>
          <a:noFill/>
          <a:ln>
            <a:noFill/>
          </a:ln>
        </p:spPr>
        <p:txBody>
          <a:bodyPr anchorCtr="0" anchor="t" bIns="45700" lIns="91425" spcFirstLastPara="1" rIns="91425" wrap="square" tIns="45700">
            <a:noAutofit/>
          </a:bodyPr>
          <a:lstStyle/>
          <a:p>
            <a:pPr indent="-336550" lvl="0" marL="228600" rtl="0" algn="l">
              <a:lnSpc>
                <a:spcPct val="100000"/>
              </a:lnSpc>
              <a:spcBef>
                <a:spcPts val="1000"/>
              </a:spcBef>
              <a:spcAft>
                <a:spcPts val="0"/>
              </a:spcAft>
              <a:buSzPts val="2900"/>
              <a:buChar char="•"/>
            </a:pPr>
            <a:r>
              <a:rPr lang="en-US" sz="2900">
                <a:solidFill>
                  <a:schemeClr val="dk2"/>
                </a:solidFill>
              </a:rPr>
              <a:t>A</a:t>
            </a:r>
            <a:r>
              <a:rPr lang="en-US" sz="2900">
                <a:solidFill>
                  <a:schemeClr val="dk2"/>
                </a:solidFill>
              </a:rPr>
              <a:t> hybrid cloud is defined as a mixed computing, storage, and services environment that is made up of a public cloud solution, private cloud services, and an on-premises infrastructure</a:t>
            </a:r>
            <a:endParaRPr sz="2900"/>
          </a:p>
          <a:p>
            <a:pPr indent="-336550" lvl="0" marL="228600" rtl="0" algn="l">
              <a:lnSpc>
                <a:spcPct val="100000"/>
              </a:lnSpc>
              <a:spcBef>
                <a:spcPts val="1000"/>
              </a:spcBef>
              <a:spcAft>
                <a:spcPts val="0"/>
              </a:spcAft>
              <a:buSzPts val="2900"/>
              <a:buChar char="•"/>
            </a:pPr>
            <a:r>
              <a:rPr lang="en-US" sz="2900">
                <a:solidFill>
                  <a:schemeClr val="dk2"/>
                </a:solidFill>
              </a:rPr>
              <a:t>Examples of this include Amazon Web Services (AWS) and Microsoft Azure. </a:t>
            </a:r>
            <a:endParaRPr sz="2900">
              <a:solidFill>
                <a:schemeClr val="dk2"/>
              </a:solidFill>
            </a:endParaRPr>
          </a:p>
          <a:p>
            <a:pPr indent="-152400" lvl="0" marL="228600" rtl="0" algn="l">
              <a:lnSpc>
                <a:spcPct val="100000"/>
              </a:lnSpc>
              <a:spcBef>
                <a:spcPts val="1000"/>
              </a:spcBef>
              <a:spcAft>
                <a:spcPts val="0"/>
              </a:spcAft>
              <a:buSzPts val="1200"/>
              <a:buNone/>
            </a:pPr>
            <a:r>
              <a:t/>
            </a:r>
            <a:endParaRPr sz="2900">
              <a:solidFill>
                <a:schemeClr val="dk2"/>
              </a:solidFill>
            </a:endParaRPr>
          </a:p>
        </p:txBody>
      </p:sp>
      <p:pic>
        <p:nvPicPr>
          <p:cNvPr descr="Cloud shaped hard drive with cables" id="1647" name="Google Shape;1647;p50"/>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1" name="Shape 1651"/>
        <p:cNvGrpSpPr/>
        <p:nvPr/>
      </p:nvGrpSpPr>
      <p:grpSpPr>
        <a:xfrm>
          <a:off x="0" y="0"/>
          <a:ext cx="0" cy="0"/>
          <a:chOff x="0" y="0"/>
          <a:chExt cx="0" cy="0"/>
        </a:xfrm>
      </p:grpSpPr>
      <p:sp>
        <p:nvSpPr>
          <p:cNvPr id="1652" name="Google Shape;1652;p51"/>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53" name="Google Shape;1653;p51"/>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54" name="Google Shape;1654;p51"/>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655" name="Google Shape;1655;p51"/>
          <p:cNvGrpSpPr/>
          <p:nvPr/>
        </p:nvGrpSpPr>
        <p:grpSpPr>
          <a:xfrm>
            <a:off x="0" y="0"/>
            <a:ext cx="12214827" cy="6858000"/>
            <a:chOff x="-6214" y="-1"/>
            <a:chExt cx="12214827" cy="6858000"/>
          </a:xfrm>
        </p:grpSpPr>
        <p:cxnSp>
          <p:nvCxnSpPr>
            <p:cNvPr id="1656" name="Google Shape;1656;p51"/>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57" name="Google Shape;1657;p51"/>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58" name="Google Shape;1658;p51"/>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59" name="Google Shape;1659;p51"/>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0" name="Google Shape;1660;p51"/>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1" name="Google Shape;1661;p51"/>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2" name="Google Shape;1662;p51"/>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3" name="Google Shape;1663;p51"/>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4" name="Google Shape;1664;p51"/>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5" name="Google Shape;1665;p51"/>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6" name="Google Shape;1666;p51"/>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7" name="Google Shape;1667;p51"/>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8" name="Google Shape;1668;p51"/>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69" name="Google Shape;1669;p51"/>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0" name="Google Shape;1670;p51"/>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1" name="Google Shape;1671;p51"/>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2" name="Google Shape;1672;p51"/>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3" name="Google Shape;1673;p51"/>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4" name="Google Shape;1674;p51"/>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5" name="Google Shape;1675;p51"/>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6" name="Google Shape;1676;p51"/>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7" name="Google Shape;1677;p51"/>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8" name="Google Shape;1678;p51"/>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79" name="Google Shape;1679;p51"/>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80" name="Google Shape;1680;p51"/>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81" name="Google Shape;1681;p51"/>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82" name="Google Shape;1682;p51"/>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83" name="Google Shape;1683;p51"/>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684" name="Google Shape;1684;p51"/>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685" name="Google Shape;1685;p51"/>
          <p:cNvSpPr txBox="1"/>
          <p:nvPr>
            <p:ph idx="4294967295" type="ctrTitle"/>
          </p:nvPr>
        </p:nvSpPr>
        <p:spPr>
          <a:xfrm>
            <a:off x="389901" y="193053"/>
            <a:ext cx="4953000" cy="15378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a Hybrid Cloud?</a:t>
            </a:r>
            <a:endParaRPr/>
          </a:p>
        </p:txBody>
      </p:sp>
      <p:sp>
        <p:nvSpPr>
          <p:cNvPr id="1686" name="Google Shape;1686;p51"/>
          <p:cNvSpPr txBox="1"/>
          <p:nvPr>
            <p:ph idx="1" type="body"/>
          </p:nvPr>
        </p:nvSpPr>
        <p:spPr>
          <a:xfrm>
            <a:off x="457200" y="1851000"/>
            <a:ext cx="5893500" cy="4423200"/>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1000"/>
              </a:spcBef>
              <a:spcAft>
                <a:spcPts val="0"/>
              </a:spcAft>
              <a:buNone/>
            </a:pPr>
            <a:r>
              <a:t/>
            </a:r>
            <a:endParaRPr sz="2900">
              <a:solidFill>
                <a:schemeClr val="dk2"/>
              </a:solidFill>
            </a:endParaRPr>
          </a:p>
          <a:p>
            <a:pPr indent="-336550" lvl="0" marL="228600" rtl="0" algn="l">
              <a:lnSpc>
                <a:spcPct val="100000"/>
              </a:lnSpc>
              <a:spcBef>
                <a:spcPts val="1000"/>
              </a:spcBef>
              <a:spcAft>
                <a:spcPts val="0"/>
              </a:spcAft>
              <a:buSzPts val="2900"/>
              <a:buChar char="•"/>
            </a:pPr>
            <a:r>
              <a:rPr lang="en-US" sz="2900">
                <a:solidFill>
                  <a:schemeClr val="dk2"/>
                </a:solidFill>
              </a:rPr>
              <a:t>Using this combination gives you great flexibility and control and allows you to make the most of your infrastructure dollars.</a:t>
            </a:r>
            <a:endParaRPr sz="2900"/>
          </a:p>
          <a:p>
            <a:pPr indent="-152400" lvl="0" marL="228600" rtl="0" algn="l">
              <a:lnSpc>
                <a:spcPct val="100000"/>
              </a:lnSpc>
              <a:spcBef>
                <a:spcPts val="1000"/>
              </a:spcBef>
              <a:spcAft>
                <a:spcPts val="0"/>
              </a:spcAft>
              <a:buSzPts val="1200"/>
              <a:buNone/>
            </a:pPr>
            <a:r>
              <a:t/>
            </a:r>
            <a:endParaRPr sz="2900">
              <a:solidFill>
                <a:schemeClr val="dk2"/>
              </a:solidFill>
            </a:endParaRPr>
          </a:p>
        </p:txBody>
      </p:sp>
      <p:pic>
        <p:nvPicPr>
          <p:cNvPr descr="Cloud shaped hard drive with cables" id="1687" name="Google Shape;1687;p51"/>
          <p:cNvPicPr preferRelativeResize="0"/>
          <p:nvPr/>
        </p:nvPicPr>
        <p:blipFill rotWithShape="1">
          <a:blip r:embed="rId3">
            <a:alphaModFix/>
          </a:blip>
          <a:srcRect b="0" l="18736" r="32149" t="0"/>
          <a:stretch/>
        </p:blipFill>
        <p:spPr>
          <a:xfrm>
            <a:off x="6309311" y="1"/>
            <a:ext cx="589353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1" name="Shape 1691"/>
        <p:cNvGrpSpPr/>
        <p:nvPr/>
      </p:nvGrpSpPr>
      <p:grpSpPr>
        <a:xfrm>
          <a:off x="0" y="0"/>
          <a:ext cx="0" cy="0"/>
          <a:chOff x="0" y="0"/>
          <a:chExt cx="0" cy="0"/>
        </a:xfrm>
      </p:grpSpPr>
      <p:sp>
        <p:nvSpPr>
          <p:cNvPr id="1692" name="Google Shape;1692;p52"/>
          <p:cNvSpPr/>
          <p:nvPr/>
        </p:nvSpPr>
        <p:spPr>
          <a:xfrm>
            <a:off x="0" y="0"/>
            <a:ext cx="122086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93" name="Google Shape;1693;p52"/>
          <p:cNvSpPr/>
          <p:nvPr/>
        </p:nvSpPr>
        <p:spPr>
          <a:xfrm>
            <a:off x="0" y="0"/>
            <a:ext cx="12208613"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694" name="Google Shape;1694;p52"/>
          <p:cNvSpPr/>
          <p:nvPr/>
        </p:nvSpPr>
        <p:spPr>
          <a:xfrm rot="-2700000">
            <a:off x="408102" y="-284146"/>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695" name="Google Shape;1695;p52"/>
          <p:cNvGrpSpPr/>
          <p:nvPr/>
        </p:nvGrpSpPr>
        <p:grpSpPr>
          <a:xfrm>
            <a:off x="-6214" y="-1"/>
            <a:ext cx="12214827" cy="6858000"/>
            <a:chOff x="-6214" y="-1"/>
            <a:chExt cx="12214827" cy="6858000"/>
          </a:xfrm>
        </p:grpSpPr>
        <p:cxnSp>
          <p:nvCxnSpPr>
            <p:cNvPr id="1696" name="Google Shape;1696;p52"/>
            <p:cNvCxnSpPr/>
            <p:nvPr/>
          </p:nvCxnSpPr>
          <p:spPr>
            <a:xfrm>
              <a:off x="-6214" y="6686283"/>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697" name="Google Shape;1697;p52"/>
            <p:cNvCxnSpPr/>
            <p:nvPr/>
          </p:nvCxnSpPr>
          <p:spPr>
            <a:xfrm>
              <a:off x="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698" name="Google Shape;1698;p52"/>
            <p:cNvCxnSpPr/>
            <p:nvPr/>
          </p:nvCxnSpPr>
          <p:spPr>
            <a:xfrm>
              <a:off x="1199325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699" name="Google Shape;1699;p52"/>
            <p:cNvCxnSpPr/>
            <p:nvPr/>
          </p:nvCxnSpPr>
          <p:spPr>
            <a:xfrm>
              <a:off x="19252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0" name="Google Shape;1700;p52"/>
            <p:cNvCxnSpPr/>
            <p:nvPr/>
          </p:nvCxnSpPr>
          <p:spPr>
            <a:xfrm>
              <a:off x="119196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1" name="Google Shape;1701;p52"/>
            <p:cNvCxnSpPr/>
            <p:nvPr/>
          </p:nvCxnSpPr>
          <p:spPr>
            <a:xfrm>
              <a:off x="219140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2" name="Google Shape;1702;p52"/>
            <p:cNvCxnSpPr/>
            <p:nvPr/>
          </p:nvCxnSpPr>
          <p:spPr>
            <a:xfrm>
              <a:off x="319084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3" name="Google Shape;1703;p52"/>
            <p:cNvCxnSpPr/>
            <p:nvPr/>
          </p:nvCxnSpPr>
          <p:spPr>
            <a:xfrm>
              <a:off x="419028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4" name="Google Shape;1704;p52"/>
            <p:cNvCxnSpPr/>
            <p:nvPr/>
          </p:nvCxnSpPr>
          <p:spPr>
            <a:xfrm>
              <a:off x="518971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5" name="Google Shape;1705;p52"/>
            <p:cNvCxnSpPr/>
            <p:nvPr/>
          </p:nvCxnSpPr>
          <p:spPr>
            <a:xfrm>
              <a:off x="618915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6" name="Google Shape;1706;p52"/>
            <p:cNvCxnSpPr/>
            <p:nvPr/>
          </p:nvCxnSpPr>
          <p:spPr>
            <a:xfrm>
              <a:off x="7188594"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7" name="Google Shape;1707;p52"/>
            <p:cNvCxnSpPr/>
            <p:nvPr/>
          </p:nvCxnSpPr>
          <p:spPr>
            <a:xfrm>
              <a:off x="8188032"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8" name="Google Shape;1708;p52"/>
            <p:cNvCxnSpPr/>
            <p:nvPr/>
          </p:nvCxnSpPr>
          <p:spPr>
            <a:xfrm>
              <a:off x="9187470"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09" name="Google Shape;1709;p52"/>
            <p:cNvCxnSpPr/>
            <p:nvPr/>
          </p:nvCxnSpPr>
          <p:spPr>
            <a:xfrm>
              <a:off x="10186908"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0" name="Google Shape;1710;p52"/>
            <p:cNvCxnSpPr/>
            <p:nvPr/>
          </p:nvCxnSpPr>
          <p:spPr>
            <a:xfrm>
              <a:off x="1118634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1" name="Google Shape;1711;p52"/>
            <p:cNvCxnSpPr/>
            <p:nvPr/>
          </p:nvCxnSpPr>
          <p:spPr>
            <a:xfrm>
              <a:off x="12185786" y="-1"/>
              <a:ext cx="0" cy="685800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2" name="Google Shape;1712;p52"/>
            <p:cNvCxnSpPr/>
            <p:nvPr/>
          </p:nvCxnSpPr>
          <p:spPr>
            <a:xfrm>
              <a:off x="0" y="1717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3" name="Google Shape;1713;p52"/>
            <p:cNvCxnSpPr/>
            <p:nvPr/>
          </p:nvCxnSpPr>
          <p:spPr>
            <a:xfrm>
              <a:off x="0" y="72890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4" name="Google Shape;1714;p52"/>
            <p:cNvCxnSpPr/>
            <p:nvPr/>
          </p:nvCxnSpPr>
          <p:spPr>
            <a:xfrm>
              <a:off x="0" y="128609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5" name="Google Shape;1715;p52"/>
            <p:cNvCxnSpPr/>
            <p:nvPr/>
          </p:nvCxnSpPr>
          <p:spPr>
            <a:xfrm>
              <a:off x="0" y="184328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6" name="Google Shape;1716;p52"/>
            <p:cNvCxnSpPr/>
            <p:nvPr/>
          </p:nvCxnSpPr>
          <p:spPr>
            <a:xfrm>
              <a:off x="0" y="240047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7" name="Google Shape;1717;p52"/>
            <p:cNvCxnSpPr/>
            <p:nvPr/>
          </p:nvCxnSpPr>
          <p:spPr>
            <a:xfrm>
              <a:off x="0" y="295766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8" name="Google Shape;1718;p52"/>
            <p:cNvCxnSpPr/>
            <p:nvPr/>
          </p:nvCxnSpPr>
          <p:spPr>
            <a:xfrm>
              <a:off x="0" y="351485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19" name="Google Shape;1719;p52"/>
            <p:cNvCxnSpPr/>
            <p:nvPr/>
          </p:nvCxnSpPr>
          <p:spPr>
            <a:xfrm>
              <a:off x="0" y="407204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20" name="Google Shape;1720;p52"/>
            <p:cNvCxnSpPr/>
            <p:nvPr/>
          </p:nvCxnSpPr>
          <p:spPr>
            <a:xfrm>
              <a:off x="0" y="462923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21" name="Google Shape;1721;p52"/>
            <p:cNvCxnSpPr/>
            <p:nvPr/>
          </p:nvCxnSpPr>
          <p:spPr>
            <a:xfrm>
              <a:off x="0" y="518642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22" name="Google Shape;1722;p52"/>
            <p:cNvCxnSpPr/>
            <p:nvPr/>
          </p:nvCxnSpPr>
          <p:spPr>
            <a:xfrm>
              <a:off x="0" y="5743616"/>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23" name="Google Shape;1723;p52"/>
            <p:cNvCxnSpPr/>
            <p:nvPr/>
          </p:nvCxnSpPr>
          <p:spPr>
            <a:xfrm>
              <a:off x="0" y="6857999"/>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cxnSp>
          <p:nvCxnSpPr>
            <p:cNvPr id="1724" name="Google Shape;1724;p52"/>
            <p:cNvCxnSpPr/>
            <p:nvPr/>
          </p:nvCxnSpPr>
          <p:spPr>
            <a:xfrm>
              <a:off x="16613" y="6248400"/>
              <a:ext cx="12192000" cy="0"/>
            </a:xfrm>
            <a:prstGeom prst="straightConnector1">
              <a:avLst/>
            </a:prstGeom>
            <a:noFill/>
            <a:ln cap="flat" cmpd="sng" w="19050">
              <a:solidFill>
                <a:schemeClr val="accent2">
                  <a:alpha val="20000"/>
                </a:schemeClr>
              </a:solidFill>
              <a:prstDash val="dot"/>
              <a:miter lim="800000"/>
              <a:headEnd len="sm" w="sm" type="none"/>
              <a:tailEnd len="sm" w="sm" type="none"/>
            </a:ln>
          </p:spPr>
        </p:cxnSp>
      </p:grpSp>
      <p:sp>
        <p:nvSpPr>
          <p:cNvPr id="1725" name="Google Shape;1725;p52"/>
          <p:cNvSpPr txBox="1"/>
          <p:nvPr>
            <p:ph idx="4294967295" type="ctrTitle"/>
          </p:nvPr>
        </p:nvSpPr>
        <p:spPr>
          <a:xfrm>
            <a:off x="457200" y="720775"/>
            <a:ext cx="2996400" cy="55311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0" i="0" lang="en-US" sz="4400" u="none" cap="none" strike="noStrike">
                <a:solidFill>
                  <a:schemeClr val="dk1"/>
                </a:solidFill>
                <a:latin typeface="Arial"/>
                <a:ea typeface="Arial"/>
                <a:cs typeface="Arial"/>
                <a:sym typeface="Arial"/>
              </a:rPr>
              <a:t>Benefits of a Hybrid Cloud?</a:t>
            </a:r>
            <a:endParaRPr/>
          </a:p>
        </p:txBody>
      </p:sp>
      <p:sp>
        <p:nvSpPr>
          <p:cNvPr id="1726" name="Google Shape;1726;p52"/>
          <p:cNvSpPr/>
          <p:nvPr/>
        </p:nvSpPr>
        <p:spPr>
          <a:xfrm>
            <a:off x="4206893" y="191033"/>
            <a:ext cx="7763540" cy="606558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727" name="Google Shape;1727;p52"/>
          <p:cNvGrpSpPr/>
          <p:nvPr/>
        </p:nvGrpSpPr>
        <p:grpSpPr>
          <a:xfrm>
            <a:off x="3453649" y="0"/>
            <a:ext cx="8541474" cy="6858224"/>
            <a:chOff x="0" y="752"/>
            <a:chExt cx="7812562" cy="6162480"/>
          </a:xfrm>
        </p:grpSpPr>
        <p:sp>
          <p:nvSpPr>
            <p:cNvPr id="1728" name="Google Shape;1728;p52"/>
            <p:cNvSpPr/>
            <p:nvPr/>
          </p:nvSpPr>
          <p:spPr>
            <a:xfrm>
              <a:off x="0" y="752"/>
              <a:ext cx="7812562" cy="176070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29" name="Google Shape;1729;p52"/>
            <p:cNvSpPr/>
            <p:nvPr/>
          </p:nvSpPr>
          <p:spPr>
            <a:xfrm>
              <a:off x="532614" y="396911"/>
              <a:ext cx="968389" cy="968389"/>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0" name="Google Shape;1730;p52"/>
            <p:cNvSpPr/>
            <p:nvPr/>
          </p:nvSpPr>
          <p:spPr>
            <a:xfrm>
              <a:off x="2033618" y="752"/>
              <a:ext cx="5778943" cy="17607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1" name="Google Shape;1731;p52"/>
            <p:cNvSpPr txBox="1"/>
            <p:nvPr/>
          </p:nvSpPr>
          <p:spPr>
            <a:xfrm>
              <a:off x="2033618" y="752"/>
              <a:ext cx="5778943" cy="1760708"/>
            </a:xfrm>
            <a:prstGeom prst="rect">
              <a:avLst/>
            </a:prstGeom>
            <a:noFill/>
            <a:ln>
              <a:noFill/>
            </a:ln>
          </p:spPr>
          <p:txBody>
            <a:bodyPr anchorCtr="0" anchor="ctr" bIns="186325" lIns="186325" spcFirstLastPara="1" rIns="186325" wrap="square" tIns="186325">
              <a:noAutofit/>
            </a:bodyPr>
            <a:lstStyle/>
            <a:p>
              <a:pPr indent="0" lvl="0" marL="0" marR="0" rtl="0" algn="l">
                <a:lnSpc>
                  <a:spcPct val="90000"/>
                </a:lnSpc>
                <a:spcBef>
                  <a:spcPts val="0"/>
                </a:spcBef>
                <a:spcAft>
                  <a:spcPts val="0"/>
                </a:spcAft>
                <a:buNone/>
              </a:pPr>
              <a:r>
                <a:rPr b="0" i="0" lang="en-US" sz="2500" u="none" cap="none" strike="noStrike">
                  <a:solidFill>
                    <a:schemeClr val="dk1"/>
                  </a:solidFill>
                  <a:latin typeface="Avenir"/>
                  <a:ea typeface="Avenir"/>
                  <a:cs typeface="Avenir"/>
                  <a:sym typeface="Avenir"/>
                </a:rPr>
                <a:t>Although cloud services are able to save you a lot of money, their main value is in supporting an ever-changing digital business structure</a:t>
              </a:r>
              <a:endParaRPr sz="2500"/>
            </a:p>
          </p:txBody>
        </p:sp>
        <p:sp>
          <p:nvSpPr>
            <p:cNvPr id="1732" name="Google Shape;1732;p52"/>
            <p:cNvSpPr/>
            <p:nvPr/>
          </p:nvSpPr>
          <p:spPr>
            <a:xfrm>
              <a:off x="0" y="2201638"/>
              <a:ext cx="7812562" cy="176070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3" name="Google Shape;1733;p52"/>
            <p:cNvSpPr/>
            <p:nvPr/>
          </p:nvSpPr>
          <p:spPr>
            <a:xfrm>
              <a:off x="532614" y="2597798"/>
              <a:ext cx="968389" cy="968389"/>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4" name="Google Shape;1734;p52"/>
            <p:cNvSpPr/>
            <p:nvPr/>
          </p:nvSpPr>
          <p:spPr>
            <a:xfrm>
              <a:off x="2033618" y="2201638"/>
              <a:ext cx="5778943" cy="17607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5" name="Google Shape;1735;p52"/>
            <p:cNvSpPr txBox="1"/>
            <p:nvPr/>
          </p:nvSpPr>
          <p:spPr>
            <a:xfrm>
              <a:off x="2033618" y="2201638"/>
              <a:ext cx="5778943" cy="1760708"/>
            </a:xfrm>
            <a:prstGeom prst="rect">
              <a:avLst/>
            </a:prstGeom>
            <a:noFill/>
            <a:ln>
              <a:noFill/>
            </a:ln>
          </p:spPr>
          <p:txBody>
            <a:bodyPr anchorCtr="0" anchor="ctr" bIns="186325" lIns="186325" spcFirstLastPara="1" rIns="186325" wrap="square" tIns="186325">
              <a:noAutofit/>
            </a:bodyPr>
            <a:lstStyle/>
            <a:p>
              <a:pPr indent="0" lvl="0" marL="0" marR="0" rtl="0" algn="l">
                <a:lnSpc>
                  <a:spcPct val="90000"/>
                </a:lnSpc>
                <a:spcBef>
                  <a:spcPts val="0"/>
                </a:spcBef>
                <a:spcAft>
                  <a:spcPts val="0"/>
                </a:spcAft>
                <a:buNone/>
              </a:pPr>
              <a:r>
                <a:rPr b="0" i="0" lang="en-US" sz="2500" u="none" cap="none" strike="noStrike">
                  <a:solidFill>
                    <a:schemeClr val="dk1"/>
                  </a:solidFill>
                  <a:latin typeface="Avenir"/>
                  <a:ea typeface="Avenir"/>
                  <a:cs typeface="Avenir"/>
                  <a:sym typeface="Avenir"/>
                </a:rPr>
                <a:t>Every technology management team has to focus on two main agendas: the IT side of the business and the business transformation needs</a:t>
              </a:r>
              <a:endParaRPr sz="2500"/>
            </a:p>
          </p:txBody>
        </p:sp>
        <p:sp>
          <p:nvSpPr>
            <p:cNvPr id="1736" name="Google Shape;1736;p52"/>
            <p:cNvSpPr/>
            <p:nvPr/>
          </p:nvSpPr>
          <p:spPr>
            <a:xfrm>
              <a:off x="0" y="4402524"/>
              <a:ext cx="7812562" cy="1760708"/>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7" name="Google Shape;1737;p52"/>
            <p:cNvSpPr/>
            <p:nvPr/>
          </p:nvSpPr>
          <p:spPr>
            <a:xfrm>
              <a:off x="532614" y="4798684"/>
              <a:ext cx="968389" cy="968389"/>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8" name="Google Shape;1738;p52"/>
            <p:cNvSpPr/>
            <p:nvPr/>
          </p:nvSpPr>
          <p:spPr>
            <a:xfrm>
              <a:off x="2033618" y="4402524"/>
              <a:ext cx="5778943" cy="176070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500"/>
            </a:p>
          </p:txBody>
        </p:sp>
        <p:sp>
          <p:nvSpPr>
            <p:cNvPr id="1739" name="Google Shape;1739;p52"/>
            <p:cNvSpPr txBox="1"/>
            <p:nvPr/>
          </p:nvSpPr>
          <p:spPr>
            <a:xfrm>
              <a:off x="2033618" y="4402524"/>
              <a:ext cx="5778943" cy="1760708"/>
            </a:xfrm>
            <a:prstGeom prst="rect">
              <a:avLst/>
            </a:prstGeom>
            <a:noFill/>
            <a:ln>
              <a:noFill/>
            </a:ln>
          </p:spPr>
          <p:txBody>
            <a:bodyPr anchorCtr="0" anchor="ctr" bIns="186325" lIns="186325" spcFirstLastPara="1" rIns="186325" wrap="square" tIns="186325">
              <a:noAutofit/>
            </a:bodyPr>
            <a:lstStyle/>
            <a:p>
              <a:pPr indent="0" lvl="0" marL="0" marR="0" rtl="0" algn="l">
                <a:lnSpc>
                  <a:spcPct val="90000"/>
                </a:lnSpc>
                <a:spcBef>
                  <a:spcPts val="0"/>
                </a:spcBef>
                <a:spcAft>
                  <a:spcPts val="0"/>
                </a:spcAft>
                <a:buNone/>
              </a:pPr>
              <a:r>
                <a:rPr b="0" i="0" lang="en-US" sz="2500" u="none" cap="none" strike="noStrike">
                  <a:solidFill>
                    <a:schemeClr val="dk1"/>
                  </a:solidFill>
                  <a:latin typeface="Avenir"/>
                  <a:ea typeface="Avenir"/>
                  <a:cs typeface="Avenir"/>
                  <a:sym typeface="Avenir"/>
                </a:rPr>
                <a:t>It is also a cost-effective way of getting the resources you need without spending the time or money of purchasing, installing, and maintaining new servers that you may only need occasionally</a:t>
              </a:r>
              <a:endParaRPr sz="2500"/>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3" name="Shape 1743"/>
        <p:cNvGrpSpPr/>
        <p:nvPr/>
      </p:nvGrpSpPr>
      <p:grpSpPr>
        <a:xfrm>
          <a:off x="0" y="0"/>
          <a:ext cx="0" cy="0"/>
          <a:chOff x="0" y="0"/>
          <a:chExt cx="0" cy="0"/>
        </a:xfrm>
      </p:grpSpPr>
      <p:sp>
        <p:nvSpPr>
          <p:cNvPr id="1744" name="Google Shape;1744;p5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45" name="Google Shape;1745;p53"/>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46" name="Google Shape;1746;p53"/>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747" name="Google Shape;1747;p53"/>
          <p:cNvGrpSpPr/>
          <p:nvPr/>
        </p:nvGrpSpPr>
        <p:grpSpPr>
          <a:xfrm>
            <a:off x="0" y="0"/>
            <a:ext cx="12214827" cy="6858000"/>
            <a:chOff x="-6214" y="-1"/>
            <a:chExt cx="12214827" cy="6858000"/>
          </a:xfrm>
        </p:grpSpPr>
        <p:cxnSp>
          <p:nvCxnSpPr>
            <p:cNvPr id="1748" name="Google Shape;1748;p53"/>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49" name="Google Shape;1749;p53"/>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0" name="Google Shape;1750;p53"/>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1" name="Google Shape;1751;p53"/>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2" name="Google Shape;1752;p53"/>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3" name="Google Shape;1753;p53"/>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4" name="Google Shape;1754;p53"/>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5" name="Google Shape;1755;p53"/>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6" name="Google Shape;1756;p53"/>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7" name="Google Shape;1757;p53"/>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8" name="Google Shape;1758;p53"/>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59" name="Google Shape;1759;p53"/>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0" name="Google Shape;1760;p53"/>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1" name="Google Shape;1761;p53"/>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2" name="Google Shape;1762;p53"/>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3" name="Google Shape;1763;p53"/>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4" name="Google Shape;1764;p53"/>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5" name="Google Shape;1765;p53"/>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6" name="Google Shape;1766;p53"/>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7" name="Google Shape;1767;p53"/>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8" name="Google Shape;1768;p53"/>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69" name="Google Shape;1769;p53"/>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0" name="Google Shape;1770;p53"/>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1" name="Google Shape;1771;p53"/>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2" name="Google Shape;1772;p53"/>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3" name="Google Shape;1773;p53"/>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4" name="Google Shape;1774;p53"/>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5" name="Google Shape;1775;p53"/>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76" name="Google Shape;1776;p53"/>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777" name="Google Shape;1777;p53"/>
          <p:cNvSpPr txBox="1"/>
          <p:nvPr>
            <p:ph idx="4294967295" type="ctrTitle"/>
          </p:nvPr>
        </p:nvSpPr>
        <p:spPr>
          <a:xfrm>
            <a:off x="389901" y="182167"/>
            <a:ext cx="4952999" cy="1661120"/>
          </a:xfrm>
          <a:prstGeom prst="rect">
            <a:avLst/>
          </a:prstGeom>
          <a:noFill/>
          <a:ln>
            <a:noFill/>
          </a:ln>
        </p:spPr>
        <p:txBody>
          <a:bodyPr anchorCtr="0" anchor="ctr" bIns="45700" lIns="91425" spcFirstLastPara="1" rIns="91425" wrap="square" tIns="45700">
            <a:normAutofit fontScale="90000"/>
          </a:bodyPr>
          <a:lstStyle/>
          <a:p>
            <a:pPr indent="0" lvl="0" marL="0" marR="0" rtl="0" algn="l">
              <a:lnSpc>
                <a:spcPct val="90000"/>
              </a:lnSpc>
              <a:spcBef>
                <a:spcPts val="0"/>
              </a:spcBef>
              <a:spcAft>
                <a:spcPts val="0"/>
              </a:spcAft>
              <a:buClr>
                <a:schemeClr val="dk1"/>
              </a:buClr>
              <a:buSzPct val="100000"/>
              <a:buFont typeface="Arial"/>
              <a:buNone/>
            </a:pPr>
            <a:r>
              <a:rPr b="0" i="0" lang="en-US" sz="4400" u="none" cap="none" strike="noStrike">
                <a:solidFill>
                  <a:schemeClr val="dk1"/>
                </a:solidFill>
                <a:latin typeface="Arial"/>
                <a:ea typeface="Arial"/>
                <a:cs typeface="Arial"/>
                <a:sym typeface="Arial"/>
              </a:rPr>
              <a:t>Security Concerns of a Hybrid Solution</a:t>
            </a:r>
            <a:endParaRPr/>
          </a:p>
        </p:txBody>
      </p:sp>
      <p:sp>
        <p:nvSpPr>
          <p:cNvPr id="1778" name="Google Shape;1778;p53"/>
          <p:cNvSpPr txBox="1"/>
          <p:nvPr>
            <p:ph idx="1" type="body"/>
          </p:nvPr>
        </p:nvSpPr>
        <p:spPr>
          <a:xfrm>
            <a:off x="457200" y="1851000"/>
            <a:ext cx="6478800" cy="4621200"/>
          </a:xfrm>
          <a:prstGeom prst="rect">
            <a:avLst/>
          </a:prstGeom>
          <a:noFill/>
          <a:ln>
            <a:noFill/>
          </a:ln>
        </p:spPr>
        <p:txBody>
          <a:bodyPr anchorCtr="0" anchor="t" bIns="45700" lIns="91425" spcFirstLastPara="1" rIns="91425" wrap="square" tIns="45700">
            <a:noAutofit/>
          </a:bodyPr>
          <a:lstStyle/>
          <a:p>
            <a:pPr indent="-266700" lvl="0" marL="228600" rtl="0" algn="l">
              <a:lnSpc>
                <a:spcPct val="100000"/>
              </a:lnSpc>
              <a:spcBef>
                <a:spcPts val="0"/>
              </a:spcBef>
              <a:spcAft>
                <a:spcPts val="0"/>
              </a:spcAft>
              <a:buSzPts val="2100"/>
              <a:buChar char="•"/>
            </a:pPr>
            <a:r>
              <a:rPr lang="en-US" sz="2600">
                <a:solidFill>
                  <a:schemeClr val="dk2"/>
                </a:solidFill>
              </a:rPr>
              <a:t>Hybrid cloud platforms use many of the same security measures as on-premises infrastructures, including security information and event management.</a:t>
            </a:r>
            <a:endParaRPr sz="2600">
              <a:solidFill>
                <a:schemeClr val="dk2"/>
              </a:solidFill>
            </a:endParaRPr>
          </a:p>
          <a:p>
            <a:pPr indent="-266700" lvl="0" marL="228600" rtl="0" algn="l">
              <a:lnSpc>
                <a:spcPct val="100000"/>
              </a:lnSpc>
              <a:spcBef>
                <a:spcPts val="1000"/>
              </a:spcBef>
              <a:spcAft>
                <a:spcPts val="0"/>
              </a:spcAft>
              <a:buSzPts val="2100"/>
              <a:buChar char="•"/>
            </a:pPr>
            <a:r>
              <a:rPr lang="en-US" sz="2600">
                <a:solidFill>
                  <a:schemeClr val="dk2"/>
                </a:solidFill>
              </a:rPr>
              <a:t>Organizations that use hybrid systems find the security to be better than their on-site data center because of the automatic updates, automated data redundancy, disaster recovery, high availability, and strict cyber security features.</a:t>
            </a:r>
            <a:endParaRPr sz="2600">
              <a:solidFill>
                <a:schemeClr val="dk2"/>
              </a:solidFill>
            </a:endParaRPr>
          </a:p>
        </p:txBody>
      </p:sp>
      <p:pic>
        <p:nvPicPr>
          <p:cNvPr descr="Illuminated server room panel" id="1779" name="Google Shape;1779;p53"/>
          <p:cNvPicPr preferRelativeResize="0"/>
          <p:nvPr/>
        </p:nvPicPr>
        <p:blipFill rotWithShape="1">
          <a:blip r:embed="rId3">
            <a:alphaModFix/>
          </a:blip>
          <a:srcRect b="-4" l="14498" r="28200" t="0"/>
          <a:stretch/>
        </p:blipFill>
        <p:spPr>
          <a:xfrm>
            <a:off x="7005899" y="0"/>
            <a:ext cx="5197563"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3" name="Shape 1783"/>
        <p:cNvGrpSpPr/>
        <p:nvPr/>
      </p:nvGrpSpPr>
      <p:grpSpPr>
        <a:xfrm>
          <a:off x="0" y="0"/>
          <a:ext cx="0" cy="0"/>
          <a:chOff x="0" y="0"/>
          <a:chExt cx="0" cy="0"/>
        </a:xfrm>
      </p:grpSpPr>
      <p:sp>
        <p:nvSpPr>
          <p:cNvPr id="1784" name="Google Shape;1784;p5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85" name="Google Shape;1785;p54"/>
          <p:cNvSpPr/>
          <p:nvPr/>
        </p:nvSpPr>
        <p:spPr>
          <a:xfrm>
            <a:off x="0" y="0"/>
            <a:ext cx="12188952"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786" name="Google Shape;1786;p54"/>
          <p:cNvSpPr/>
          <p:nvPr/>
        </p:nvSpPr>
        <p:spPr>
          <a:xfrm rot="-8100000">
            <a:off x="-296085" y="1566850"/>
            <a:ext cx="568289" cy="568289"/>
          </a:xfrm>
          <a:prstGeom prst="rtTriangle">
            <a:avLst/>
          </a:prstGeom>
          <a:solidFill>
            <a:schemeClr val="lt1">
              <a:alpha val="7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787" name="Google Shape;1787;p54"/>
          <p:cNvGrpSpPr/>
          <p:nvPr/>
        </p:nvGrpSpPr>
        <p:grpSpPr>
          <a:xfrm>
            <a:off x="0" y="0"/>
            <a:ext cx="12214827" cy="6858000"/>
            <a:chOff x="-6214" y="-1"/>
            <a:chExt cx="12214827" cy="6858000"/>
          </a:xfrm>
        </p:grpSpPr>
        <p:cxnSp>
          <p:nvCxnSpPr>
            <p:cNvPr id="1788" name="Google Shape;1788;p54"/>
            <p:cNvCxnSpPr/>
            <p:nvPr/>
          </p:nvCxnSpPr>
          <p:spPr>
            <a:xfrm>
              <a:off x="-6214" y="6686283"/>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89" name="Google Shape;1789;p54"/>
            <p:cNvCxnSpPr/>
            <p:nvPr/>
          </p:nvCxnSpPr>
          <p:spPr>
            <a:xfrm>
              <a:off x="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0" name="Google Shape;1790;p54"/>
            <p:cNvCxnSpPr/>
            <p:nvPr/>
          </p:nvCxnSpPr>
          <p:spPr>
            <a:xfrm>
              <a:off x="1199325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1" name="Google Shape;1791;p54"/>
            <p:cNvCxnSpPr/>
            <p:nvPr/>
          </p:nvCxnSpPr>
          <p:spPr>
            <a:xfrm>
              <a:off x="19252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2" name="Google Shape;1792;p54"/>
            <p:cNvCxnSpPr/>
            <p:nvPr/>
          </p:nvCxnSpPr>
          <p:spPr>
            <a:xfrm>
              <a:off x="119196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3" name="Google Shape;1793;p54"/>
            <p:cNvCxnSpPr/>
            <p:nvPr/>
          </p:nvCxnSpPr>
          <p:spPr>
            <a:xfrm>
              <a:off x="219140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4" name="Google Shape;1794;p54"/>
            <p:cNvCxnSpPr/>
            <p:nvPr/>
          </p:nvCxnSpPr>
          <p:spPr>
            <a:xfrm>
              <a:off x="319084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5" name="Google Shape;1795;p54"/>
            <p:cNvCxnSpPr/>
            <p:nvPr/>
          </p:nvCxnSpPr>
          <p:spPr>
            <a:xfrm>
              <a:off x="419028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6" name="Google Shape;1796;p54"/>
            <p:cNvCxnSpPr/>
            <p:nvPr/>
          </p:nvCxnSpPr>
          <p:spPr>
            <a:xfrm>
              <a:off x="518971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7" name="Google Shape;1797;p54"/>
            <p:cNvCxnSpPr/>
            <p:nvPr/>
          </p:nvCxnSpPr>
          <p:spPr>
            <a:xfrm>
              <a:off x="618915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8" name="Google Shape;1798;p54"/>
            <p:cNvCxnSpPr/>
            <p:nvPr/>
          </p:nvCxnSpPr>
          <p:spPr>
            <a:xfrm>
              <a:off x="7188594"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799" name="Google Shape;1799;p54"/>
            <p:cNvCxnSpPr/>
            <p:nvPr/>
          </p:nvCxnSpPr>
          <p:spPr>
            <a:xfrm>
              <a:off x="8188032"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0" name="Google Shape;1800;p54"/>
            <p:cNvCxnSpPr/>
            <p:nvPr/>
          </p:nvCxnSpPr>
          <p:spPr>
            <a:xfrm>
              <a:off x="9187470"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1" name="Google Shape;1801;p54"/>
            <p:cNvCxnSpPr/>
            <p:nvPr/>
          </p:nvCxnSpPr>
          <p:spPr>
            <a:xfrm>
              <a:off x="10186908"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2" name="Google Shape;1802;p54"/>
            <p:cNvCxnSpPr/>
            <p:nvPr/>
          </p:nvCxnSpPr>
          <p:spPr>
            <a:xfrm>
              <a:off x="1118634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3" name="Google Shape;1803;p54"/>
            <p:cNvCxnSpPr/>
            <p:nvPr/>
          </p:nvCxnSpPr>
          <p:spPr>
            <a:xfrm>
              <a:off x="12185786" y="-1"/>
              <a:ext cx="0" cy="685800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4" name="Google Shape;1804;p54"/>
            <p:cNvCxnSpPr/>
            <p:nvPr/>
          </p:nvCxnSpPr>
          <p:spPr>
            <a:xfrm>
              <a:off x="0" y="1717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5" name="Google Shape;1805;p54"/>
            <p:cNvCxnSpPr/>
            <p:nvPr/>
          </p:nvCxnSpPr>
          <p:spPr>
            <a:xfrm>
              <a:off x="0" y="72890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6" name="Google Shape;1806;p54"/>
            <p:cNvCxnSpPr/>
            <p:nvPr/>
          </p:nvCxnSpPr>
          <p:spPr>
            <a:xfrm>
              <a:off x="0" y="128609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7" name="Google Shape;1807;p54"/>
            <p:cNvCxnSpPr/>
            <p:nvPr/>
          </p:nvCxnSpPr>
          <p:spPr>
            <a:xfrm>
              <a:off x="0" y="184328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8" name="Google Shape;1808;p54"/>
            <p:cNvCxnSpPr/>
            <p:nvPr/>
          </p:nvCxnSpPr>
          <p:spPr>
            <a:xfrm>
              <a:off x="0" y="240047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09" name="Google Shape;1809;p54"/>
            <p:cNvCxnSpPr/>
            <p:nvPr/>
          </p:nvCxnSpPr>
          <p:spPr>
            <a:xfrm>
              <a:off x="0" y="295766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0" name="Google Shape;1810;p54"/>
            <p:cNvCxnSpPr/>
            <p:nvPr/>
          </p:nvCxnSpPr>
          <p:spPr>
            <a:xfrm>
              <a:off x="0" y="351485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1" name="Google Shape;1811;p54"/>
            <p:cNvCxnSpPr/>
            <p:nvPr/>
          </p:nvCxnSpPr>
          <p:spPr>
            <a:xfrm>
              <a:off x="0" y="407204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2" name="Google Shape;1812;p54"/>
            <p:cNvCxnSpPr/>
            <p:nvPr/>
          </p:nvCxnSpPr>
          <p:spPr>
            <a:xfrm>
              <a:off x="0" y="462923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3" name="Google Shape;1813;p54"/>
            <p:cNvCxnSpPr/>
            <p:nvPr/>
          </p:nvCxnSpPr>
          <p:spPr>
            <a:xfrm>
              <a:off x="0" y="518642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4" name="Google Shape;1814;p54"/>
            <p:cNvCxnSpPr/>
            <p:nvPr/>
          </p:nvCxnSpPr>
          <p:spPr>
            <a:xfrm>
              <a:off x="0" y="5743616"/>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5" name="Google Shape;1815;p54"/>
            <p:cNvCxnSpPr/>
            <p:nvPr/>
          </p:nvCxnSpPr>
          <p:spPr>
            <a:xfrm>
              <a:off x="0" y="6857999"/>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cxnSp>
          <p:nvCxnSpPr>
            <p:cNvPr id="1816" name="Google Shape;1816;p54"/>
            <p:cNvCxnSpPr/>
            <p:nvPr/>
          </p:nvCxnSpPr>
          <p:spPr>
            <a:xfrm>
              <a:off x="16613" y="6248400"/>
              <a:ext cx="12192000" cy="0"/>
            </a:xfrm>
            <a:prstGeom prst="straightConnector1">
              <a:avLst/>
            </a:prstGeom>
            <a:noFill/>
            <a:ln cap="flat" cmpd="sng" w="19050">
              <a:solidFill>
                <a:schemeClr val="accent2">
                  <a:alpha val="14901"/>
                </a:schemeClr>
              </a:solidFill>
              <a:prstDash val="dot"/>
              <a:miter lim="800000"/>
              <a:headEnd len="sm" w="sm" type="none"/>
              <a:tailEnd len="sm" w="sm" type="none"/>
            </a:ln>
          </p:spPr>
        </p:cxnSp>
      </p:grpSp>
      <p:sp>
        <p:nvSpPr>
          <p:cNvPr id="1817" name="Google Shape;1817;p54"/>
          <p:cNvSpPr txBox="1"/>
          <p:nvPr>
            <p:ph idx="4294967295" type="ctrTitle"/>
          </p:nvPr>
        </p:nvSpPr>
        <p:spPr>
          <a:xfrm>
            <a:off x="457200" y="171717"/>
            <a:ext cx="5738170" cy="111438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Multi-Cloud?</a:t>
            </a:r>
            <a:endParaRPr/>
          </a:p>
        </p:txBody>
      </p:sp>
      <p:sp>
        <p:nvSpPr>
          <p:cNvPr id="1818" name="Google Shape;1818;p54"/>
          <p:cNvSpPr txBox="1"/>
          <p:nvPr>
            <p:ph idx="1" type="body"/>
          </p:nvPr>
        </p:nvSpPr>
        <p:spPr>
          <a:xfrm>
            <a:off x="457200" y="1286097"/>
            <a:ext cx="5738170" cy="4988229"/>
          </a:xfrm>
          <a:prstGeom prst="rect">
            <a:avLst/>
          </a:prstGeom>
          <a:noFill/>
          <a:ln>
            <a:noFill/>
          </a:ln>
        </p:spPr>
        <p:txBody>
          <a:bodyPr anchorCtr="0" anchor="t" bIns="45700" lIns="91425" spcFirstLastPara="1" rIns="91425" wrap="square" tIns="45700">
            <a:normAutofit/>
          </a:bodyPr>
          <a:lstStyle/>
          <a:p>
            <a:pPr indent="0" lvl="0" marL="228600" rtl="0" algn="l">
              <a:lnSpc>
                <a:spcPct val="100000"/>
              </a:lnSpc>
              <a:spcBef>
                <a:spcPts val="0"/>
              </a:spcBef>
              <a:spcAft>
                <a:spcPts val="0"/>
              </a:spcAft>
              <a:buNone/>
            </a:pPr>
            <a:r>
              <a:t/>
            </a:r>
            <a:endParaRPr sz="2900">
              <a:solidFill>
                <a:schemeClr val="dk2"/>
              </a:solidFill>
            </a:endParaRPr>
          </a:p>
          <a:p>
            <a:pPr indent="0" lvl="0" marL="228600" rtl="0" algn="l">
              <a:lnSpc>
                <a:spcPct val="100000"/>
              </a:lnSpc>
              <a:spcBef>
                <a:spcPts val="0"/>
              </a:spcBef>
              <a:spcAft>
                <a:spcPts val="0"/>
              </a:spcAft>
              <a:buNone/>
            </a:pPr>
            <a:r>
              <a:rPr lang="en-US" sz="2900">
                <a:solidFill>
                  <a:schemeClr val="dk2"/>
                </a:solidFill>
              </a:rPr>
              <a:t>A multi-cloud architecture uses two or more cloud service providers from a number of different computing vendors.</a:t>
            </a:r>
            <a:endParaRPr sz="2900"/>
          </a:p>
          <a:p>
            <a:pPr indent="-142875" lvl="0" marL="228600" rtl="0" algn="l">
              <a:lnSpc>
                <a:spcPct val="100000"/>
              </a:lnSpc>
              <a:spcBef>
                <a:spcPts val="1000"/>
              </a:spcBef>
              <a:spcAft>
                <a:spcPts val="0"/>
              </a:spcAft>
              <a:buClr>
                <a:srgbClr val="585298"/>
              </a:buClr>
              <a:buSzPts val="1350"/>
              <a:buFont typeface="Noto Sans Symbols"/>
              <a:buNone/>
            </a:pPr>
            <a:r>
              <a:t/>
            </a:r>
            <a:endParaRPr sz="2900">
              <a:solidFill>
                <a:schemeClr val="dk2"/>
              </a:solidFill>
            </a:endParaRPr>
          </a:p>
          <a:p>
            <a:pPr indent="0" lvl="0" marL="0" rtl="0" algn="l">
              <a:lnSpc>
                <a:spcPct val="100000"/>
              </a:lnSpc>
              <a:spcBef>
                <a:spcPts val="1000"/>
              </a:spcBef>
              <a:spcAft>
                <a:spcPts val="0"/>
              </a:spcAft>
              <a:buNone/>
            </a:pPr>
            <a:r>
              <a:t/>
            </a:r>
            <a:endParaRPr sz="2900">
              <a:solidFill>
                <a:schemeClr val="dk2"/>
              </a:solidFill>
            </a:endParaRPr>
          </a:p>
        </p:txBody>
      </p:sp>
      <p:pic>
        <p:nvPicPr>
          <p:cNvPr descr="Cloud shaped hard drive with cables" id="1819" name="Google Shape;1819;p54"/>
          <p:cNvPicPr preferRelativeResize="0"/>
          <p:nvPr/>
        </p:nvPicPr>
        <p:blipFill rotWithShape="1">
          <a:blip r:embed="rId3">
            <a:alphaModFix/>
          </a:blip>
          <a:srcRect b="-3" l="18735" r="32150" t="0"/>
          <a:stretch/>
        </p:blipFill>
        <p:spPr>
          <a:xfrm>
            <a:off x="6309311" y="1"/>
            <a:ext cx="5899302" cy="6862230"/>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3" name="Shape 1823"/>
        <p:cNvGrpSpPr/>
        <p:nvPr/>
      </p:nvGrpSpPr>
      <p:grpSpPr>
        <a:xfrm>
          <a:off x="0" y="0"/>
          <a:ext cx="0" cy="0"/>
          <a:chOff x="0" y="0"/>
          <a:chExt cx="0" cy="0"/>
        </a:xfrm>
      </p:grpSpPr>
      <p:sp>
        <p:nvSpPr>
          <p:cNvPr id="1824" name="Google Shape;1824;p55"/>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825" name="Google Shape;1825;p55"/>
          <p:cNvSpPr/>
          <p:nvPr/>
        </p:nvSpPr>
        <p:spPr>
          <a:xfrm>
            <a:off x="0" y="0"/>
            <a:ext cx="12189000" cy="6858000"/>
          </a:xfrm>
          <a:prstGeom prst="rect">
            <a:avLst/>
          </a:prstGeom>
          <a:solidFill>
            <a:schemeClr val="lt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826" name="Google Shape;1826;p55"/>
          <p:cNvSpPr/>
          <p:nvPr/>
        </p:nvSpPr>
        <p:spPr>
          <a:xfrm rot="-8100000">
            <a:off x="-295985" y="1567091"/>
            <a:ext cx="568090" cy="568090"/>
          </a:xfrm>
          <a:prstGeom prst="rtTriangle">
            <a:avLst/>
          </a:prstGeom>
          <a:solidFill>
            <a:schemeClr val="lt1">
              <a:alpha val="749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grpSp>
        <p:nvGrpSpPr>
          <p:cNvPr id="1827" name="Google Shape;1827;p55"/>
          <p:cNvGrpSpPr/>
          <p:nvPr/>
        </p:nvGrpSpPr>
        <p:grpSpPr>
          <a:xfrm>
            <a:off x="0" y="0"/>
            <a:ext cx="12214827" cy="6858000"/>
            <a:chOff x="-6214" y="-1"/>
            <a:chExt cx="12214827" cy="6858000"/>
          </a:xfrm>
        </p:grpSpPr>
        <p:cxnSp>
          <p:nvCxnSpPr>
            <p:cNvPr id="1828" name="Google Shape;1828;p55"/>
            <p:cNvCxnSpPr/>
            <p:nvPr/>
          </p:nvCxnSpPr>
          <p:spPr>
            <a:xfrm>
              <a:off x="-6214" y="6686283"/>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29" name="Google Shape;1829;p55"/>
            <p:cNvCxnSpPr/>
            <p:nvPr/>
          </p:nvCxnSpPr>
          <p:spPr>
            <a:xfrm>
              <a:off x="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0" name="Google Shape;1830;p55"/>
            <p:cNvCxnSpPr/>
            <p:nvPr/>
          </p:nvCxnSpPr>
          <p:spPr>
            <a:xfrm>
              <a:off x="1199325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1" name="Google Shape;1831;p55"/>
            <p:cNvCxnSpPr/>
            <p:nvPr/>
          </p:nvCxnSpPr>
          <p:spPr>
            <a:xfrm>
              <a:off x="19252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2" name="Google Shape;1832;p55"/>
            <p:cNvCxnSpPr/>
            <p:nvPr/>
          </p:nvCxnSpPr>
          <p:spPr>
            <a:xfrm>
              <a:off x="119196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3" name="Google Shape;1833;p55"/>
            <p:cNvCxnSpPr/>
            <p:nvPr/>
          </p:nvCxnSpPr>
          <p:spPr>
            <a:xfrm>
              <a:off x="219140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4" name="Google Shape;1834;p55"/>
            <p:cNvCxnSpPr/>
            <p:nvPr/>
          </p:nvCxnSpPr>
          <p:spPr>
            <a:xfrm>
              <a:off x="319084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5" name="Google Shape;1835;p55"/>
            <p:cNvCxnSpPr/>
            <p:nvPr/>
          </p:nvCxnSpPr>
          <p:spPr>
            <a:xfrm>
              <a:off x="419028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6" name="Google Shape;1836;p55"/>
            <p:cNvCxnSpPr/>
            <p:nvPr/>
          </p:nvCxnSpPr>
          <p:spPr>
            <a:xfrm>
              <a:off x="518971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7" name="Google Shape;1837;p55"/>
            <p:cNvCxnSpPr/>
            <p:nvPr/>
          </p:nvCxnSpPr>
          <p:spPr>
            <a:xfrm>
              <a:off x="618915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8" name="Google Shape;1838;p55"/>
            <p:cNvCxnSpPr/>
            <p:nvPr/>
          </p:nvCxnSpPr>
          <p:spPr>
            <a:xfrm>
              <a:off x="7188594"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39" name="Google Shape;1839;p55"/>
            <p:cNvCxnSpPr/>
            <p:nvPr/>
          </p:nvCxnSpPr>
          <p:spPr>
            <a:xfrm>
              <a:off x="8188032"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0" name="Google Shape;1840;p55"/>
            <p:cNvCxnSpPr/>
            <p:nvPr/>
          </p:nvCxnSpPr>
          <p:spPr>
            <a:xfrm>
              <a:off x="9187470"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1" name="Google Shape;1841;p55"/>
            <p:cNvCxnSpPr/>
            <p:nvPr/>
          </p:nvCxnSpPr>
          <p:spPr>
            <a:xfrm>
              <a:off x="10186908"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2" name="Google Shape;1842;p55"/>
            <p:cNvCxnSpPr/>
            <p:nvPr/>
          </p:nvCxnSpPr>
          <p:spPr>
            <a:xfrm>
              <a:off x="1118634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3" name="Google Shape;1843;p55"/>
            <p:cNvCxnSpPr/>
            <p:nvPr/>
          </p:nvCxnSpPr>
          <p:spPr>
            <a:xfrm>
              <a:off x="12185786" y="-1"/>
              <a:ext cx="0" cy="685800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4" name="Google Shape;1844;p55"/>
            <p:cNvCxnSpPr/>
            <p:nvPr/>
          </p:nvCxnSpPr>
          <p:spPr>
            <a:xfrm>
              <a:off x="0" y="1717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5" name="Google Shape;1845;p55"/>
            <p:cNvCxnSpPr/>
            <p:nvPr/>
          </p:nvCxnSpPr>
          <p:spPr>
            <a:xfrm>
              <a:off x="0" y="72890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6" name="Google Shape;1846;p55"/>
            <p:cNvCxnSpPr/>
            <p:nvPr/>
          </p:nvCxnSpPr>
          <p:spPr>
            <a:xfrm>
              <a:off x="0" y="128609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7" name="Google Shape;1847;p55"/>
            <p:cNvCxnSpPr/>
            <p:nvPr/>
          </p:nvCxnSpPr>
          <p:spPr>
            <a:xfrm>
              <a:off x="0" y="184328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8" name="Google Shape;1848;p55"/>
            <p:cNvCxnSpPr/>
            <p:nvPr/>
          </p:nvCxnSpPr>
          <p:spPr>
            <a:xfrm>
              <a:off x="0" y="240047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49" name="Google Shape;1849;p55"/>
            <p:cNvCxnSpPr/>
            <p:nvPr/>
          </p:nvCxnSpPr>
          <p:spPr>
            <a:xfrm>
              <a:off x="0" y="295766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0" name="Google Shape;1850;p55"/>
            <p:cNvCxnSpPr/>
            <p:nvPr/>
          </p:nvCxnSpPr>
          <p:spPr>
            <a:xfrm>
              <a:off x="0" y="351485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1" name="Google Shape;1851;p55"/>
            <p:cNvCxnSpPr/>
            <p:nvPr/>
          </p:nvCxnSpPr>
          <p:spPr>
            <a:xfrm>
              <a:off x="0" y="407204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2" name="Google Shape;1852;p55"/>
            <p:cNvCxnSpPr/>
            <p:nvPr/>
          </p:nvCxnSpPr>
          <p:spPr>
            <a:xfrm>
              <a:off x="0" y="462923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3" name="Google Shape;1853;p55"/>
            <p:cNvCxnSpPr/>
            <p:nvPr/>
          </p:nvCxnSpPr>
          <p:spPr>
            <a:xfrm>
              <a:off x="0" y="518642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4" name="Google Shape;1854;p55"/>
            <p:cNvCxnSpPr/>
            <p:nvPr/>
          </p:nvCxnSpPr>
          <p:spPr>
            <a:xfrm>
              <a:off x="0" y="5743616"/>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5" name="Google Shape;1855;p55"/>
            <p:cNvCxnSpPr/>
            <p:nvPr/>
          </p:nvCxnSpPr>
          <p:spPr>
            <a:xfrm>
              <a:off x="0" y="6857999"/>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cxnSp>
          <p:nvCxnSpPr>
            <p:cNvPr id="1856" name="Google Shape;1856;p55"/>
            <p:cNvCxnSpPr/>
            <p:nvPr/>
          </p:nvCxnSpPr>
          <p:spPr>
            <a:xfrm>
              <a:off x="16613" y="6248400"/>
              <a:ext cx="12192000" cy="0"/>
            </a:xfrm>
            <a:prstGeom prst="straightConnector1">
              <a:avLst/>
            </a:prstGeom>
            <a:noFill/>
            <a:ln cap="flat" cmpd="sng" w="19050">
              <a:solidFill>
                <a:schemeClr val="accent2">
                  <a:alpha val="14900"/>
                </a:schemeClr>
              </a:solidFill>
              <a:prstDash val="dot"/>
              <a:miter lim="800000"/>
              <a:headEnd len="sm" w="sm" type="none"/>
              <a:tailEnd len="sm" w="sm" type="none"/>
            </a:ln>
          </p:spPr>
        </p:cxnSp>
      </p:grpSp>
      <p:sp>
        <p:nvSpPr>
          <p:cNvPr id="1857" name="Google Shape;1857;p55"/>
          <p:cNvSpPr txBox="1"/>
          <p:nvPr>
            <p:ph idx="4294967295" type="ctrTitle"/>
          </p:nvPr>
        </p:nvSpPr>
        <p:spPr>
          <a:xfrm>
            <a:off x="457200" y="171717"/>
            <a:ext cx="5738100" cy="111450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4400"/>
              <a:buFont typeface="Arial"/>
              <a:buNone/>
            </a:pPr>
            <a:r>
              <a:rPr b="0" i="0" lang="en-US" sz="4400" u="none" cap="none" strike="noStrike">
                <a:solidFill>
                  <a:schemeClr val="dk2"/>
                </a:solidFill>
                <a:latin typeface="Arial"/>
                <a:ea typeface="Arial"/>
                <a:cs typeface="Arial"/>
                <a:sym typeface="Arial"/>
              </a:rPr>
              <a:t>What is Multi-Cloud?</a:t>
            </a:r>
            <a:endParaRPr/>
          </a:p>
        </p:txBody>
      </p:sp>
      <p:sp>
        <p:nvSpPr>
          <p:cNvPr id="1858" name="Google Shape;1858;p55"/>
          <p:cNvSpPr txBox="1"/>
          <p:nvPr>
            <p:ph idx="1" type="body"/>
          </p:nvPr>
        </p:nvSpPr>
        <p:spPr>
          <a:xfrm>
            <a:off x="457200" y="1286100"/>
            <a:ext cx="6157200" cy="498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lang="en-US" sz="2900">
                <a:solidFill>
                  <a:schemeClr val="dk2"/>
                </a:solidFill>
              </a:rPr>
              <a:t>The main purpose of a multi-cloud environment is to reduce risks.</a:t>
            </a:r>
            <a:endParaRPr sz="2900"/>
          </a:p>
          <a:p>
            <a:pPr indent="0" lvl="0" marL="0" rtl="0" algn="l">
              <a:lnSpc>
                <a:spcPct val="100000"/>
              </a:lnSpc>
              <a:spcBef>
                <a:spcPts val="1000"/>
              </a:spcBef>
              <a:spcAft>
                <a:spcPts val="0"/>
              </a:spcAft>
              <a:buNone/>
            </a:pPr>
            <a:r>
              <a:t/>
            </a:r>
            <a:endParaRPr sz="2900">
              <a:solidFill>
                <a:schemeClr val="dk2"/>
              </a:solidFill>
            </a:endParaRPr>
          </a:p>
          <a:p>
            <a:pPr indent="0" lvl="0" marL="0" rtl="0" algn="l">
              <a:lnSpc>
                <a:spcPct val="100000"/>
              </a:lnSpc>
              <a:spcBef>
                <a:spcPts val="1000"/>
              </a:spcBef>
              <a:spcAft>
                <a:spcPts val="0"/>
              </a:spcAft>
              <a:buNone/>
            </a:pPr>
            <a:r>
              <a:rPr lang="en-US" sz="2900">
                <a:solidFill>
                  <a:schemeClr val="dk2"/>
                </a:solidFill>
              </a:rPr>
              <a:t>Cloud platforms provide a variety of services and resources over the internet, allowing users to access and utilize computing power, storage, databases, networking, and other services without the need for on-premises infrastructure.</a:t>
            </a:r>
            <a:endParaRPr sz="2900">
              <a:solidFill>
                <a:schemeClr val="dk2"/>
              </a:solidFill>
            </a:endParaRPr>
          </a:p>
        </p:txBody>
      </p:sp>
      <p:pic>
        <p:nvPicPr>
          <p:cNvPr descr="Cloud shaped hard drive with cables" id="1859" name="Google Shape;1859;p55"/>
          <p:cNvPicPr preferRelativeResize="0"/>
          <p:nvPr/>
        </p:nvPicPr>
        <p:blipFill rotWithShape="1">
          <a:blip r:embed="rId3">
            <a:alphaModFix/>
          </a:blip>
          <a:srcRect b="0" l="18736" r="32149" t="0"/>
          <a:stretch/>
        </p:blipFill>
        <p:spPr>
          <a:xfrm>
            <a:off x="7020399" y="0"/>
            <a:ext cx="5182755" cy="6857997"/>
          </a:xfrm>
          <a:custGeom>
            <a:rect b="b" l="l" r="r" t="t"/>
            <a:pathLst>
              <a:path extrusionOk="0" h="6857997" w="5923149">
                <a:moveTo>
                  <a:pt x="320173" y="0"/>
                </a:moveTo>
                <a:lnTo>
                  <a:pt x="5923149" y="0"/>
                </a:lnTo>
                <a:lnTo>
                  <a:pt x="5923149" y="6857997"/>
                </a:lnTo>
                <a:lnTo>
                  <a:pt x="1111789" y="6857997"/>
                </a:lnTo>
                <a:lnTo>
                  <a:pt x="1106562" y="6546368"/>
                </a:lnTo>
                <a:cubicBezTo>
                  <a:pt x="1000021" y="3425651"/>
                  <a:pt x="-688878" y="3321843"/>
                  <a:pt x="320173" y="0"/>
                </a:cubicBezTo>
                <a:close/>
              </a:path>
            </a:pathLst>
          </a:cu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neVTI">
  <a:themeElements>
    <a:clrScheme name="AnalogousFromLightSeedRightStep">
      <a:dk1>
        <a:srgbClr val="000000"/>
      </a:dk1>
      <a:lt1>
        <a:srgbClr val="FFFFFF"/>
      </a:lt1>
      <a:dk2>
        <a:srgbClr val="243941"/>
      </a:dk2>
      <a:lt2>
        <a:srgbClr val="E8E2E8"/>
      </a:lt2>
      <a:accent1>
        <a:srgbClr val="81AD81"/>
      </a:accent1>
      <a:accent2>
        <a:srgbClr val="75AB8C"/>
      </a:accent2>
      <a:accent3>
        <a:srgbClr val="80A9A3"/>
      </a:accent3>
      <a:accent4>
        <a:srgbClr val="7CA8B8"/>
      </a:accent4>
      <a:accent5>
        <a:srgbClr val="91A1C3"/>
      </a:accent5>
      <a:accent6>
        <a:srgbClr val="847FBA"/>
      </a:accent6>
      <a:hlink>
        <a:srgbClr val="AE69AD"/>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