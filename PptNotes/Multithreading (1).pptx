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7" r:id="rId11"/>
    <p:sldId id="268" r:id="rId12"/>
    <p:sldId id="269" r:id="rId13"/>
    <p:sldId id="270" r:id="rId14"/>
    <p:sldId id="272" r:id="rId15"/>
    <p:sldId id="275"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21"/>
  </p:normalViewPr>
  <p:slideViewPr>
    <p:cSldViewPr>
      <p:cViewPr varScale="1">
        <p:scale>
          <a:sx n="91" d="100"/>
          <a:sy n="91" d="100"/>
        </p:scale>
        <p:origin x="170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6EB2590-56D1-405C-B65D-FE7C2EE5E8EB}"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2310836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EB2590-56D1-405C-B65D-FE7C2EE5E8EB}"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644180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B2590-56D1-405C-B65D-FE7C2EE5E8EB}"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2184629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6EB2590-56D1-405C-B65D-FE7C2EE5E8EB}"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246390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6EB2590-56D1-405C-B65D-FE7C2EE5E8EB}" type="datetimeFigureOut">
              <a:rPr lang="en-US" smtClean="0"/>
              <a:t>3/10/26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229514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6EB2590-56D1-405C-B65D-FE7C2EE5E8EB}"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4144791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B2590-56D1-405C-B65D-FE7C2EE5E8EB}" type="datetimeFigureOut">
              <a:rPr lang="en-US" smtClean="0"/>
              <a:t>3/10/26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1089004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EB2590-56D1-405C-B65D-FE7C2EE5E8EB}"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1153479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EB2590-56D1-405C-B65D-FE7C2EE5E8EB}"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1154069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EB2590-56D1-405C-B65D-FE7C2EE5E8EB}"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3742598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EB2590-56D1-405C-B65D-FE7C2EE5E8EB}"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1A30B-DD26-48E6-929C-10C7B216117A}" type="slidenum">
              <a:rPr lang="en-US" smtClean="0"/>
              <a:t>‹#›</a:t>
            </a:fld>
            <a:endParaRPr lang="en-US"/>
          </a:p>
        </p:txBody>
      </p:sp>
    </p:spTree>
    <p:extLst>
      <p:ext uri="{BB962C8B-B14F-4D97-AF65-F5344CB8AC3E}">
        <p14:creationId xmlns:p14="http://schemas.microsoft.com/office/powerpoint/2010/main" val="641403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B2590-56D1-405C-B65D-FE7C2EE5E8EB}" type="datetimeFigureOut">
              <a:rPr lang="en-US" smtClean="0"/>
              <a:t>3/10/26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1A30B-DD26-48E6-929C-10C7B216117A}" type="slidenum">
              <a:rPr lang="en-US" smtClean="0"/>
              <a:t>‹#›</a:t>
            </a:fld>
            <a:endParaRPr lang="en-US"/>
          </a:p>
        </p:txBody>
      </p:sp>
    </p:spTree>
    <p:extLst>
      <p:ext uri="{BB962C8B-B14F-4D97-AF65-F5344CB8AC3E}">
        <p14:creationId xmlns:p14="http://schemas.microsoft.com/office/powerpoint/2010/main" val="2603089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Multithreading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2071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fontScale="92500"/>
          </a:bodyPr>
          <a:lstStyle/>
          <a:p>
            <a:r>
              <a:rPr lang="en-US" dirty="0"/>
              <a:t>Multithreading is a fundamental feature in Java that allows concurrent execution of two or more threads. A thread is a lightweight process and is the smallest unit of CPU execution. Java provides a built-in thread model that simplifies multithreading implementation.</a:t>
            </a:r>
          </a:p>
          <a:p>
            <a:r>
              <a:rPr lang="en-US" dirty="0"/>
              <a:t>Java’s multithreading model is designed to </a:t>
            </a:r>
            <a:r>
              <a:rPr lang="en-US" b="1" dirty="0"/>
              <a:t>execute multiple tasks simultaneously</a:t>
            </a:r>
            <a:r>
              <a:rPr lang="en-US" dirty="0"/>
              <a:t> within a single program</a:t>
            </a:r>
          </a:p>
        </p:txBody>
      </p:sp>
    </p:spTree>
    <p:extLst>
      <p:ext uri="{BB962C8B-B14F-4D97-AF65-F5344CB8AC3E}">
        <p14:creationId xmlns:p14="http://schemas.microsoft.com/office/powerpoint/2010/main" val="188608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Thread in Java</a:t>
            </a:r>
          </a:p>
        </p:txBody>
      </p:sp>
      <p:sp>
        <p:nvSpPr>
          <p:cNvPr id="3" name="Content Placeholder 2"/>
          <p:cNvSpPr>
            <a:spLocks noGrp="1"/>
          </p:cNvSpPr>
          <p:nvPr>
            <p:ph idx="1"/>
          </p:nvPr>
        </p:nvSpPr>
        <p:spPr/>
        <p:txBody>
          <a:bodyPr>
            <a:normAutofit fontScale="62500" lnSpcReduction="20000"/>
          </a:bodyPr>
          <a:lstStyle/>
          <a:p>
            <a:r>
              <a:rPr lang="en-US" dirty="0"/>
              <a:t>By extending Thread class, we can override the run() method.</a:t>
            </a:r>
          </a:p>
          <a:p>
            <a:pPr marL="0" indent="0">
              <a:buNone/>
            </a:pPr>
            <a:endParaRPr lang="en-US" dirty="0"/>
          </a:p>
          <a:p>
            <a:pPr marL="0" indent="0">
              <a:buNone/>
            </a:pPr>
            <a:r>
              <a:rPr lang="en-US" dirty="0"/>
              <a:t>class </a:t>
            </a:r>
            <a:r>
              <a:rPr lang="en-US" dirty="0" err="1"/>
              <a:t>MyThread</a:t>
            </a:r>
            <a:r>
              <a:rPr lang="en-US" dirty="0"/>
              <a:t> extends Thread {</a:t>
            </a:r>
          </a:p>
          <a:p>
            <a:pPr marL="0" indent="0">
              <a:buNone/>
            </a:pPr>
            <a:r>
              <a:rPr lang="en-US" dirty="0"/>
              <a:t>    public void run() {</a:t>
            </a:r>
          </a:p>
          <a:p>
            <a:pPr marL="0" indent="0">
              <a:buNone/>
            </a:pPr>
            <a:r>
              <a:rPr lang="en-US" dirty="0"/>
              <a:t>        </a:t>
            </a:r>
            <a:r>
              <a:rPr lang="en-US" dirty="0" err="1"/>
              <a:t>System.out.println</a:t>
            </a:r>
            <a:r>
              <a:rPr lang="en-US" dirty="0"/>
              <a:t>("Thread is running...");</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a:t>
            </a:r>
            <a:r>
              <a:rPr lang="en-US" dirty="0" err="1"/>
              <a:t>ThreadExample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MyThread</a:t>
            </a:r>
            <a:r>
              <a:rPr lang="en-US" dirty="0"/>
              <a:t> t1 = new </a:t>
            </a:r>
            <a:r>
              <a:rPr lang="en-US" dirty="0" err="1"/>
              <a:t>MyThread</a:t>
            </a:r>
            <a:r>
              <a:rPr lang="en-US" dirty="0"/>
              <a:t>();</a:t>
            </a:r>
          </a:p>
          <a:p>
            <a:pPr marL="0" indent="0">
              <a:buNone/>
            </a:pPr>
            <a:r>
              <a:rPr lang="en-US" dirty="0"/>
              <a:t>        t1.start();  // Start the thread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592841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Implementing the Runnable Interface</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class </a:t>
            </a:r>
            <a:r>
              <a:rPr lang="en-US" dirty="0" err="1"/>
              <a:t>MyRunnable</a:t>
            </a:r>
            <a:r>
              <a:rPr lang="en-US" dirty="0"/>
              <a:t> implements Runnable {</a:t>
            </a:r>
          </a:p>
          <a:p>
            <a:pPr marL="0" indent="0">
              <a:buNone/>
            </a:pPr>
            <a:r>
              <a:rPr lang="en-US" dirty="0"/>
              <a:t>    public void run() {</a:t>
            </a:r>
          </a:p>
          <a:p>
            <a:pPr marL="0" indent="0">
              <a:buNone/>
            </a:pPr>
            <a:r>
              <a:rPr lang="en-US" dirty="0"/>
              <a:t>        </a:t>
            </a:r>
            <a:r>
              <a:rPr lang="en-US" dirty="0" err="1"/>
              <a:t>System.out.println</a:t>
            </a:r>
            <a:r>
              <a:rPr lang="en-US" dirty="0"/>
              <a:t>("Thread is running...");</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a:t>
            </a:r>
            <a:r>
              <a:rPr lang="en-US" dirty="0" err="1"/>
              <a:t>RunnableExample</a:t>
            </a:r>
            <a:r>
              <a:rPr lang="en-US" dirty="0"/>
              <a:t> {</a:t>
            </a:r>
          </a:p>
          <a:p>
            <a:pPr marL="0" indent="0">
              <a:buNone/>
            </a:pPr>
            <a:r>
              <a:rPr lang="en-US" dirty="0"/>
              <a:t>    public static void main(String[] </a:t>
            </a:r>
            <a:r>
              <a:rPr lang="en-US" dirty="0" err="1"/>
              <a:t>args</a:t>
            </a:r>
            <a:r>
              <a:rPr lang="en-US" dirty="0"/>
              <a:t>) {</a:t>
            </a:r>
          </a:p>
          <a:p>
            <a:pPr marL="0" indent="0">
              <a:buNone/>
            </a:pPr>
            <a:r>
              <a:rPr lang="en-US" dirty="0"/>
              <a:t>        Thread t1 = new Thread(new </a:t>
            </a:r>
            <a:r>
              <a:rPr lang="en-US" dirty="0" err="1"/>
              <a:t>MyRunnable</a:t>
            </a:r>
            <a:r>
              <a:rPr lang="en-US" dirty="0"/>
              <a:t>());</a:t>
            </a:r>
          </a:p>
          <a:p>
            <a:pPr marL="0" indent="0">
              <a:buNone/>
            </a:pPr>
            <a:r>
              <a:rPr lang="en-US" dirty="0"/>
              <a:t>        t1.start();</a:t>
            </a:r>
          </a:p>
          <a:p>
            <a:pPr marL="0" indent="0">
              <a:buNone/>
            </a:pPr>
            <a:r>
              <a:rPr lang="en-US" dirty="0"/>
              <a:t>    }</a:t>
            </a:r>
          </a:p>
          <a:p>
            <a:pPr marL="0" indent="0">
              <a:buNone/>
            </a:pPr>
            <a:r>
              <a:rPr lang="en-US" dirty="0"/>
              <a:t>}</a:t>
            </a:r>
          </a:p>
          <a:p>
            <a:r>
              <a:rPr lang="en-US" dirty="0"/>
              <a:t>A class can extend another class while still implementing Runnable.</a:t>
            </a:r>
          </a:p>
        </p:txBody>
      </p:sp>
    </p:spTree>
    <p:extLst>
      <p:ext uri="{BB962C8B-B14F-4D97-AF65-F5344CB8AC3E}">
        <p14:creationId xmlns:p14="http://schemas.microsoft.com/office/powerpoint/2010/main" val="4186640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of a Thread</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6280" y="1600200"/>
            <a:ext cx="627144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0299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1. New (Created) State</a:t>
            </a:r>
          </a:p>
          <a:p>
            <a:pPr>
              <a:buFont typeface="Arial"/>
              <a:buChar char="•"/>
            </a:pPr>
            <a:r>
              <a:rPr lang="en-US" dirty="0"/>
              <a:t>A thread is in the </a:t>
            </a:r>
            <a:r>
              <a:rPr lang="en-US" b="1" dirty="0"/>
              <a:t>new state</a:t>
            </a:r>
            <a:r>
              <a:rPr lang="en-US" dirty="0"/>
              <a:t> when it is created using either Thread class or Runnable interface.</a:t>
            </a:r>
          </a:p>
          <a:p>
            <a:pPr>
              <a:buFont typeface="Arial"/>
              <a:buChar char="•"/>
            </a:pPr>
            <a:r>
              <a:rPr lang="en-US" dirty="0"/>
              <a:t>The thread is </a:t>
            </a:r>
            <a:r>
              <a:rPr lang="en-US" b="1" dirty="0"/>
              <a:t>not yet started</a:t>
            </a:r>
            <a:r>
              <a:rPr lang="en-US" dirty="0"/>
              <a:t>.</a:t>
            </a:r>
          </a:p>
          <a:p>
            <a:pPr>
              <a:buFont typeface="Arial"/>
              <a:buChar char="•"/>
            </a:pPr>
            <a:r>
              <a:rPr lang="en-US" dirty="0"/>
              <a:t>It remains in this state until the start() method is called.</a:t>
            </a:r>
          </a:p>
          <a:p>
            <a:endParaRPr lang="en-US" dirty="0"/>
          </a:p>
        </p:txBody>
      </p:sp>
    </p:spTree>
    <p:extLst>
      <p:ext uri="{BB962C8B-B14F-4D97-AF65-F5344CB8AC3E}">
        <p14:creationId xmlns:p14="http://schemas.microsoft.com/office/powerpoint/2010/main" val="65163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2. Runnable State</a:t>
            </a:r>
          </a:p>
          <a:p>
            <a:pPr>
              <a:buFont typeface="Arial"/>
              <a:buChar char="•"/>
            </a:pPr>
            <a:r>
              <a:rPr lang="en-US" dirty="0"/>
              <a:t>When the start() method is called, the thread moves to the </a:t>
            </a:r>
            <a:r>
              <a:rPr lang="en-US" b="1" dirty="0"/>
              <a:t>runnable</a:t>
            </a:r>
            <a:r>
              <a:rPr lang="en-US" dirty="0"/>
              <a:t> state.</a:t>
            </a:r>
          </a:p>
          <a:p>
            <a:pPr>
              <a:buFont typeface="Arial"/>
              <a:buChar char="•"/>
            </a:pPr>
            <a:r>
              <a:rPr lang="en-US" dirty="0"/>
              <a:t>The thread is </a:t>
            </a:r>
            <a:r>
              <a:rPr lang="en-US" b="1" dirty="0"/>
              <a:t>ready to run</a:t>
            </a:r>
            <a:r>
              <a:rPr lang="en-US" dirty="0"/>
              <a:t> but waiting for CPU time.</a:t>
            </a:r>
          </a:p>
          <a:p>
            <a:pPr>
              <a:buFont typeface="Arial"/>
              <a:buChar char="•"/>
            </a:pPr>
            <a:r>
              <a:rPr lang="en-US" dirty="0"/>
              <a:t>The </a:t>
            </a:r>
            <a:r>
              <a:rPr lang="en-US" b="1" dirty="0"/>
              <a:t>scheduler decides</a:t>
            </a:r>
            <a:r>
              <a:rPr lang="en-US" dirty="0"/>
              <a:t> which thread will execute based on priorities.</a:t>
            </a:r>
          </a:p>
          <a:p>
            <a:pPr marL="0" indent="0">
              <a:buNone/>
            </a:pPr>
            <a:endParaRPr lang="en-US" dirty="0"/>
          </a:p>
        </p:txBody>
      </p:sp>
    </p:spTree>
    <p:extLst>
      <p:ext uri="{BB962C8B-B14F-4D97-AF65-F5344CB8AC3E}">
        <p14:creationId xmlns:p14="http://schemas.microsoft.com/office/powerpoint/2010/main" val="3563313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A program implementing multithreading acquires a fixed slice of time to each individual thread. </a:t>
            </a:r>
          </a:p>
          <a:p>
            <a:r>
              <a:rPr lang="en-US" dirty="0"/>
              <a:t>Each and every thread runs for a short span of time and when that allocated time slice is over, the thread voluntarily gives up the CPU to the other thread, so that the other threads can also run for their slice of time. </a:t>
            </a:r>
          </a:p>
          <a:p>
            <a:r>
              <a:rPr lang="en-US" dirty="0"/>
              <a:t>Whenever  a scenario with a high priority thread comes , all those threads that are willing to run, waiting for their turn to run, lie in the runnable state. In the runnable state, there is a queue where the threads lie.</a:t>
            </a:r>
          </a:p>
        </p:txBody>
      </p:sp>
    </p:spTree>
    <p:extLst>
      <p:ext uri="{BB962C8B-B14F-4D97-AF65-F5344CB8AC3E}">
        <p14:creationId xmlns:p14="http://schemas.microsoft.com/office/powerpoint/2010/main" val="1786660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lgn="just">
              <a:buNone/>
            </a:pPr>
            <a:r>
              <a:rPr lang="en-US" dirty="0"/>
              <a:t>3. </a:t>
            </a:r>
            <a:r>
              <a:rPr lang="en-US" b="1" i="0" dirty="0">
                <a:solidFill>
                  <a:srgbClr val="333333"/>
                </a:solidFill>
                <a:effectLst/>
                <a:latin typeface="Inter-Regular"/>
              </a:rPr>
              <a:t>Running:</a:t>
            </a:r>
          </a:p>
          <a:p>
            <a:pPr marL="0" indent="0" algn="just">
              <a:buNone/>
            </a:pPr>
            <a:r>
              <a:rPr lang="en-US" dirty="0"/>
              <a:t>The thread enters the </a:t>
            </a:r>
            <a:r>
              <a:rPr lang="en-US" b="1" dirty="0"/>
              <a:t>running</a:t>
            </a:r>
            <a:r>
              <a:rPr lang="en-US" dirty="0"/>
              <a:t> state when the CPU starts executing it. This state depends on the thread scheduler, which assigns CPU time to the thread.</a:t>
            </a:r>
            <a:endParaRPr lang="en-US" b="1" i="0" dirty="0">
              <a:solidFill>
                <a:srgbClr val="333333"/>
              </a:solidFill>
              <a:effectLst/>
              <a:latin typeface="Inter-Regular"/>
            </a:endParaRPr>
          </a:p>
          <a:p>
            <a:pPr marL="0" indent="0" algn="just">
              <a:buNone/>
            </a:pPr>
            <a:r>
              <a:rPr lang="en-US" dirty="0">
                <a:solidFill>
                  <a:srgbClr val="333333"/>
                </a:solidFill>
                <a:latin typeface="Inter-Regular"/>
              </a:rPr>
              <a:t>4. </a:t>
            </a:r>
            <a:r>
              <a:rPr lang="en-US" b="1" dirty="0"/>
              <a:t>Blocked or Waiting:</a:t>
            </a:r>
            <a:r>
              <a:rPr lang="en-US" dirty="0"/>
              <a:t> Whenever a thread is inactive for a span of time (not permanently) then, either the thread is in the blocked state or is in the waiting state.</a:t>
            </a:r>
            <a:endParaRPr lang="en-US" b="0" i="0" dirty="0">
              <a:solidFill>
                <a:srgbClr val="333333"/>
              </a:solidFill>
              <a:effectLst/>
              <a:latin typeface="Inter-Regular"/>
            </a:endParaRPr>
          </a:p>
          <a:p>
            <a:pPr marL="0" indent="0">
              <a:buNone/>
            </a:pPr>
            <a:endParaRPr lang="en-US" dirty="0"/>
          </a:p>
        </p:txBody>
      </p:sp>
    </p:spTree>
    <p:extLst>
      <p:ext uri="{BB962C8B-B14F-4D97-AF65-F5344CB8AC3E}">
        <p14:creationId xmlns:p14="http://schemas.microsoft.com/office/powerpoint/2010/main" val="4100256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For example, a thread (let's say its name is A) may want to print some data from the printer. However, at the same time, the other thread (let's say its name is B) is using the printer to print some data. </a:t>
            </a:r>
          </a:p>
          <a:p>
            <a:r>
              <a:rPr lang="en-US" dirty="0"/>
              <a:t>Therefore, thread A has to wait for thread B to use the printer. Thus, thread A is in the blocked state. A thread in the blocked state is unable to perform any execution and thus never consume any cycle of the Central Processing Unit (CPU). </a:t>
            </a:r>
          </a:p>
          <a:p>
            <a:r>
              <a:rPr lang="en-US" dirty="0"/>
              <a:t>Hence, we can say that thread A remains idle until the thread scheduler reactivates thread A, which is in the waiting or blocked state.</a:t>
            </a:r>
          </a:p>
        </p:txBody>
      </p:sp>
    </p:spTree>
    <p:extLst>
      <p:ext uri="{BB962C8B-B14F-4D97-AF65-F5344CB8AC3E}">
        <p14:creationId xmlns:p14="http://schemas.microsoft.com/office/powerpoint/2010/main" val="2185525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Terminated (Dead)</a:t>
            </a:r>
          </a:p>
          <a:p>
            <a:pPr marL="0" indent="0">
              <a:buNone/>
            </a:pPr>
            <a:r>
              <a:rPr lang="en-US" dirty="0"/>
              <a:t>A thread enters the terminated state when it completes execution or is forcibly </a:t>
            </a:r>
            <a:r>
              <a:rPr lang="en-US" err="1"/>
              <a:t>stopped</a:t>
            </a:r>
            <a:r>
              <a:rPr lang="en-US"/>
              <a:t>. Once </a:t>
            </a:r>
            <a:r>
              <a:rPr lang="en-US" dirty="0"/>
              <a:t>terminated, it cannot be restarted.</a:t>
            </a:r>
          </a:p>
        </p:txBody>
      </p:sp>
    </p:spTree>
    <p:extLst>
      <p:ext uri="{BB962C8B-B14F-4D97-AF65-F5344CB8AC3E}">
        <p14:creationId xmlns:p14="http://schemas.microsoft.com/office/powerpoint/2010/main" val="1881091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Priority</a:t>
            </a:r>
          </a:p>
        </p:txBody>
      </p:sp>
      <p:sp>
        <p:nvSpPr>
          <p:cNvPr id="3" name="Content Placeholder 2"/>
          <p:cNvSpPr>
            <a:spLocks noGrp="1"/>
          </p:cNvSpPr>
          <p:nvPr>
            <p:ph idx="1"/>
          </p:nvPr>
        </p:nvSpPr>
        <p:spPr/>
        <p:txBody>
          <a:bodyPr>
            <a:normAutofit fontScale="70000" lnSpcReduction="20000"/>
          </a:bodyPr>
          <a:lstStyle/>
          <a:p>
            <a:r>
              <a:rPr lang="en-US" dirty="0"/>
              <a:t>In Java, each thread has a priority that helps determine the order in which threads are scheduled for execution.</a:t>
            </a:r>
          </a:p>
          <a:p>
            <a:r>
              <a:rPr lang="en-US" dirty="0"/>
              <a:t> Thread priorities are represented as integers ranging from </a:t>
            </a:r>
            <a:r>
              <a:rPr lang="en-US" dirty="0" err="1"/>
              <a:t>Thread.MIN_PRIORITY</a:t>
            </a:r>
            <a:r>
              <a:rPr lang="en-US" dirty="0"/>
              <a:t> (1) to </a:t>
            </a:r>
            <a:r>
              <a:rPr lang="en-US" dirty="0" err="1"/>
              <a:t>Thread.MAX_PRIORITY</a:t>
            </a:r>
            <a:r>
              <a:rPr lang="en-US" dirty="0"/>
              <a:t> (10), with the default priority being </a:t>
            </a:r>
            <a:r>
              <a:rPr lang="en-US" dirty="0" err="1"/>
              <a:t>Thread.NORM_PRIORITY</a:t>
            </a:r>
            <a:r>
              <a:rPr lang="en-US" dirty="0"/>
              <a:t> (5).</a:t>
            </a:r>
          </a:p>
          <a:p>
            <a:pPr marL="0" indent="0">
              <a:buNone/>
            </a:pPr>
            <a:r>
              <a:rPr lang="en-US" dirty="0"/>
              <a:t>How Thread Priority Works</a:t>
            </a:r>
          </a:p>
          <a:p>
            <a:r>
              <a:rPr lang="en-US" dirty="0"/>
              <a:t>Higher-priority threads are generally executed before lower-priority ones, but thread scheduling is managed by the JVM and operating system, so priority does not guarantee execution order.</a:t>
            </a:r>
          </a:p>
          <a:p>
            <a:r>
              <a:rPr lang="en-US" dirty="0"/>
              <a:t>The </a:t>
            </a:r>
            <a:r>
              <a:rPr lang="en-US" dirty="0" err="1"/>
              <a:t>setPriority</a:t>
            </a:r>
            <a:r>
              <a:rPr lang="en-US" dirty="0"/>
              <a:t>(</a:t>
            </a:r>
            <a:r>
              <a:rPr lang="en-US" dirty="0" err="1"/>
              <a:t>int</a:t>
            </a:r>
            <a:r>
              <a:rPr lang="en-US" dirty="0"/>
              <a:t> priority) method is used to change a thread’s priority.</a:t>
            </a:r>
          </a:p>
          <a:p>
            <a:r>
              <a:rPr lang="en-US" dirty="0"/>
              <a:t>The </a:t>
            </a:r>
            <a:r>
              <a:rPr lang="en-US" dirty="0" err="1"/>
              <a:t>getPriority</a:t>
            </a:r>
            <a:r>
              <a:rPr lang="en-US" dirty="0"/>
              <a:t>() method retrieves the current priority of a thread.</a:t>
            </a:r>
          </a:p>
        </p:txBody>
      </p:sp>
    </p:spTree>
    <p:extLst>
      <p:ext uri="{BB962C8B-B14F-4D97-AF65-F5344CB8AC3E}">
        <p14:creationId xmlns:p14="http://schemas.microsoft.com/office/powerpoint/2010/main" val="2849738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Exceptions in Java </a:t>
            </a:r>
          </a:p>
        </p:txBody>
      </p:sp>
      <p:sp>
        <p:nvSpPr>
          <p:cNvPr id="3" name="Content Placeholder 2"/>
          <p:cNvSpPr>
            <a:spLocks noGrp="1"/>
          </p:cNvSpPr>
          <p:nvPr>
            <p:ph idx="1"/>
          </p:nvPr>
        </p:nvSpPr>
        <p:spPr/>
        <p:txBody>
          <a:bodyPr>
            <a:normAutofit fontScale="70000" lnSpcReduction="20000"/>
          </a:bodyPr>
          <a:lstStyle/>
          <a:p>
            <a:r>
              <a:rPr lang="en-US" dirty="0"/>
              <a:t>In Java, exceptions in threads occur when a thread encounters an error during execution, such as </a:t>
            </a:r>
            <a:r>
              <a:rPr lang="en-US" dirty="0" err="1"/>
              <a:t>InterruptedException</a:t>
            </a:r>
            <a:r>
              <a:rPr lang="en-US" dirty="0"/>
              <a:t>, </a:t>
            </a:r>
            <a:r>
              <a:rPr lang="en-US" dirty="0" err="1"/>
              <a:t>IllegalThreadStateException</a:t>
            </a:r>
            <a:r>
              <a:rPr lang="en-US" dirty="0"/>
              <a:t>, or </a:t>
            </a:r>
            <a:r>
              <a:rPr lang="en-US" dirty="0" err="1"/>
              <a:t>RuntimeException</a:t>
            </a:r>
            <a:r>
              <a:rPr lang="en-US" dirty="0"/>
              <a:t>. </a:t>
            </a:r>
          </a:p>
          <a:p>
            <a:r>
              <a:rPr lang="en-US" dirty="0"/>
              <a:t>If an exception occurs inside a thread and is not handled properly, it may cause the thread to terminate unexpectedly.</a:t>
            </a:r>
          </a:p>
          <a:p>
            <a:r>
              <a:rPr lang="en-US" dirty="0"/>
              <a:t>Common Thread Exceptions:</a:t>
            </a:r>
          </a:p>
          <a:p>
            <a:r>
              <a:rPr lang="en-US" dirty="0" err="1"/>
              <a:t>InterruptedException</a:t>
            </a:r>
            <a:r>
              <a:rPr lang="en-US" dirty="0"/>
              <a:t> – Thrown when a sleeping or waiting thread is interrupted.</a:t>
            </a:r>
          </a:p>
          <a:p>
            <a:r>
              <a:rPr lang="en-US" dirty="0" err="1"/>
              <a:t>IllegalThreadStateException</a:t>
            </a:r>
            <a:r>
              <a:rPr lang="en-US" dirty="0"/>
              <a:t> – Occurs when an operation is performed at an inappropriate time, e.g., starting a thread that is already running.</a:t>
            </a:r>
          </a:p>
          <a:p>
            <a:r>
              <a:rPr lang="en-US" dirty="0" err="1"/>
              <a:t>RuntimeException</a:t>
            </a:r>
            <a:r>
              <a:rPr lang="en-US" dirty="0"/>
              <a:t> &amp; Errors – If an uncaught exception occurs in a thread, the JVM terminates that thread.</a:t>
            </a:r>
          </a:p>
        </p:txBody>
      </p:sp>
    </p:spTree>
    <p:extLst>
      <p:ext uri="{BB962C8B-B14F-4D97-AF65-F5344CB8AC3E}">
        <p14:creationId xmlns:p14="http://schemas.microsoft.com/office/powerpoint/2010/main" val="57460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a:t>
            </a:r>
          </a:p>
        </p:txBody>
      </p:sp>
      <p:sp>
        <p:nvSpPr>
          <p:cNvPr id="3" name="Content Placeholder 2"/>
          <p:cNvSpPr>
            <a:spLocks noGrp="1"/>
          </p:cNvSpPr>
          <p:nvPr>
            <p:ph idx="1"/>
          </p:nvPr>
        </p:nvSpPr>
        <p:spPr/>
        <p:txBody>
          <a:bodyPr>
            <a:normAutofit lnSpcReduction="10000"/>
          </a:bodyPr>
          <a:lstStyle/>
          <a:p>
            <a:r>
              <a:rPr lang="en-US" dirty="0"/>
              <a:t>When multiple threads access a shared resource </a:t>
            </a:r>
            <a:r>
              <a:rPr lang="en-US" b="1" dirty="0"/>
              <a:t>simultaneously</a:t>
            </a:r>
            <a:r>
              <a:rPr lang="en-US" dirty="0"/>
              <a:t>, unexpected behavior can occur due to </a:t>
            </a:r>
            <a:r>
              <a:rPr lang="en-US" b="1" dirty="0"/>
              <a:t>race conditions</a:t>
            </a:r>
            <a:r>
              <a:rPr lang="en-US" dirty="0"/>
              <a:t> (when multiple threads modify shared data at the same time). Synchronization ensures:</a:t>
            </a:r>
          </a:p>
          <a:p>
            <a:pPr>
              <a:buFont typeface="Arial"/>
              <a:buChar char="•"/>
            </a:pPr>
            <a:r>
              <a:rPr lang="en-US" b="1" dirty="0"/>
              <a:t>Data consistency</a:t>
            </a:r>
            <a:r>
              <a:rPr lang="en-US" dirty="0"/>
              <a:t>: Prevents inconsistent results.</a:t>
            </a:r>
          </a:p>
          <a:p>
            <a:pPr>
              <a:buFont typeface="Arial"/>
              <a:buChar char="•"/>
            </a:pPr>
            <a:r>
              <a:rPr lang="en-US" b="1" dirty="0"/>
              <a:t>Thread safety</a:t>
            </a:r>
            <a:r>
              <a:rPr lang="en-US" dirty="0"/>
              <a:t>: Ensures only one thread accesses a critical section at a time.</a:t>
            </a:r>
          </a:p>
          <a:p>
            <a:endParaRPr lang="en-US" dirty="0"/>
          </a:p>
        </p:txBody>
      </p:sp>
    </p:spTree>
    <p:extLst>
      <p:ext uri="{BB962C8B-B14F-4D97-AF65-F5344CB8AC3E}">
        <p14:creationId xmlns:p14="http://schemas.microsoft.com/office/powerpoint/2010/main" val="2120821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Synchronized keyword used.</a:t>
            </a:r>
          </a:p>
          <a:p>
            <a:r>
              <a:rPr lang="en-US" dirty="0"/>
              <a:t>Java creates a monitor and hands it over to the thread that calls the method first time</a:t>
            </a:r>
          </a:p>
          <a:p>
            <a:r>
              <a:rPr lang="en-US" dirty="0"/>
              <a:t>As long as the thread holds the monitor, no other thread can enter the synchronized section of the code.</a:t>
            </a:r>
          </a:p>
          <a:p>
            <a:r>
              <a:rPr lang="en-US" dirty="0"/>
              <a:t>A monitor is like a key and the thread that holds the key can only open the lock</a:t>
            </a:r>
          </a:p>
          <a:p>
            <a:r>
              <a:rPr lang="en-US" dirty="0"/>
              <a:t>When the thread completed the work of using synchronized code, it will hand over the monitor to the next thread ready to use the </a:t>
            </a:r>
            <a:r>
              <a:rPr lang="en-US"/>
              <a:t>same resource</a:t>
            </a:r>
          </a:p>
        </p:txBody>
      </p:sp>
    </p:spTree>
    <p:extLst>
      <p:ext uri="{BB962C8B-B14F-4D97-AF65-F5344CB8AC3E}">
        <p14:creationId xmlns:p14="http://schemas.microsoft.com/office/powerpoint/2010/main" val="3537859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b="1" dirty="0"/>
              <a:t>1. Synchronized Methods</a:t>
            </a:r>
          </a:p>
          <a:p>
            <a:r>
              <a:rPr lang="en-US" dirty="0"/>
              <a:t>A method can be declared synchronized to ensure that only one thread can execute it at a time.</a:t>
            </a:r>
            <a:r>
              <a:rPr lang="en-US" b="1" dirty="0"/>
              <a:t> </a:t>
            </a:r>
          </a:p>
          <a:p>
            <a:pPr marL="0" indent="0">
              <a:buNone/>
            </a:pPr>
            <a:r>
              <a:rPr lang="en-US" b="1" dirty="0"/>
              <a:t>2. Synchronized Blocks</a:t>
            </a:r>
          </a:p>
          <a:p>
            <a:r>
              <a:rPr lang="en-US" dirty="0"/>
              <a:t>Instead of synchronizing the entire method, you can synchronize a specific block inside it. This improves performance by locking only the critical section.</a:t>
            </a:r>
          </a:p>
          <a:p>
            <a:endParaRPr lang="en-US" dirty="0"/>
          </a:p>
          <a:p>
            <a:endParaRPr lang="en-US" dirty="0"/>
          </a:p>
          <a:p>
            <a:endParaRPr lang="en-US" dirty="0"/>
          </a:p>
        </p:txBody>
      </p:sp>
    </p:spTree>
    <p:extLst>
      <p:ext uri="{BB962C8B-B14F-4D97-AF65-F5344CB8AC3E}">
        <p14:creationId xmlns:p14="http://schemas.microsoft.com/office/powerpoint/2010/main" val="1117494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791</TotalTime>
  <Words>1062</Words>
  <Application>Microsoft Macintosh PowerPoint</Application>
  <PresentationFormat>On-screen Show (4:3)</PresentationFormat>
  <Paragraphs>81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Inter-Regular</vt:lpstr>
      <vt:lpstr>Office Theme</vt:lpstr>
      <vt:lpstr>Multithreading</vt:lpstr>
      <vt:lpstr>Introduction</vt:lpstr>
      <vt:lpstr>Creating Thread in Java</vt:lpstr>
      <vt:lpstr>Implementing the Runnable Interface</vt:lpstr>
      <vt:lpstr>Life Cycle of a Thread</vt:lpstr>
      <vt:lpstr>PowerPoint Presentation</vt:lpstr>
      <vt:lpstr>PowerPoint Presentation</vt:lpstr>
      <vt:lpstr>PowerPoint Presentation</vt:lpstr>
      <vt:lpstr>PowerPoint Presentation</vt:lpstr>
      <vt:lpstr>PowerPoint Presentation</vt:lpstr>
      <vt:lpstr>PowerPoint Presentation</vt:lpstr>
      <vt:lpstr>Thread Priority</vt:lpstr>
      <vt:lpstr>Thread Exceptions in Java </vt:lpstr>
      <vt:lpstr>Synchronization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Multithreading</dc:title>
  <dc:creator>Windows User</dc:creator>
  <cp:lastModifiedBy>Nadera Navas</cp:lastModifiedBy>
  <cp:revision>26</cp:revision>
  <dcterms:created xsi:type="dcterms:W3CDTF">2025-03-17T09:45:36Z</dcterms:created>
  <dcterms:modified xsi:type="dcterms:W3CDTF">2026-03-10T05:27:40Z</dcterms:modified>
</cp:coreProperties>
</file>