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EB Garamon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EBGaramond-regular.fntdata"/><Relationship Id="rId14" Type="http://schemas.openxmlformats.org/officeDocument/2006/relationships/slide" Target="slides/slide10.xml"/><Relationship Id="rId17" Type="http://schemas.openxmlformats.org/officeDocument/2006/relationships/font" Target="fonts/EBGaramond-italic.fntdata"/><Relationship Id="rId16" Type="http://schemas.openxmlformats.org/officeDocument/2006/relationships/font" Target="fonts/EBGaramo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EBGaramon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d9cd09e550915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1d9cd09e5509154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400"/>
              <a:buFont typeface="EB Garamond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Noto Sans Symbols"/>
              <a:buChar char="▪"/>
              <a:defRPr/>
            </a:lvl1pPr>
            <a:lvl2pPr indent="-350519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920"/>
              <a:buFont typeface="Noto Sans Symbols"/>
              <a:buChar char="▪"/>
              <a:defRPr/>
            </a:lvl2pPr>
            <a:lvl3pPr indent="-330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Font typeface="Noto Sans Symbols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Font typeface="Noto Sans Symbols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400"/>
              <a:buFont typeface="EB Garamond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EB Garamon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8200" y="2057399"/>
            <a:ext cx="5181600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3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172200" y="2057399"/>
            <a:ext cx="5181600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3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9788" y="668338"/>
            <a:ext cx="10515600" cy="1084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9788" y="1828800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839788" y="2743199"/>
            <a:ext cx="5157787" cy="344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3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6172200" y="1828800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6172200" y="2743199"/>
            <a:ext cx="5183188" cy="344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3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685800"/>
            <a:ext cx="393223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EB Garamon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183188" y="685801"/>
            <a:ext cx="61722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560"/>
              <a:buChar char="▪"/>
              <a:defRPr sz="3200"/>
            </a:lvl1pPr>
            <a:lvl2pPr indent="-3708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240"/>
              <a:buChar char="▪"/>
              <a:defRPr sz="2800"/>
            </a:lvl2pPr>
            <a:lvl3pPr indent="-35051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920"/>
              <a:buChar char="▪"/>
              <a:defRPr sz="2400"/>
            </a:lvl3pPr>
            <a:lvl4pPr indent="-3302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4pPr>
            <a:lvl5pPr indent="-3302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839788" y="2209800"/>
            <a:ext cx="3932237" cy="365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685800"/>
            <a:ext cx="393223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EB Garamon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183188" y="685801"/>
            <a:ext cx="6172200" cy="517525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39788" y="2209800"/>
            <a:ext cx="3932237" cy="365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4096847" y="-1079990"/>
            <a:ext cx="3998306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3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7331869" y="2155031"/>
            <a:ext cx="541496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997869" y="-397669"/>
            <a:ext cx="541496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39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39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39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Font typeface="EB Garamond"/>
              <a:buNone/>
              <a:defRPr b="0" i="0" sz="5200" u="none" cap="none" strike="noStrike">
                <a:solidFill>
                  <a:schemeClr val="accent5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E3ECF1"/>
              </a:buClr>
              <a:buSzPts val="224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3ECF1"/>
              </a:buClr>
              <a:buSzPts val="192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3ECF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20039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3ECF1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20039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3ECF1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75AB8C">
                  <a:alpha val="60000"/>
                </a:srgbClr>
              </a:gs>
              <a:gs pos="100000">
                <a:srgbClr val="81AD81">
                  <a:alpha val="6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lt2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" name="Google Shape;88;p13"/>
          <p:cNvSpPr/>
          <p:nvPr/>
        </p:nvSpPr>
        <p:spPr>
          <a:xfrm rot="-5400000">
            <a:off x="2743200" y="0"/>
            <a:ext cx="6857999" cy="6857998"/>
          </a:xfrm>
          <a:prstGeom prst="ellipse">
            <a:avLst/>
          </a:prstGeom>
          <a:gradFill>
            <a:gsLst>
              <a:gs pos="0">
                <a:srgbClr val="E4EEE4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9" name="Google Shape;89;p13"/>
          <p:cNvSpPr/>
          <p:nvPr/>
        </p:nvSpPr>
        <p:spPr>
          <a:xfrm rot="-5400000">
            <a:off x="73990" y="1194074"/>
            <a:ext cx="5589934" cy="5737916"/>
          </a:xfrm>
          <a:prstGeom prst="ellipse">
            <a:avLst/>
          </a:prstGeom>
          <a:gradFill>
            <a:gsLst>
              <a:gs pos="0">
                <a:srgbClr val="81AD81">
                  <a:alpha val="40000"/>
                </a:srgbClr>
              </a:gs>
              <a:gs pos="100000">
                <a:srgbClr val="91A1C3">
                  <a:alpha val="2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0" name="Google Shape;90;p13"/>
          <p:cNvSpPr/>
          <p:nvPr/>
        </p:nvSpPr>
        <p:spPr>
          <a:xfrm rot="-54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rgbClr val="81AD81">
                  <a:alpha val="20000"/>
                </a:srgbClr>
              </a:gs>
              <a:gs pos="100000">
                <a:srgbClr val="91A1C3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 amt="20000"/>
          </a:blip>
          <a:srcRect b="5" l="0" r="6" t="1514"/>
          <a:stretch/>
        </p:blipFill>
        <p:spPr>
          <a:xfrm>
            <a:off x="-2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F5A"/>
              </a:buClr>
              <a:buSzPts val="5400"/>
              <a:buFont typeface="EB Garamond"/>
              <a:buNone/>
            </a:pPr>
            <a:r>
              <a:rPr lang="en-US">
                <a:solidFill>
                  <a:srgbClr val="324F5A"/>
                </a:solidFill>
              </a:rPr>
              <a:t>Introduction to Cloud 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14"/>
          <p:cNvSpPr txBox="1"/>
          <p:nvPr>
            <p:ph idx="4294967295" type="ctrTitle"/>
          </p:nvPr>
        </p:nvSpPr>
        <p:spPr>
          <a:xfrm>
            <a:off x="838200" y="609600"/>
            <a:ext cx="22221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F5A"/>
              </a:buClr>
              <a:buSzPts val="5400"/>
              <a:buFont typeface="EB Garamond"/>
              <a:buNone/>
            </a:pPr>
            <a:r>
              <a:rPr b="0" i="0" lang="en-US" sz="5400" u="none" cap="none" strike="noStrike">
                <a:solidFill>
                  <a:srgbClr val="324F5A"/>
                </a:solidFill>
                <a:latin typeface="EB Garamond"/>
                <a:ea typeface="EB Garamond"/>
                <a:cs typeface="EB Garamond"/>
                <a:sym typeface="EB Garamond"/>
              </a:rPr>
              <a:t>Cloud Services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EB Garamond"/>
              <a:buNone/>
            </a:pPr>
            <a:r>
              <a:t/>
            </a:r>
            <a:endParaRPr b="0" i="0" sz="4400" u="none" cap="none" strike="noStrike">
              <a:solidFill>
                <a:srgbClr val="324F5A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100" name="Google Shape;100;p14"/>
          <p:cNvGrpSpPr/>
          <p:nvPr/>
        </p:nvGrpSpPr>
        <p:grpSpPr>
          <a:xfrm>
            <a:off x="3060300" y="610275"/>
            <a:ext cx="8293509" cy="5566025"/>
            <a:chOff x="0" y="679"/>
            <a:chExt cx="7060108" cy="5566025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679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177648" y="358494"/>
              <a:ext cx="874800" cy="874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836781" y="679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230081" y="679"/>
              <a:ext cx="58299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Definition of cloud services: Sets the stage by defining what cloud services are, emphasizing their relevance in contemporary business landscapes</a:t>
              </a:r>
              <a:endParaRPr sz="2400"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0" y="1988538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177718" y="2346352"/>
              <a:ext cx="874800" cy="874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836781" y="1988538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230208" y="1988529"/>
              <a:ext cx="58299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Importance: Highlights the significance of cloud services for businesses in terms of agility, scalability, and cost-effectiveness</a:t>
              </a:r>
              <a:endParaRPr sz="2400"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0" y="3976396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177718" y="4334061"/>
              <a:ext cx="874800" cy="874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1836781" y="3976396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1230208" y="3976404"/>
              <a:ext cx="58299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Overview: </a:t>
              </a:r>
              <a:r>
                <a:rPr lang="en-US" sz="2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T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hree main types of cloud services: IaaS, PaaS, and SaaS</a:t>
              </a:r>
              <a:endParaRPr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9" name="Google Shape;119;p15"/>
          <p:cNvSpPr txBox="1"/>
          <p:nvPr>
            <p:ph idx="4294967295" type="ctrTitle"/>
          </p:nvPr>
        </p:nvSpPr>
        <p:spPr>
          <a:xfrm>
            <a:off x="838200" y="609600"/>
            <a:ext cx="28488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3700"/>
              <a:buFont typeface="EB Garamond"/>
              <a:buNone/>
            </a:pPr>
            <a:r>
              <a:rPr b="0" i="0" lang="en-US" sz="37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Infrastructure as a Service</a:t>
            </a:r>
            <a:endParaRPr/>
          </a:p>
        </p:txBody>
      </p:sp>
      <p:grpSp>
        <p:nvGrpSpPr>
          <p:cNvPr id="120" name="Google Shape;120;p15"/>
          <p:cNvGrpSpPr/>
          <p:nvPr/>
        </p:nvGrpSpPr>
        <p:grpSpPr>
          <a:xfrm>
            <a:off x="3490450" y="611900"/>
            <a:ext cx="7862828" cy="5562850"/>
            <a:chOff x="0" y="2310"/>
            <a:chExt cx="7060095" cy="5562850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2310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176495" y="265808"/>
              <a:ext cx="644100" cy="644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1352624" y="2310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820598" y="2310"/>
              <a:ext cx="62394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Definition: Clearly defines IaaS as a cloud computing model that provides virtualized computing resources over the internet</a:t>
              </a:r>
              <a:endParaRPr sz="2400"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1466190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176495" y="1729688"/>
              <a:ext cx="644100" cy="6441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1352624" y="1466190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820688" y="1466185"/>
              <a:ext cx="62394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Key features: Outlines the main features of IaaS, such as the provision of servers, storage, and networking infrastructure</a:t>
              </a:r>
              <a:endParaRPr sz="2400"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0" y="2930069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176495" y="3193580"/>
              <a:ext cx="644100" cy="644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352624" y="2930069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820688" y="2930060"/>
              <a:ext cx="62394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Benefits: Describes the advantages of using IaaS, including scalability, flexibility, and cost-effectiveness</a:t>
              </a:r>
              <a:endParaRPr sz="2400"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0" y="4393948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76495" y="4657447"/>
              <a:ext cx="644100" cy="6441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352624" y="4393948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820688" y="4393960"/>
              <a:ext cx="62394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Examples: Provides examples of popular IaaS providers like AWS EC2, Microsoft Azure Virtual Machines, and Google Compute Engine</a:t>
              </a:r>
              <a:endParaRPr sz="24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" name="Google Shape;143;p16"/>
          <p:cNvSpPr txBox="1"/>
          <p:nvPr>
            <p:ph idx="4294967295" type="ctrTitle"/>
          </p:nvPr>
        </p:nvSpPr>
        <p:spPr>
          <a:xfrm>
            <a:off x="838200" y="609600"/>
            <a:ext cx="21237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b="0" i="0" lang="en-US" sz="44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IaaS Use Cases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2961975" y="610275"/>
            <a:ext cx="8391644" cy="5566025"/>
            <a:chOff x="0" y="679"/>
            <a:chExt cx="7060108" cy="5566025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679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186366" y="358494"/>
              <a:ext cx="874800" cy="874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1836781" y="679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1121908" y="679"/>
              <a:ext cx="59382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Development and testing environments: Explains how IaaS can be used to create scalable development and testing environments without the need for physical hardware</a:t>
              </a:r>
              <a:endParaRPr sz="2300"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1988538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186439" y="2346352"/>
              <a:ext cx="874800" cy="874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836781" y="1988538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1121887" y="1988529"/>
              <a:ext cx="59382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Web hosting and application hosting: Discusses how IaaS can be leveraged to host websites and deploy various types of applications</a:t>
              </a:r>
              <a:endParaRPr sz="2300"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0" y="3976396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86513" y="4334061"/>
              <a:ext cx="874800" cy="874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1836781" y="3976396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1121887" y="3976404"/>
              <a:ext cx="59382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Disaster recovery and backup solutions: Highlights the role of IaaS in implementing robust disaster recovery and backup strategies</a:t>
              </a:r>
              <a:endParaRPr sz="23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3" name="Google Shape;163;p17"/>
          <p:cNvSpPr txBox="1"/>
          <p:nvPr>
            <p:ph idx="4294967295" type="ctrTitle"/>
          </p:nvPr>
        </p:nvSpPr>
        <p:spPr>
          <a:xfrm>
            <a:off x="838200" y="609600"/>
            <a:ext cx="22959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lang="en-US" sz="4400">
                <a:solidFill>
                  <a:srgbClr val="32505B"/>
                </a:solidFill>
              </a:rPr>
              <a:t>Platform as a Service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060275" y="3447400"/>
            <a:ext cx="8294100" cy="12351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grpSp>
        <p:nvGrpSpPr>
          <p:cNvPr id="165" name="Google Shape;165;p17"/>
          <p:cNvGrpSpPr/>
          <p:nvPr/>
        </p:nvGrpSpPr>
        <p:grpSpPr>
          <a:xfrm>
            <a:off x="3060275" y="610300"/>
            <a:ext cx="8220228" cy="5566025"/>
            <a:chOff x="-7" y="692"/>
            <a:chExt cx="7060232" cy="5566025"/>
          </a:xfrm>
        </p:grpSpPr>
        <p:sp>
          <p:nvSpPr>
            <p:cNvPr id="166" name="Google Shape;166;p17"/>
            <p:cNvSpPr/>
            <p:nvPr/>
          </p:nvSpPr>
          <p:spPr>
            <a:xfrm>
              <a:off x="-7" y="695"/>
              <a:ext cx="7060200" cy="13491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881359" y="691"/>
              <a:ext cx="6178800" cy="13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2505B"/>
                  </a:solidFill>
                  <a:latin typeface="Avenir"/>
                  <a:ea typeface="Avenir"/>
                  <a:cs typeface="Avenir"/>
                  <a:sym typeface="Avenir"/>
                </a:rPr>
                <a:t>Definition: </a:t>
              </a:r>
              <a:r>
                <a:rPr lang="en-US" sz="2400">
                  <a:solidFill>
                    <a:srgbClr val="324F5A"/>
                  </a:solidFill>
                  <a:latin typeface="Avenir"/>
                  <a:ea typeface="Avenir"/>
                  <a:cs typeface="Avenir"/>
                  <a:sym typeface="Avenir"/>
                </a:rPr>
                <a:t>Clearly</a:t>
              </a:r>
              <a:r>
                <a:rPr lang="en-US" sz="2400">
                  <a:solidFill>
                    <a:srgbClr val="32505B"/>
                  </a:solidFill>
                  <a:latin typeface="Avenir"/>
                  <a:ea typeface="Avenir"/>
                  <a:cs typeface="Avenir"/>
                  <a:sym typeface="Avenir"/>
                </a:rPr>
                <a:t> defines PaaS as a cloud computing model that provides a platform for developing, running, and managing applications</a:t>
              </a:r>
              <a:endParaRPr sz="2400"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-7" y="1444592"/>
              <a:ext cx="7060200" cy="12351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881425" y="1444492"/>
              <a:ext cx="6178800" cy="12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2505B"/>
                  </a:solidFill>
                  <a:latin typeface="Avenir"/>
                  <a:ea typeface="Avenir"/>
                  <a:cs typeface="Avenir"/>
                  <a:sym typeface="Avenir"/>
                </a:rPr>
                <a:t>Key features: Outlines the main features of PaaS, such as reducing complexity, accelerating time-to-market, and scalability</a:t>
              </a:r>
              <a:endPara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-7" y="4217592"/>
              <a:ext cx="7060200" cy="13491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881295" y="4217617"/>
              <a:ext cx="6178800" cy="13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2505B"/>
                  </a:solidFill>
                  <a:latin typeface="Avenir"/>
                  <a:ea typeface="Avenir"/>
                  <a:cs typeface="Avenir"/>
                  <a:sym typeface="Avenir"/>
                </a:rPr>
                <a:t>Examples: Provides examples of popular PaaS providers like Heroku, Google App Engine, and Microsoft Azure App Service</a:t>
              </a:r>
              <a:endPara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72" name="Google Shape;172;p17"/>
          <p:cNvSpPr txBox="1"/>
          <p:nvPr/>
        </p:nvSpPr>
        <p:spPr>
          <a:xfrm>
            <a:off x="4055875" y="3447400"/>
            <a:ext cx="7224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8300" lIns="168300" spcFirstLastPara="1" rIns="168300" wrap="square" tIns="1683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505B"/>
                </a:solidFill>
                <a:latin typeface="Avenir"/>
                <a:ea typeface="Avenir"/>
                <a:cs typeface="Avenir"/>
                <a:sym typeface="Avenir"/>
              </a:rPr>
              <a:t>Benefits: Describes the advantages of using PaaS, including faster development cycles, simplified deployment, and scalability. </a:t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3" name="Google Shape;173;p17"/>
          <p:cNvSpPr/>
          <p:nvPr/>
        </p:nvSpPr>
        <p:spPr>
          <a:xfrm flipH="1">
            <a:off x="3293874" y="992168"/>
            <a:ext cx="762000" cy="65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352837" y="2360392"/>
            <a:ext cx="644100" cy="644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3352837" y="3717817"/>
            <a:ext cx="644100" cy="6441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3352837" y="5236321"/>
            <a:ext cx="644100" cy="644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0" y="0"/>
            <a:ext cx="12189000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3" name="Google Shape;183;p18"/>
          <p:cNvSpPr txBox="1"/>
          <p:nvPr>
            <p:ph idx="4294967295" type="ctrTitle"/>
          </p:nvPr>
        </p:nvSpPr>
        <p:spPr>
          <a:xfrm>
            <a:off x="838200" y="609600"/>
            <a:ext cx="22959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b="0" i="0" lang="en-US" sz="44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PaaS Use Cases</a:t>
            </a:r>
            <a:endParaRPr/>
          </a:p>
        </p:txBody>
      </p:sp>
      <p:grpSp>
        <p:nvGrpSpPr>
          <p:cNvPr id="184" name="Google Shape;184;p18"/>
          <p:cNvGrpSpPr/>
          <p:nvPr/>
        </p:nvGrpSpPr>
        <p:grpSpPr>
          <a:xfrm>
            <a:off x="3134025" y="610275"/>
            <a:ext cx="8220214" cy="5566025"/>
            <a:chOff x="0" y="679"/>
            <a:chExt cx="7060220" cy="5566025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679"/>
              <a:ext cx="7060200" cy="15903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143337" y="358494"/>
              <a:ext cx="874800" cy="874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1836781" y="679"/>
              <a:ext cx="52233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018144" y="679"/>
              <a:ext cx="60420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Application development and deployment: Explains how PaaS can streamline the development and deployment of applications by providing pre-built tools and frameworks</a:t>
              </a:r>
              <a:endParaRPr sz="2400"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0" y="1988538"/>
              <a:ext cx="7060200" cy="15903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143272" y="2346277"/>
              <a:ext cx="874800" cy="874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1836781" y="1988538"/>
              <a:ext cx="52233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076720" y="1988529"/>
              <a:ext cx="59835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Mobile app development: Discusses how PaaS can be used to develop and deploy mobile applications across various platforms</a:t>
              </a:r>
              <a:endParaRPr sz="2400"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0" y="3976396"/>
              <a:ext cx="7060200" cy="15903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143270" y="4334211"/>
              <a:ext cx="874800" cy="874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1836781" y="3976396"/>
              <a:ext cx="52233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076591" y="3976404"/>
              <a:ext cx="59835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IoT solutions: Highlights the role of PaaS in building scalable and flexible IoT solutions</a:t>
              </a:r>
              <a:endParaRPr sz="24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3" name="Google Shape;203;p19"/>
          <p:cNvSpPr txBox="1"/>
          <p:nvPr>
            <p:ph idx="4294967295" type="ctrTitle"/>
          </p:nvPr>
        </p:nvSpPr>
        <p:spPr>
          <a:xfrm>
            <a:off x="838200" y="609600"/>
            <a:ext cx="22404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b="0" i="0" lang="en-US" sz="44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Software as a Service</a:t>
            </a:r>
            <a:endParaRPr/>
          </a:p>
        </p:txBody>
      </p:sp>
      <p:grpSp>
        <p:nvGrpSpPr>
          <p:cNvPr id="204" name="Google Shape;204;p19"/>
          <p:cNvGrpSpPr/>
          <p:nvPr/>
        </p:nvGrpSpPr>
        <p:grpSpPr>
          <a:xfrm>
            <a:off x="3078724" y="611900"/>
            <a:ext cx="8275194" cy="5562850"/>
            <a:chOff x="0" y="2310"/>
            <a:chExt cx="7060143" cy="5562850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2310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65908" y="265808"/>
              <a:ext cx="644100" cy="644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1352624" y="2310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76043" y="2310"/>
              <a:ext cx="62841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Definition: Clearly defines SaaS as a cloud computing model that delivers software applications over the internet on a subscription basis</a:t>
              </a:r>
              <a:endParaRPr sz="2400"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0" y="1466190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65908" y="1729688"/>
              <a:ext cx="644100" cy="6441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1352624" y="1466190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775979" y="1466185"/>
              <a:ext cx="62841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Key features: Outlines the main features of SaaS, such as accessibility, automatic updates, and cost-effectiveness</a:t>
              </a:r>
              <a:endParaRPr sz="2400"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0" y="2930069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65908" y="3193567"/>
              <a:ext cx="644100" cy="644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1352624" y="2930069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775979" y="2930060"/>
              <a:ext cx="62841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Benefits: Describes the advantages of using SaaS, including accessibility from any device, automatic updates, and predictable pricing</a:t>
              </a:r>
              <a:endParaRPr sz="2400"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0" y="4393948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65900" y="4657447"/>
              <a:ext cx="644100" cy="6441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1352624" y="4393948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776022" y="4393960"/>
              <a:ext cx="62841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Examples: Provides examples of popular SaaS applications like Salesforce, Google Workspace, and Microsoft Office</a:t>
              </a:r>
              <a:endParaRPr sz="24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7" name="Google Shape;227;p20"/>
          <p:cNvSpPr txBox="1"/>
          <p:nvPr>
            <p:ph idx="4294967295" type="ctrTitle"/>
          </p:nvPr>
        </p:nvSpPr>
        <p:spPr>
          <a:xfrm>
            <a:off x="838200" y="609600"/>
            <a:ext cx="16875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b="0" i="0" lang="en-US" sz="44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SaaS Use Cases</a:t>
            </a:r>
            <a:endParaRPr/>
          </a:p>
        </p:txBody>
      </p:sp>
      <p:grpSp>
        <p:nvGrpSpPr>
          <p:cNvPr id="228" name="Google Shape;228;p20"/>
          <p:cNvGrpSpPr/>
          <p:nvPr/>
        </p:nvGrpSpPr>
        <p:grpSpPr>
          <a:xfrm>
            <a:off x="2236850" y="610275"/>
            <a:ext cx="9116868" cy="5566025"/>
            <a:chOff x="0" y="679"/>
            <a:chExt cx="7060225" cy="5566025"/>
          </a:xfrm>
        </p:grpSpPr>
        <p:sp>
          <p:nvSpPr>
            <p:cNvPr id="229" name="Google Shape;229;p20"/>
            <p:cNvSpPr/>
            <p:nvPr/>
          </p:nvSpPr>
          <p:spPr>
            <a:xfrm>
              <a:off x="0" y="679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223748" y="358504"/>
              <a:ext cx="792000" cy="874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1836781" y="679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1213506" y="679"/>
              <a:ext cx="58467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Customer Relationship Management : Explains how SaaS CRM solutions can help businesses manage customer relationships effectively</a:t>
              </a:r>
              <a:endParaRPr sz="2400"/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0" y="1988538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223685" y="2346352"/>
              <a:ext cx="874800" cy="874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1836781" y="1988538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1213389" y="1988529"/>
              <a:ext cx="58467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Email and collaboration tools: Discusses how SaaS email and collaboration tools can improve communication and productivity within organizations</a:t>
              </a:r>
              <a:endParaRPr sz="2400"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0" y="3976396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306487" y="4334204"/>
              <a:ext cx="709200" cy="874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1836781" y="3976396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1213525" y="3976404"/>
              <a:ext cx="58467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Enterprise Resource Planning systems: Highlights the role of SaaS ERP systems in streamlining business processes and increasing efficiency</a:t>
              </a:r>
              <a:endParaRPr sz="24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7" name="Google Shape;247;p21"/>
          <p:cNvSpPr txBox="1"/>
          <p:nvPr>
            <p:ph idx="4294967295" type="ctrTitle"/>
          </p:nvPr>
        </p:nvSpPr>
        <p:spPr>
          <a:xfrm>
            <a:off x="838200" y="609600"/>
            <a:ext cx="26892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b="0" i="0" lang="en-US" sz="44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Comparing IaaS, PaaS, and SaaS</a:t>
            </a:r>
            <a:endParaRPr/>
          </a:p>
        </p:txBody>
      </p:sp>
      <p:grpSp>
        <p:nvGrpSpPr>
          <p:cNvPr id="248" name="Google Shape;248;p21"/>
          <p:cNvGrpSpPr/>
          <p:nvPr/>
        </p:nvGrpSpPr>
        <p:grpSpPr>
          <a:xfrm>
            <a:off x="3527400" y="611900"/>
            <a:ext cx="8019681" cy="5563075"/>
            <a:chOff x="0" y="2310"/>
            <a:chExt cx="7060200" cy="5563075"/>
          </a:xfrm>
        </p:grpSpPr>
        <p:sp>
          <p:nvSpPr>
            <p:cNvPr id="249" name="Google Shape;249;p21"/>
            <p:cNvSpPr/>
            <p:nvPr/>
          </p:nvSpPr>
          <p:spPr>
            <a:xfrm>
              <a:off x="0" y="2310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149142" y="265808"/>
              <a:ext cx="644100" cy="644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1352624" y="2310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942378" y="2310"/>
              <a:ext cx="61176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Scalability: Compares how each service type scales resources based on user requirements</a:t>
              </a:r>
              <a:endParaRPr sz="2400"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0" y="1466190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149138" y="1729688"/>
              <a:ext cx="644100" cy="6441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1352624" y="1466190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942385" y="1558367"/>
              <a:ext cx="57075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Management: Discusses the level of responsibility for managing infrastructure and applications in each service type</a:t>
              </a:r>
              <a:endParaRPr sz="2400"/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0" y="2930069"/>
              <a:ext cx="7060095" cy="117110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149138" y="3193567"/>
              <a:ext cx="644100" cy="644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1352624" y="2930069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942513" y="2930060"/>
              <a:ext cx="6117600" cy="11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Customization: Explores the level of customization and control available, to users in each service type</a:t>
              </a:r>
              <a:endParaRPr sz="2400"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0" y="4214361"/>
              <a:ext cx="7060200" cy="13506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49140" y="4657447"/>
              <a:ext cx="644100" cy="6441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1352624" y="4393948"/>
              <a:ext cx="5707470" cy="1171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942512" y="4214785"/>
              <a:ext cx="6117600" cy="135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925" lIns="123925" spcFirstLastPara="1" rIns="123925" wrap="square" tIns="123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venir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Cost: Compares the cost factors and pricing models for each service type, including considerations like pay-as-you-go vs. subscription-based models</a:t>
              </a:r>
              <a:endParaRPr sz="24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fmla="val 7164" name="adj1"/>
            </a:avLst>
          </a:prstGeom>
          <a:gradFill>
            <a:gsLst>
              <a:gs pos="0">
                <a:srgbClr val="75AB8C">
                  <a:alpha val="40000"/>
                </a:srgbClr>
              </a:gs>
              <a:gs pos="100000">
                <a:srgbClr val="81AD81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1" name="Google Shape;271;p22"/>
          <p:cNvSpPr txBox="1"/>
          <p:nvPr>
            <p:ph idx="4294967295" type="ctrTitle"/>
          </p:nvPr>
        </p:nvSpPr>
        <p:spPr>
          <a:xfrm>
            <a:off x="838200" y="609600"/>
            <a:ext cx="27444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505B"/>
              </a:buClr>
              <a:buSzPts val="4400"/>
              <a:buFont typeface="EB Garamond"/>
              <a:buNone/>
            </a:pPr>
            <a:r>
              <a:rPr b="0" i="0" lang="en-US" sz="4400" u="none" cap="none" strike="noStrike">
                <a:solidFill>
                  <a:srgbClr val="32505B"/>
                </a:solidFill>
                <a:latin typeface="EB Garamond"/>
                <a:ea typeface="EB Garamond"/>
                <a:cs typeface="EB Garamond"/>
                <a:sym typeface="EB Garamond"/>
              </a:rPr>
              <a:t>Conclusion</a:t>
            </a:r>
            <a:endParaRPr/>
          </a:p>
        </p:txBody>
      </p:sp>
      <p:grpSp>
        <p:nvGrpSpPr>
          <p:cNvPr id="272" name="Google Shape;272;p22"/>
          <p:cNvGrpSpPr/>
          <p:nvPr/>
        </p:nvGrpSpPr>
        <p:grpSpPr>
          <a:xfrm>
            <a:off x="3582625" y="610275"/>
            <a:ext cx="7771047" cy="5566025"/>
            <a:chOff x="0" y="679"/>
            <a:chExt cx="7060095" cy="5566025"/>
          </a:xfrm>
        </p:grpSpPr>
        <p:sp>
          <p:nvSpPr>
            <p:cNvPr id="273" name="Google Shape;273;p22"/>
            <p:cNvSpPr/>
            <p:nvPr/>
          </p:nvSpPr>
          <p:spPr>
            <a:xfrm>
              <a:off x="0" y="679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112659" y="358494"/>
              <a:ext cx="874800" cy="874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1836781" y="679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921119" y="679"/>
              <a:ext cx="61389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venir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Recap: Summarizes the key points discussed in the presentation regarding IaaS, PaaS, and SaaS</a:t>
              </a:r>
              <a:endParaRPr sz="2600"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0" y="1988538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112586" y="2346352"/>
              <a:ext cx="874800" cy="874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1836781" y="1988538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80" name="Google Shape;280;p22"/>
            <p:cNvSpPr txBox="1"/>
            <p:nvPr/>
          </p:nvSpPr>
          <p:spPr>
            <a:xfrm>
              <a:off x="921187" y="1988529"/>
              <a:ext cx="61389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venir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Importance: Reinforces the importance of selecting the right cloud service model based on specific business needs and objectives</a:t>
              </a:r>
              <a:endParaRPr sz="2600"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0" y="3976396"/>
              <a:ext cx="7060095" cy="159028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112659" y="4334211"/>
              <a:ext cx="874800" cy="874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1836781" y="3976396"/>
              <a:ext cx="5223313" cy="1590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/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987395" y="3976404"/>
              <a:ext cx="60726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300" lIns="168300" spcFirstLastPara="1" rIns="168300" wrap="square" tIns="168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venir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Future trends: Mentions potential future trends and advancements in cloud services, encouraging further exploration and adaptation</a:t>
              </a:r>
              <a:endParaRPr sz="26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minousVTI">
  <a:themeElements>
    <a:clrScheme name="AnalogousFromLightSeedRightStep">
      <a:dk1>
        <a:srgbClr val="000000"/>
      </a:dk1>
      <a:lt1>
        <a:srgbClr val="FFFFFF"/>
      </a:lt1>
      <a:dk2>
        <a:srgbClr val="243941"/>
      </a:dk2>
      <a:lt2>
        <a:srgbClr val="E8E2E8"/>
      </a:lt2>
      <a:accent1>
        <a:srgbClr val="81AD81"/>
      </a:accent1>
      <a:accent2>
        <a:srgbClr val="75AB8C"/>
      </a:accent2>
      <a:accent3>
        <a:srgbClr val="80A9A3"/>
      </a:accent3>
      <a:accent4>
        <a:srgbClr val="7CA8B8"/>
      </a:accent4>
      <a:accent5>
        <a:srgbClr val="91A1C3"/>
      </a:accent5>
      <a:accent6>
        <a:srgbClr val="847FBA"/>
      </a:accent6>
      <a:hlink>
        <a:srgbClr val="AE69AD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