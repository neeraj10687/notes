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35"/>
      <p:bold r:id="rId36"/>
      <p:italic r:id="rId37"/>
      <p:boldItalic r:id="rId38"/>
    </p:embeddedFont>
    <p:embeddedFont>
      <p:font typeface="Maven Pro" panose="020B0604020202020204" charset="0"/>
      <p:regular r:id="rId39"/>
      <p:bold r:id="rId40"/>
    </p:embeddedFont>
    <p:embeddedFont>
      <p:font typeface="Nunito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c3c4e4aca3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c3c4e4aca3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c3c4e4aca3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c3c4e4aca3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c3c4e4aca3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c3c4e4aca3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c3c4e4aca3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c3c4e4aca3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c3c4e4aca3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c3c4e4aca3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c3c4e4aca3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c3c4e4aca3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c3c4e4aca3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c3c4e4aca3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c3c4e4aca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c3c4e4aca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c3c4e4aca3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c3c4e4aca3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c3c4e4aca3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c3c4e4aca3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c3c4e4aca3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c3c4e4aca3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3c4e4aca3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c3c4e4aca3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c3c4e4aca3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c3c4e4aca3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c3c4e4aca3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c3c4e4aca3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c3c4e4aca3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c3c4e4aca3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stack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80" b="1"/>
              <a:t>MODULE II :Open Stack </a:t>
            </a:r>
            <a:endParaRPr sz="248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0"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80" b="1">
                <a:latin typeface="Maven Pro"/>
                <a:ea typeface="Maven Pro"/>
                <a:cs typeface="Maven Pro"/>
                <a:sym typeface="Maven Pro"/>
              </a:rPr>
              <a:t>Designing OpenStack Cloud Architectural Consideration – OpenStack - The new data center paradigm – OpenStack logical architecture - Nova - Compute Service.</a:t>
            </a:r>
            <a:endParaRPr sz="2480" b="1"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OpenStack ? </a:t>
            </a:r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563000" cy="29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286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200" i="1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OpenStack is a cloud operating system that controls large pools of compute, storage, and networking resources throughout a datacenter, all managed and provisioned through APIs with common authentication mechanisms.</a:t>
            </a:r>
            <a:endParaRPr sz="2200" i="1">
              <a:solidFill>
                <a:srgbClr val="24242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OpenStack ? </a:t>
            </a:r>
            <a:endParaRPr/>
          </a:p>
        </p:txBody>
      </p:sp>
      <p:sp>
        <p:nvSpPr>
          <p:cNvPr id="290" name="Google Shape;290;p15"/>
          <p:cNvSpPr txBox="1">
            <a:spLocks noGrp="1"/>
          </p:cNvSpPr>
          <p:nvPr>
            <p:ph type="body" idx="1"/>
          </p:nvPr>
        </p:nvSpPr>
        <p:spPr>
          <a:xfrm>
            <a:off x="1303800" y="1444000"/>
            <a:ext cx="7439100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rgbClr val="1155CC"/>
                </a:solidFill>
                <a:latin typeface="Georgia"/>
                <a:ea typeface="Georgia"/>
                <a:cs typeface="Georgia"/>
                <a:sym typeface="Georgi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OpenStack</a:t>
            </a:r>
            <a:r>
              <a:rPr lang="en" sz="22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 is one of the biggest cloud computing platforms and provides an “Infrastructure-as-a-Service” solution. </a:t>
            </a:r>
            <a:endParaRPr sz="2200">
              <a:solidFill>
                <a:srgbClr val="24242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solidFill>
                <a:srgbClr val="24242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42424"/>
                </a:solidFill>
                <a:latin typeface="Georgia"/>
                <a:ea typeface="Georgia"/>
                <a:cs typeface="Georgia"/>
                <a:sym typeface="Georgia"/>
              </a:rPr>
              <a:t>The variety of different services offered allows the administrator to install and configure the environment according to his own requirements. </a:t>
            </a:r>
            <a:endParaRPr sz="2200">
              <a:solidFill>
                <a:srgbClr val="24242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228600" lvl="0" indent="0" algn="just" rtl="0">
              <a:spcBef>
                <a:spcPts val="1000"/>
              </a:spcBef>
              <a:spcAft>
                <a:spcPts val="1000"/>
              </a:spcAft>
              <a:buNone/>
            </a:pPr>
            <a:endParaRPr sz="2200" i="1">
              <a:solidFill>
                <a:srgbClr val="24242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OpenStack ?  </a:t>
            </a:r>
            <a:endParaRPr/>
          </a:p>
        </p:txBody>
      </p:sp>
      <p:sp>
        <p:nvSpPr>
          <p:cNvPr id="296" name="Google Shape;296;p16"/>
          <p:cNvSpPr txBox="1">
            <a:spLocks noGrp="1"/>
          </p:cNvSpPr>
          <p:nvPr>
            <p:ph type="body" idx="1"/>
          </p:nvPr>
        </p:nvSpPr>
        <p:spPr>
          <a:xfrm>
            <a:off x="1303800" y="1234450"/>
            <a:ext cx="7030500" cy="3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Free and open-source cloud-computing software platform.</a:t>
            </a:r>
            <a:endParaRPr sz="2100"/>
          </a:p>
          <a:p>
            <a:pPr marL="457200" lvl="0" indent="-3619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Provides services for managing a Cloud environment on the fly. </a:t>
            </a:r>
            <a:endParaRPr sz="2100"/>
          </a:p>
          <a:p>
            <a:pPr marL="457200" lvl="0" indent="-3619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Consists of a group of interrelated projects that control pools of processing, storage, and networking resources </a:t>
            </a:r>
            <a:endParaRPr sz="2100"/>
          </a:p>
          <a:p>
            <a:pPr marL="457200" lvl="0" indent="-3619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Provides users methods and support to deploy virtual machines in a remote environment. </a:t>
            </a:r>
            <a:endParaRPr sz="2100"/>
          </a:p>
          <a:p>
            <a:pPr marL="457200" lvl="0" indent="-3619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State in OpenStack is maintained in centrally managed relational database (MySQL or MariaDB). </a:t>
            </a:r>
            <a:endParaRPr sz="2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OpenStack ?  </a:t>
            </a:r>
            <a:endParaRPr/>
          </a:p>
        </p:txBody>
      </p:sp>
      <p:sp>
        <p:nvSpPr>
          <p:cNvPr id="302" name="Google Shape;302;p17"/>
          <p:cNvSpPr txBox="1">
            <a:spLocks noGrp="1"/>
          </p:cNvSpPr>
          <p:nvPr>
            <p:ph type="body" idx="1"/>
          </p:nvPr>
        </p:nvSpPr>
        <p:spPr>
          <a:xfrm>
            <a:off x="1303800" y="1234450"/>
            <a:ext cx="7030500" cy="3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OpenStack is a cloud operating system that controls large pools of compute, storage, and networking resources throughout a datacenter, all managed and provisioned through APIs with common authentication mechanisms.</a:t>
            </a:r>
            <a:endParaRPr sz="2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OpenStack ?  </a:t>
            </a:r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body" idx="1"/>
          </p:nvPr>
        </p:nvSpPr>
        <p:spPr>
          <a:xfrm>
            <a:off x="1303800" y="1234450"/>
            <a:ext cx="7030500" cy="3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A dashboard is also available, giving administrators control while empowering their users to provision resources through a web interface.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OpenStack ?  </a:t>
            </a:r>
            <a:endParaRPr dirty="0"/>
          </a:p>
        </p:txBody>
      </p:sp>
      <p:sp>
        <p:nvSpPr>
          <p:cNvPr id="314" name="Google Shape;314;p19"/>
          <p:cNvSpPr txBox="1">
            <a:spLocks noGrp="1"/>
          </p:cNvSpPr>
          <p:nvPr>
            <p:ph type="body" idx="1"/>
          </p:nvPr>
        </p:nvSpPr>
        <p:spPr>
          <a:xfrm>
            <a:off x="1303800" y="1234450"/>
            <a:ext cx="7030500" cy="3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Beyond standard infrastructure-as-a-service functionality, additional components provide orchestration, fault management and service management amongst other services to ensure high availability of user applications.</a:t>
            </a:r>
            <a:endParaRPr sz="2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0" name="Google Shape;3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82000"/>
            <a:ext cx="6563825" cy="5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D1D2-16BF-F71D-9197-15CF3ACC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OPENSTACK CLOUD ARCHITECTURE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DF90-1A78-619A-4723-F450F7FE4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represents the high level architecture of the OpenStack cloud platform, Showing how OpenStack forms the foundation of the cloud and how users interact with it using both built-in and third party tools.</a:t>
            </a:r>
          </a:p>
          <a:p>
            <a:r>
              <a:rPr lang="en-US" dirty="0"/>
              <a:t>OpenStack controls large pools of  compute, storage and networking resources throughout a data center.</a:t>
            </a:r>
          </a:p>
          <a:p>
            <a:r>
              <a:rPr lang="en-US" dirty="0"/>
              <a:t>These resources are managed using APIs and dashboards </a:t>
            </a:r>
          </a:p>
          <a:p>
            <a:r>
              <a:rPr lang="en-US" dirty="0"/>
              <a:t>Can support different workload types such as virtual machine, containers and bare metal servers.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604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EF54C-DBEB-EA56-F2AD-F08FBF693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4"/>
            <a:ext cx="6806854" cy="843649"/>
          </a:xfrm>
        </p:spPr>
        <p:txBody>
          <a:bodyPr>
            <a:noAutofit/>
          </a:bodyPr>
          <a:lstStyle/>
          <a:p>
            <a:r>
              <a:rPr lang="en-US" sz="2000" dirty="0"/>
              <a:t>User Access and Management Layer(Top Layer)</a:t>
            </a:r>
            <a:endParaRPr lang="en-IN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4465E-5274-5408-92ED-D3B72EFBA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338146"/>
            <a:ext cx="7030500" cy="3193504"/>
          </a:xfrm>
        </p:spPr>
        <p:txBody>
          <a:bodyPr/>
          <a:lstStyle/>
          <a:p>
            <a:r>
              <a:rPr lang="en-US" dirty="0"/>
              <a:t>The top of the architecture  represents the interfaces and tools through which users interact with OpenStack.</a:t>
            </a:r>
          </a:p>
          <a:p>
            <a:pPr marL="146050" indent="0">
              <a:buNone/>
            </a:pPr>
            <a:endParaRPr lang="en-US" dirty="0"/>
          </a:p>
          <a:p>
            <a:r>
              <a:rPr lang="en-US" dirty="0"/>
              <a:t>Users do not directly manage servers instead, they use interfaces provided by OpenStack or external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399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96FEE-5122-4430-125D-5D0CA4BA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5"/>
            <a:ext cx="7030500" cy="709835"/>
          </a:xfrm>
        </p:spPr>
        <p:txBody>
          <a:bodyPr/>
          <a:lstStyle/>
          <a:p>
            <a:r>
              <a:rPr lang="en-US" dirty="0"/>
              <a:t>Built-in OpenStack Tools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C977A-3D84-F6E9-EBD0-1A6797CC3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308410"/>
            <a:ext cx="7030500" cy="3223240"/>
          </a:xfrm>
        </p:spPr>
        <p:txBody>
          <a:bodyPr/>
          <a:lstStyle/>
          <a:p>
            <a:endParaRPr lang="en-US" dirty="0"/>
          </a:p>
          <a:p>
            <a:r>
              <a:rPr lang="en-IN" b="1" u="sng" dirty="0"/>
              <a:t>Horizon Web UI</a:t>
            </a:r>
          </a:p>
          <a:p>
            <a:endParaRPr lang="en-IN" b="1" u="sng" dirty="0"/>
          </a:p>
          <a:p>
            <a:r>
              <a:rPr lang="en-IN" dirty="0"/>
              <a:t>Horizon is the official web-based dashboard of OpenStack.</a:t>
            </a:r>
          </a:p>
          <a:p>
            <a:endParaRPr lang="en-IN" dirty="0"/>
          </a:p>
          <a:p>
            <a:r>
              <a:rPr lang="en-IN" dirty="0"/>
              <a:t>It provides a graphical interface for users and administrators to manage cloud resources such as instances, networks, volumes and images</a:t>
            </a:r>
          </a:p>
          <a:p>
            <a:pPr marL="1460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3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E7EE-FD32-B6C7-6048-FA33D0BFC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303800" y="527825"/>
            <a:ext cx="7030500" cy="438614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OpenStack SDK</a:t>
            </a:r>
            <a:br>
              <a:rPr lang="en-US" b="1" u="sng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3E364-473B-B887-0E2E-0A1B395CB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137424"/>
            <a:ext cx="7030500" cy="3394226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Provides APIs and libraries.</a:t>
            </a:r>
          </a:p>
          <a:p>
            <a:endParaRPr lang="en-US" dirty="0"/>
          </a:p>
          <a:p>
            <a:r>
              <a:rPr lang="en-US" dirty="0"/>
              <a:t>Allows programmatic control of cloud resource.</a:t>
            </a:r>
          </a:p>
          <a:p>
            <a:endParaRPr lang="en-US" dirty="0"/>
          </a:p>
          <a:p>
            <a:r>
              <a:rPr lang="en-US" dirty="0"/>
              <a:t>Provides libraries for different programming languages that allow users to interact with OpenStack services programmatically.</a:t>
            </a:r>
          </a:p>
          <a:p>
            <a:endParaRPr lang="en-US" dirty="0"/>
          </a:p>
          <a:p>
            <a:r>
              <a:rPr lang="en-US" dirty="0"/>
              <a:t>Useful for automation and integration with 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755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E8FF-AB98-4629-B350-CFFCACB1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5"/>
            <a:ext cx="7030500" cy="657796"/>
          </a:xfrm>
        </p:spPr>
        <p:txBody>
          <a:bodyPr/>
          <a:lstStyle/>
          <a:p>
            <a:r>
              <a:rPr lang="en-US" dirty="0"/>
              <a:t>Third Party Tools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7EA6-DF73-8814-A87E-86722A755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375317"/>
            <a:ext cx="7030500" cy="3156333"/>
          </a:xfrm>
        </p:spPr>
        <p:txBody>
          <a:bodyPr/>
          <a:lstStyle/>
          <a:p>
            <a:r>
              <a:rPr lang="en-US" b="1" u="sng" dirty="0"/>
              <a:t>Kubernetes</a:t>
            </a:r>
          </a:p>
          <a:p>
            <a:endParaRPr lang="en-US" b="1" u="sng" dirty="0"/>
          </a:p>
          <a:p>
            <a:r>
              <a:rPr lang="en-US" dirty="0"/>
              <a:t>Used for container orchestration</a:t>
            </a:r>
          </a:p>
          <a:p>
            <a:endParaRPr lang="en-US" dirty="0"/>
          </a:p>
          <a:p>
            <a:r>
              <a:rPr lang="en-US" dirty="0"/>
              <a:t>Runs containerized application on OpenStack infrastructure</a:t>
            </a:r>
          </a:p>
          <a:p>
            <a:endParaRPr lang="en-US" dirty="0"/>
          </a:p>
          <a:p>
            <a:r>
              <a:rPr lang="en-US" dirty="0"/>
              <a:t>When integrated with OpenStack, it enables the deployment and management of containerized applications using OpenStack infrastructure</a:t>
            </a:r>
          </a:p>
          <a:p>
            <a:endParaRPr lang="en-US" u="sng" dirty="0"/>
          </a:p>
          <a:p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72102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6B4F-78EA-D86E-3799-E8D304EB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5"/>
            <a:ext cx="7030500" cy="694966"/>
          </a:xfrm>
        </p:spPr>
        <p:txBody>
          <a:bodyPr>
            <a:normAutofit/>
          </a:bodyPr>
          <a:lstStyle/>
          <a:p>
            <a:r>
              <a:rPr lang="en-US" sz="2400" u="sng" dirty="0"/>
              <a:t>Cloud Foundry</a:t>
            </a:r>
            <a:endParaRPr lang="en-IN" sz="2400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FACA6-DC42-DB34-5F2D-D198BC96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211766"/>
            <a:ext cx="7030500" cy="3319884"/>
          </a:xfrm>
        </p:spPr>
        <p:txBody>
          <a:bodyPr/>
          <a:lstStyle/>
          <a:p>
            <a:r>
              <a:rPr lang="en-US" dirty="0"/>
              <a:t>Is a PaaS tool that allows developers to deploy applications without managing the underlying infrastructure.</a:t>
            </a:r>
          </a:p>
          <a:p>
            <a:r>
              <a:rPr lang="en-US" dirty="0"/>
              <a:t>Helps developers deploy applications easily.</a:t>
            </a:r>
          </a:p>
          <a:p>
            <a:endParaRPr lang="en-US" dirty="0"/>
          </a:p>
          <a:p>
            <a:pPr marL="146050" indent="0">
              <a:buNone/>
            </a:pPr>
            <a:r>
              <a:rPr lang="en-US" sz="2400" b="1" u="sng" dirty="0"/>
              <a:t>Terraform</a:t>
            </a:r>
          </a:p>
          <a:p>
            <a:endParaRPr lang="en-US" sz="2400" b="1" u="sng" dirty="0"/>
          </a:p>
          <a:p>
            <a:r>
              <a:rPr lang="en-US" sz="1200" dirty="0"/>
              <a:t>Infrastructure as Code (</a:t>
            </a:r>
            <a:r>
              <a:rPr lang="en-US" sz="1200" dirty="0" err="1"/>
              <a:t>IaC</a:t>
            </a:r>
            <a:r>
              <a:rPr lang="en-US" sz="1200" dirty="0"/>
              <a:t>) tool.</a:t>
            </a:r>
          </a:p>
          <a:p>
            <a:r>
              <a:rPr lang="en-US" sz="1200" dirty="0"/>
              <a:t>It allows users to define cloud resources in configuration files and automatically provision them on OpenStack. </a:t>
            </a:r>
          </a:p>
          <a:p>
            <a:r>
              <a:rPr lang="en-US" sz="1200" dirty="0"/>
              <a:t>Automates the creation of VM, network and storage.</a:t>
            </a:r>
          </a:p>
          <a:p>
            <a:r>
              <a:rPr lang="en-US" sz="1200" b="1" u="sng" dirty="0"/>
              <a:t>Purpose:  </a:t>
            </a:r>
            <a:r>
              <a:rPr lang="en-US" sz="1200" dirty="0"/>
              <a:t>Provide flexible and multiple ways for users to request, manage and automate cloud resources</a:t>
            </a:r>
            <a:endParaRPr lang="en-IN" sz="1200" u="sng" dirty="0"/>
          </a:p>
        </p:txBody>
      </p:sp>
    </p:spTree>
    <p:extLst>
      <p:ext uri="{BB962C8B-B14F-4D97-AF65-F5344CB8AC3E}">
        <p14:creationId xmlns:p14="http://schemas.microsoft.com/office/powerpoint/2010/main" val="3445707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CCE1A-02FC-3BF8-91AC-9C47C8F3C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5"/>
            <a:ext cx="7030500" cy="613191"/>
          </a:xfrm>
        </p:spPr>
        <p:txBody>
          <a:bodyPr/>
          <a:lstStyle/>
          <a:p>
            <a:r>
              <a:rPr lang="en-US" dirty="0"/>
              <a:t>Compute Resource Layer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1F2EA-C51C-52B8-7845-92E8C4508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211766"/>
            <a:ext cx="7030500" cy="3319884"/>
          </a:xfrm>
        </p:spPr>
        <p:txBody>
          <a:bodyPr/>
          <a:lstStyle/>
          <a:p>
            <a:r>
              <a:rPr lang="en-US" dirty="0"/>
              <a:t>This layer shows the different types of compute resources supported by OpenStack.</a:t>
            </a:r>
          </a:p>
          <a:p>
            <a:endParaRPr lang="en-US" dirty="0"/>
          </a:p>
          <a:p>
            <a:r>
              <a:rPr lang="en-US" sz="1600" b="1" u="sng" dirty="0"/>
              <a:t>Bare Metal</a:t>
            </a:r>
          </a:p>
          <a:p>
            <a:endParaRPr lang="en-US" sz="1600" b="1" u="sng" dirty="0"/>
          </a:p>
          <a:p>
            <a:r>
              <a:rPr lang="en-US" sz="1400" dirty="0"/>
              <a:t>Refers to physical servers without virtualization.</a:t>
            </a:r>
          </a:p>
          <a:p>
            <a:r>
              <a:rPr lang="en-US" sz="1400" dirty="0"/>
              <a:t>OpenStack supports bare metal provisioning to meet high-performance and low-latency workload requirements.</a:t>
            </a:r>
          </a:p>
          <a:p>
            <a:endParaRPr lang="en-US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67494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431E-C51E-05FC-652A-9F5BBFCC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5"/>
            <a:ext cx="7030500" cy="650362"/>
          </a:xfrm>
        </p:spPr>
        <p:txBody>
          <a:bodyPr>
            <a:normAutofit/>
          </a:bodyPr>
          <a:lstStyle/>
          <a:p>
            <a:r>
              <a:rPr lang="en-US" sz="1600" u="sng" dirty="0"/>
              <a:t>Virtual Machine</a:t>
            </a:r>
            <a:endParaRPr lang="en-IN" sz="1600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F9A5A-FEE7-A27F-A5A9-3B84007E6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063083"/>
            <a:ext cx="7030500" cy="3468567"/>
          </a:xfrm>
        </p:spPr>
        <p:txBody>
          <a:bodyPr/>
          <a:lstStyle/>
          <a:p>
            <a:r>
              <a:rPr lang="en-US" dirty="0"/>
              <a:t>Virtualized compute instances</a:t>
            </a:r>
          </a:p>
          <a:p>
            <a:r>
              <a:rPr lang="en-US" dirty="0"/>
              <a:t>Created by virtualizing physical servers and allow multiple OS to run on the same hardware.</a:t>
            </a:r>
          </a:p>
          <a:p>
            <a:endParaRPr lang="en-US" dirty="0"/>
          </a:p>
          <a:p>
            <a:r>
              <a:rPr lang="en-US" sz="1600" b="1" u="sng" dirty="0"/>
              <a:t>Containers</a:t>
            </a:r>
          </a:p>
          <a:p>
            <a:endParaRPr lang="en-IN" dirty="0"/>
          </a:p>
          <a:p>
            <a:r>
              <a:rPr lang="en-IN" dirty="0"/>
              <a:t>Provide lightweight application environment.</a:t>
            </a:r>
          </a:p>
          <a:p>
            <a:r>
              <a:rPr lang="en-IN" dirty="0"/>
              <a:t>OpenStack supports containers either directly or through orchestration platform like </a:t>
            </a:r>
            <a:r>
              <a:rPr lang="en-IN" dirty="0" err="1"/>
              <a:t>kubernetes</a:t>
            </a:r>
            <a:r>
              <a:rPr lang="en-IN" dirty="0"/>
              <a:t>.</a:t>
            </a:r>
          </a:p>
          <a:p>
            <a:r>
              <a:rPr lang="en-IN" dirty="0"/>
              <a:t>OpenStack can manage bare metal, virtual machine and containers within the same cloud.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187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FB0F-E3A1-5C7F-D453-81CBBB1C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5"/>
            <a:ext cx="7030500" cy="553718"/>
          </a:xfrm>
        </p:spPr>
        <p:txBody>
          <a:bodyPr>
            <a:normAutofit/>
          </a:bodyPr>
          <a:lstStyle/>
          <a:p>
            <a:r>
              <a:rPr lang="en-US" sz="2400" dirty="0"/>
              <a:t>Sharing Networking and Storage Layer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CD699-E491-6400-D3CF-7B01C2219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271239"/>
            <a:ext cx="7030500" cy="3260411"/>
          </a:xfrm>
        </p:spPr>
        <p:txBody>
          <a:bodyPr/>
          <a:lstStyle/>
          <a:p>
            <a:r>
              <a:rPr lang="en-US" dirty="0"/>
              <a:t>Representing the common infrastructure services shared by all compute resources.</a:t>
            </a:r>
          </a:p>
          <a:p>
            <a:endParaRPr lang="en-US" dirty="0"/>
          </a:p>
          <a:p>
            <a:r>
              <a:rPr lang="en-US" dirty="0"/>
              <a:t>OpenStack networking provides:</a:t>
            </a:r>
          </a:p>
          <a:p>
            <a:pPr lvl="1"/>
            <a:r>
              <a:rPr lang="en-US" dirty="0"/>
              <a:t>-IP address management</a:t>
            </a:r>
          </a:p>
          <a:p>
            <a:pPr lvl="1"/>
            <a:r>
              <a:rPr lang="en-US" dirty="0"/>
              <a:t>-Network isolation</a:t>
            </a:r>
          </a:p>
          <a:p>
            <a:pPr lvl="1"/>
            <a:r>
              <a:rPr lang="en-US" dirty="0"/>
              <a:t>-Connectivity between instances and external network.</a:t>
            </a:r>
          </a:p>
          <a:p>
            <a:pPr lvl="1"/>
            <a:endParaRPr lang="en-US" dirty="0"/>
          </a:p>
          <a:p>
            <a:pPr lvl="1"/>
            <a:r>
              <a:rPr lang="en-US" sz="1400" b="1" u="sng" dirty="0"/>
              <a:t>Storage</a:t>
            </a:r>
          </a:p>
          <a:p>
            <a:pPr lvl="1"/>
            <a:r>
              <a:rPr lang="en-US" sz="1200" dirty="0"/>
              <a:t> Provides multiple storage options:</a:t>
            </a:r>
          </a:p>
          <a:p>
            <a:pPr lvl="1"/>
            <a:r>
              <a:rPr lang="en-US" sz="1200" dirty="0"/>
              <a:t>-Block storage for virtual machines</a:t>
            </a:r>
          </a:p>
          <a:p>
            <a:pPr lvl="1"/>
            <a:r>
              <a:rPr lang="en-US" sz="1200" dirty="0"/>
              <a:t>-Object storage for scalable </a:t>
            </a:r>
            <a:r>
              <a:rPr lang="en-US" sz="1200" dirty="0" err="1"/>
              <a:t>datastorage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682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10A0-D324-2AB7-4331-637D3CEB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new data center paradigm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E1E02-28A2-D437-D380-DF10246E7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278673"/>
            <a:ext cx="7030500" cy="35312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new data center paradigm</a:t>
            </a:r>
            <a:r>
              <a:rPr lang="en-US" dirty="0"/>
              <a:t> refers to the transformation of traditional data centers into </a:t>
            </a:r>
            <a:r>
              <a:rPr lang="en-US" b="1" dirty="0"/>
              <a:t>virtualized, cloud-enabled, software-defined, and automated infrastructures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Earlier data centers were: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Hardware-centric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Manually managed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Rigid and difficult to scale</a:t>
            </a:r>
          </a:p>
          <a:p>
            <a:pPr marL="14605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Modern data centers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Software-defined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Highly automated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Scalable and elastic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Cloud-integrated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shift is driven by technologies such as virtualization, cloud computing, SDN, and containerization.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257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E30E-6852-D01E-30A2-3E9E44BB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5"/>
            <a:ext cx="7030500" cy="873386"/>
          </a:xfrm>
        </p:spPr>
        <p:txBody>
          <a:bodyPr>
            <a:normAutofit/>
          </a:bodyPr>
          <a:lstStyle/>
          <a:p>
            <a:r>
              <a:rPr lang="en-IN" sz="2400" dirty="0"/>
              <a:t>Traditional Data </a:t>
            </a:r>
            <a:r>
              <a:rPr lang="en-IN" sz="2400" dirty="0" err="1"/>
              <a:t>Center</a:t>
            </a:r>
            <a:r>
              <a:rPr lang="en-IN" sz="2400" dirty="0"/>
              <a:t> Model (Old Paradigm)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03773-5109-879B-ED8E-AF078610F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271239"/>
            <a:ext cx="7030500" cy="3260411"/>
          </a:xfrm>
        </p:spPr>
        <p:txBody>
          <a:bodyPr>
            <a:normAutofit fontScale="85000" lnSpcReduction="20000"/>
          </a:bodyPr>
          <a:lstStyle/>
          <a:p>
            <a:pPr marL="146050" indent="0">
              <a:buNone/>
            </a:pPr>
            <a:r>
              <a:rPr lang="en-US" dirty="0"/>
              <a:t>In the traditional model:</a:t>
            </a:r>
          </a:p>
          <a:p>
            <a:pPr marL="146050" indent="0">
              <a:buNone/>
            </a:pPr>
            <a:r>
              <a:rPr lang="en-US" b="1" dirty="0"/>
              <a:t>🔹 Dedicated Hardware</a:t>
            </a:r>
          </a:p>
          <a:p>
            <a:pPr marL="146050" indent="0">
              <a:buNone/>
            </a:pPr>
            <a:r>
              <a:rPr lang="en-US" dirty="0"/>
              <a:t>Each application runs on a separate physical server.</a:t>
            </a:r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r>
              <a:rPr lang="en-US" b="1" dirty="0"/>
              <a:t>🔹 Manual Configuration</a:t>
            </a:r>
          </a:p>
          <a:p>
            <a:pPr marL="146050" indent="0">
              <a:buNone/>
            </a:pPr>
            <a:r>
              <a:rPr lang="en-US" dirty="0"/>
              <a:t>Network, storage, and servers are configured manually.</a:t>
            </a:r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r>
              <a:rPr lang="en-US" b="1" dirty="0"/>
              <a:t>🔹 Low Utilization</a:t>
            </a:r>
          </a:p>
          <a:p>
            <a:pPr marL="146050" indent="0">
              <a:buNone/>
            </a:pPr>
            <a:r>
              <a:rPr lang="en-US" dirty="0"/>
              <a:t>Servers often use only 10–20% of their capacity.</a:t>
            </a:r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r>
              <a:rPr lang="en-US" b="1" dirty="0"/>
              <a:t>🔹 High Capital Expenditure (</a:t>
            </a:r>
            <a:r>
              <a:rPr lang="en-US" b="1" dirty="0" err="1"/>
              <a:t>CapEx</a:t>
            </a:r>
            <a:r>
              <a:rPr lang="en-US" b="1" dirty="0"/>
              <a:t>)</a:t>
            </a:r>
          </a:p>
          <a:p>
            <a:pPr marL="146050" indent="0">
              <a:buNone/>
            </a:pPr>
            <a:r>
              <a:rPr lang="en-US" dirty="0"/>
              <a:t>Organizations purchase hardware in advance.</a:t>
            </a:r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r>
              <a:rPr lang="en-US" b="1" dirty="0"/>
              <a:t>🔹 Static Infrastructure</a:t>
            </a:r>
          </a:p>
          <a:p>
            <a:pPr marL="146050" indent="0">
              <a:buNone/>
            </a:pPr>
            <a:r>
              <a:rPr lang="en-US" dirty="0"/>
              <a:t>Scaling requires purchasing and installing new hardware.</a:t>
            </a:r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r>
              <a:rPr lang="en-US" b="1" dirty="0"/>
              <a:t>🔹 Silo-Based Architecture</a:t>
            </a:r>
          </a:p>
          <a:p>
            <a:pPr marL="146050" indent="0">
              <a:buNone/>
            </a:pPr>
            <a:r>
              <a:rPr lang="en-US" dirty="0"/>
              <a:t>Compute, storage, and networking teams work separately.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527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4502-160F-F04B-E05A-F9678ECF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Limitations of Traditional Model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7D24E-8E1C-1348-F8A6-7C58E8ACE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 wastage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 deployment (weeks/months)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maintenance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 disaster recovery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91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B5BAE-FAAD-62ED-98B7-DA8FC8DB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New Data Center Paradigm (Modern Approach)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7DF6F-34D4-B687-8B1A-CE7986E69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650380"/>
            <a:ext cx="7030500" cy="288127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new paradigm is built on </a:t>
            </a:r>
            <a:r>
              <a:rPr lang="en-US" b="1" dirty="0"/>
              <a:t>abstraction, virtualization, automation, and cloud services</a:t>
            </a:r>
            <a:r>
              <a:rPr lang="en-US" dirty="0"/>
              <a:t>.</a:t>
            </a:r>
          </a:p>
          <a:p>
            <a:r>
              <a:rPr lang="en-US" dirty="0"/>
              <a:t>Instead of managing hardware directly, infrastructure is managed through software.</a:t>
            </a:r>
          </a:p>
          <a:p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Key Technologies Enabling the New Paradigm: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u="sng" dirty="0"/>
              <a:t>Virtualization</a:t>
            </a:r>
          </a:p>
          <a:p>
            <a:pPr marL="146050" indent="0">
              <a:buNone/>
            </a:pPr>
            <a:r>
              <a:rPr lang="en-US" dirty="0"/>
              <a:t>Virtualization abstracts physical hardware into multiple virtual resources.</a:t>
            </a:r>
          </a:p>
          <a:p>
            <a:pPr marL="146050" indent="0">
              <a:buNone/>
            </a:pPr>
            <a:r>
              <a:rPr lang="en-US" dirty="0"/>
              <a:t>Example:</a:t>
            </a:r>
          </a:p>
          <a:p>
            <a:pPr marL="146050" indent="0">
              <a:buNone/>
            </a:pPr>
            <a:r>
              <a:rPr lang="en-US" dirty="0"/>
              <a:t>One physical server → Multiple Virtual Machines (VMs)</a:t>
            </a:r>
          </a:p>
          <a:p>
            <a:pPr marL="146050" indent="0">
              <a:buNone/>
            </a:pPr>
            <a:r>
              <a:rPr lang="en-US" dirty="0"/>
              <a:t>Hypervisors such as VMware </a:t>
            </a:r>
            <a:r>
              <a:rPr lang="en-US" dirty="0" err="1"/>
              <a:t>ESXi</a:t>
            </a:r>
            <a:br>
              <a:rPr lang="en-US" dirty="0"/>
            </a:br>
            <a:r>
              <a:rPr lang="en-US" dirty="0"/>
              <a:t>enable this capability.</a:t>
            </a:r>
          </a:p>
          <a:p>
            <a:r>
              <a:rPr lang="en-US" b="1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consolidation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hardware cost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975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07D9C-9ACC-817E-2B0B-546219E1D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u="sng" dirty="0"/>
              <a:t>Cloud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C1B55-67C5-0ACE-8872-0C263F9FB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219200"/>
            <a:ext cx="7030500" cy="3312450"/>
          </a:xfrm>
        </p:spPr>
        <p:txBody>
          <a:bodyPr>
            <a:normAutofit/>
          </a:bodyPr>
          <a:lstStyle/>
          <a:p>
            <a:r>
              <a:rPr lang="en-US" dirty="0"/>
              <a:t>Cloud computing provides on-demand access to resources.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Service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IaaS (Infrastructure as a Service)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PaaS (Platform as a Service)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SaaS (Software as a Service)</a:t>
            </a:r>
          </a:p>
          <a:p>
            <a:r>
              <a:rPr lang="en-US" dirty="0"/>
              <a:t>Cloud platforms like OpenStack enable private cloud deployment.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Key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On-demand self-service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Broad network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 pooling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Rapid elasticity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Measured service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455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C03D-6E3F-7F8A-2963-B488CA1B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5"/>
            <a:ext cx="7030500" cy="657796"/>
          </a:xfrm>
        </p:spPr>
        <p:txBody>
          <a:bodyPr>
            <a:normAutofit/>
          </a:bodyPr>
          <a:lstStyle/>
          <a:p>
            <a:r>
              <a:rPr lang="en-IN" sz="2400" u="sng" dirty="0"/>
              <a:t>Software-Defined Infrastructure (SDI)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280B2-318F-7706-5C79-FEAB3604C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256371"/>
            <a:ext cx="7030500" cy="3583258"/>
          </a:xfrm>
        </p:spPr>
        <p:txBody>
          <a:bodyPr/>
          <a:lstStyle/>
          <a:p>
            <a:r>
              <a:rPr lang="en-US" dirty="0"/>
              <a:t>Software controls compute, storage, networking.</a:t>
            </a:r>
          </a:p>
          <a:p>
            <a:r>
              <a:rPr lang="en-US" dirty="0"/>
              <a:t>API-based management.</a:t>
            </a:r>
          </a:p>
          <a:p>
            <a:pPr marL="146050" indent="0">
              <a:buNone/>
            </a:pPr>
            <a:r>
              <a:rPr lang="en-IN" b="1" dirty="0"/>
              <a:t>🔹 Software-Defined Compute</a:t>
            </a:r>
          </a:p>
          <a:p>
            <a:pPr marL="146050" indent="0">
              <a:buNone/>
            </a:pPr>
            <a:r>
              <a:rPr lang="en-IN" dirty="0"/>
              <a:t>Virtual machines instead of physical servers.</a:t>
            </a:r>
          </a:p>
          <a:p>
            <a:pPr marL="146050" indent="0">
              <a:buNone/>
            </a:pPr>
            <a:r>
              <a:rPr lang="en-IN" b="1" dirty="0"/>
              <a:t>🔹 Software-Defined Storage (SDS)</a:t>
            </a:r>
          </a:p>
          <a:p>
            <a:pPr marL="146050" indent="0">
              <a:buNone/>
            </a:pPr>
            <a:r>
              <a:rPr lang="en-IN" dirty="0"/>
              <a:t>Storage pooled and dynamically allocated.</a:t>
            </a:r>
          </a:p>
          <a:p>
            <a:pPr marL="146050" indent="0">
              <a:buNone/>
            </a:pPr>
            <a:r>
              <a:rPr lang="en-IN" b="1" dirty="0"/>
              <a:t>🔹 Software-Defined Networking (SDN)</a:t>
            </a:r>
          </a:p>
          <a:p>
            <a:pPr marL="146050" indent="0">
              <a:buNone/>
            </a:pPr>
            <a:r>
              <a:rPr lang="en-IN" dirty="0"/>
              <a:t>Organizations like Open Networking Foundation standardize SDN principles.</a:t>
            </a:r>
          </a:p>
          <a:p>
            <a:r>
              <a:rPr lang="en-IN" dirty="0"/>
              <a:t>Network </a:t>
            </a:r>
            <a:r>
              <a:rPr lang="en-IN" dirty="0" err="1"/>
              <a:t>behavior</a:t>
            </a:r>
            <a:r>
              <a:rPr lang="en-IN" dirty="0"/>
              <a:t> is centrally controlled via software controllers.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Centralized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security policies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780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A04F-2CD4-3153-14B6-9BD33930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u="sng" dirty="0"/>
              <a:t>Automation and Orchestration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26374-143B-2F60-3A95-3A22F701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00" y="1367883"/>
            <a:ext cx="7030500" cy="31637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Modern data centers 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Infrastructure as Code (</a:t>
            </a:r>
            <a:r>
              <a:rPr lang="en-US" dirty="0" err="1"/>
              <a:t>IaC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Automated provisioning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Policy-based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This eliminates manual configuration and reduces human errors.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922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OPENSTACK LANDSCAPE</a:t>
            </a:r>
            <a:endParaRPr/>
          </a:p>
        </p:txBody>
      </p:sp>
      <p:sp>
        <p:nvSpPr>
          <p:cNvPr id="326" name="Google Shape;326;p21"/>
          <p:cNvSpPr txBox="1">
            <a:spLocks noGrp="1"/>
          </p:cNvSpPr>
          <p:nvPr>
            <p:ph type="body" idx="1"/>
          </p:nvPr>
        </p:nvSpPr>
        <p:spPr>
          <a:xfrm>
            <a:off x="1303800" y="1453600"/>
            <a:ext cx="72771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OpenStack is broken up into services to allow you to plug and play components depending on your needs. 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The openstack map gives you an “at a glance” view of the openstack landscape to see where those services fit and how they can work together.</a:t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2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33" name="Google Shape;3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OpenStack components : </a:t>
            </a:r>
            <a:endParaRPr/>
          </a:p>
        </p:txBody>
      </p:sp>
      <p:sp>
        <p:nvSpPr>
          <p:cNvPr id="339" name="Google Shape;339;p23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520700" cy="29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Core OpenStack Components include</a:t>
            </a:r>
            <a:endParaRPr sz="2800"/>
          </a:p>
          <a:p>
            <a:pPr marL="914400" lvl="0" indent="-406400" algn="l" rtl="0">
              <a:spcBef>
                <a:spcPts val="1200"/>
              </a:spcBef>
              <a:spcAft>
                <a:spcPts val="0"/>
              </a:spcAft>
              <a:buSzPts val="2800"/>
              <a:buChar char="➢"/>
            </a:pPr>
            <a:r>
              <a:rPr lang="en" sz="2800"/>
              <a:t>OpenStack services, </a:t>
            </a:r>
            <a:endParaRPr sz="2800"/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➢"/>
            </a:pPr>
            <a:r>
              <a:rPr lang="en" sz="2800"/>
              <a:t>Operations tooling, </a:t>
            </a:r>
            <a:endParaRPr sz="2800"/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➢"/>
            </a:pPr>
            <a:r>
              <a:rPr lang="en" sz="2800"/>
              <a:t>Add-Ons to Services and </a:t>
            </a:r>
            <a:endParaRPr sz="2800"/>
          </a:p>
          <a:p>
            <a:pPr marL="9144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➢"/>
            </a:pPr>
            <a:r>
              <a:rPr lang="en" sz="2800"/>
              <a:t>Integration enablers.</a:t>
            </a:r>
            <a:endParaRPr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OpenStack components : </a:t>
            </a:r>
            <a:r>
              <a:rPr lang="en" b="0">
                <a:latin typeface="Nunito"/>
                <a:ea typeface="Nunito"/>
                <a:cs typeface="Nunito"/>
                <a:sym typeface="Nunito"/>
              </a:rPr>
              <a:t>Nova </a:t>
            </a:r>
            <a:endParaRPr/>
          </a:p>
        </p:txBody>
      </p:sp>
      <p:sp>
        <p:nvSpPr>
          <p:cNvPr id="345" name="Google Shape;345;p24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520700" cy="29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Cloud computing fabric controller, main part of an IaaS system. 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It is designed to manage and automate pools of computer resources </a:t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OpenStack components : </a:t>
            </a:r>
            <a:r>
              <a:rPr lang="en" b="0">
                <a:latin typeface="Nunito"/>
                <a:ea typeface="Nunito"/>
                <a:cs typeface="Nunito"/>
                <a:sym typeface="Nunito"/>
              </a:rPr>
              <a:t>Nova </a:t>
            </a:r>
            <a:endParaRPr/>
          </a:p>
        </p:txBody>
      </p:sp>
      <p:pic>
        <p:nvPicPr>
          <p:cNvPr id="351" name="Google Shape;351;p25"/>
          <p:cNvPicPr preferRelativeResize="0"/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811650" y="1720875"/>
            <a:ext cx="7520700" cy="2080655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OpenStack components : </a:t>
            </a:r>
            <a:r>
              <a:rPr lang="en" b="0">
                <a:latin typeface="Nunito"/>
                <a:ea typeface="Nunito"/>
                <a:cs typeface="Nunito"/>
                <a:sym typeface="Nunito"/>
              </a:rPr>
              <a:t> Keystone </a:t>
            </a:r>
            <a:endParaRPr/>
          </a:p>
        </p:txBody>
      </p:sp>
      <p:sp>
        <p:nvSpPr>
          <p:cNvPr id="357" name="Google Shape;357;p26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520700" cy="29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Provides identity services for OpenStack. 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A central list of users/permissions mapped against OpenStack services. 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Provides multiple means of access.</a:t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OpenStack components : </a:t>
            </a:r>
            <a:r>
              <a:rPr lang="en" b="0">
                <a:latin typeface="Nunito"/>
                <a:ea typeface="Nunito"/>
                <a:cs typeface="Nunito"/>
                <a:sym typeface="Nunito"/>
              </a:rPr>
              <a:t> Glance</a:t>
            </a:r>
            <a:endParaRPr/>
          </a:p>
        </p:txBody>
      </p:sp>
      <p:sp>
        <p:nvSpPr>
          <p:cNvPr id="363" name="Google Shape;363;p27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520700" cy="29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Provides image services to OpenStack. "images" refers to images (or virtual copies) of hard disks. 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Used as templates for deploying new VMs.</a:t>
            </a:r>
            <a:endParaRPr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OpenStack components : </a:t>
            </a:r>
            <a:r>
              <a:rPr lang="en" b="0">
                <a:latin typeface="Nunito"/>
                <a:ea typeface="Nunito"/>
                <a:cs typeface="Nunito"/>
                <a:sym typeface="Nunito"/>
              </a:rPr>
              <a:t> Glance</a:t>
            </a:r>
            <a:endParaRPr/>
          </a:p>
        </p:txBody>
      </p:sp>
      <p:sp>
        <p:nvSpPr>
          <p:cNvPr id="369" name="Google Shape;369;p28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520700" cy="29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Provides image services to OpenStack. "images" refers to images (or virtual copies) of hard disks. 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Used as templates for deploying new VMs.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Microsoft Office PowerPoint</Application>
  <PresentationFormat>On-screen Show (16:9)</PresentationFormat>
  <Paragraphs>206</Paragraphs>
  <Slides>32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Georgia</vt:lpstr>
      <vt:lpstr>Arial</vt:lpstr>
      <vt:lpstr>Maven Pro</vt:lpstr>
      <vt:lpstr>Nunito</vt:lpstr>
      <vt:lpstr>Wingdings</vt:lpstr>
      <vt:lpstr>Momentum</vt:lpstr>
      <vt:lpstr>MODULE II :Open Stack  </vt:lpstr>
      <vt:lpstr>What is OpenStack ? </vt:lpstr>
      <vt:lpstr>What is OpenStack ? </vt:lpstr>
      <vt:lpstr>What is OpenStack ?  </vt:lpstr>
      <vt:lpstr>What is OpenStack ?  </vt:lpstr>
      <vt:lpstr>What is OpenStack ?  </vt:lpstr>
      <vt:lpstr>What is OpenStack ?  </vt:lpstr>
      <vt:lpstr>PowerPoint Presentation</vt:lpstr>
      <vt:lpstr>   OPENSTACK CLOUD ARCHITECTURE</vt:lpstr>
      <vt:lpstr>User Access and Management Layer(Top Layer)</vt:lpstr>
      <vt:lpstr>Built-in OpenStack Tools</vt:lpstr>
      <vt:lpstr>OpenStack SDK </vt:lpstr>
      <vt:lpstr>Third Party Tools</vt:lpstr>
      <vt:lpstr>Cloud Foundry</vt:lpstr>
      <vt:lpstr>Compute Resource Layer</vt:lpstr>
      <vt:lpstr>Virtual Machine</vt:lpstr>
      <vt:lpstr>Sharing Networking and Storage Layer</vt:lpstr>
      <vt:lpstr>The new data center paradigm</vt:lpstr>
      <vt:lpstr>Traditional Data Center Model (Old Paradigm)</vt:lpstr>
      <vt:lpstr>Limitations of Traditional Model </vt:lpstr>
      <vt:lpstr>The New Data Center Paradigm (Modern Approach)</vt:lpstr>
      <vt:lpstr>Cloud Computing</vt:lpstr>
      <vt:lpstr>Software-Defined Infrastructure (SDI)</vt:lpstr>
      <vt:lpstr>Automation and Orchestration</vt:lpstr>
      <vt:lpstr>THE OPENSTACK LANDSCAPE</vt:lpstr>
      <vt:lpstr>PowerPoint Presentation</vt:lpstr>
      <vt:lpstr>OpenStack components : </vt:lpstr>
      <vt:lpstr>OpenStack components : Nova </vt:lpstr>
      <vt:lpstr>OpenStack components : Nova </vt:lpstr>
      <vt:lpstr>OpenStack components :  Keystone </vt:lpstr>
      <vt:lpstr>OpenStack components :  Glance</vt:lpstr>
      <vt:lpstr>OpenStack components :  Glance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Gopika Gopan</cp:lastModifiedBy>
  <cp:revision>1</cp:revision>
  <dcterms:modified xsi:type="dcterms:W3CDTF">2026-02-27T09:47:13Z</dcterms:modified>
</cp:coreProperties>
</file>